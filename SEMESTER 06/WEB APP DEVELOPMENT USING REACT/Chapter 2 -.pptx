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72" r:id="rId2"/>
    <p:sldMasterId id="2147483697" r:id="rId3"/>
  </p:sldMasterIdLst>
  <p:notesMasterIdLst>
    <p:notesMasterId r:id="rId53"/>
  </p:notesMasterIdLst>
  <p:sldIdLst>
    <p:sldId id="294" r:id="rId4"/>
    <p:sldId id="408" r:id="rId5"/>
    <p:sldId id="265" r:id="rId6"/>
    <p:sldId id="299" r:id="rId7"/>
    <p:sldId id="300" r:id="rId8"/>
    <p:sldId id="302" r:id="rId9"/>
    <p:sldId id="409" r:id="rId10"/>
    <p:sldId id="303" r:id="rId11"/>
    <p:sldId id="310" r:id="rId12"/>
    <p:sldId id="403" r:id="rId13"/>
    <p:sldId id="404" r:id="rId14"/>
    <p:sldId id="309" r:id="rId15"/>
    <p:sldId id="296" r:id="rId16"/>
    <p:sldId id="297" r:id="rId17"/>
    <p:sldId id="307" r:id="rId18"/>
    <p:sldId id="308" r:id="rId19"/>
    <p:sldId id="313" r:id="rId20"/>
    <p:sldId id="314" r:id="rId21"/>
    <p:sldId id="405" r:id="rId22"/>
    <p:sldId id="406" r:id="rId23"/>
    <p:sldId id="315" r:id="rId24"/>
    <p:sldId id="318" r:id="rId25"/>
    <p:sldId id="322" r:id="rId26"/>
    <p:sldId id="325" r:id="rId27"/>
    <p:sldId id="382" r:id="rId28"/>
    <p:sldId id="398" r:id="rId29"/>
    <p:sldId id="399" r:id="rId30"/>
    <p:sldId id="400" r:id="rId31"/>
    <p:sldId id="401" r:id="rId32"/>
    <p:sldId id="327" r:id="rId33"/>
    <p:sldId id="328" r:id="rId34"/>
    <p:sldId id="407" r:id="rId35"/>
    <p:sldId id="385" r:id="rId36"/>
    <p:sldId id="386" r:id="rId37"/>
    <p:sldId id="387" r:id="rId38"/>
    <p:sldId id="388" r:id="rId39"/>
    <p:sldId id="329" r:id="rId40"/>
    <p:sldId id="330" r:id="rId41"/>
    <p:sldId id="331" r:id="rId42"/>
    <p:sldId id="332" r:id="rId43"/>
    <p:sldId id="391" r:id="rId44"/>
    <p:sldId id="393" r:id="rId45"/>
    <p:sldId id="392" r:id="rId46"/>
    <p:sldId id="371" r:id="rId47"/>
    <p:sldId id="394" r:id="rId48"/>
    <p:sldId id="395" r:id="rId49"/>
    <p:sldId id="396" r:id="rId50"/>
    <p:sldId id="397" r:id="rId51"/>
    <p:sldId id="324" r:id="rId52"/>
  </p:sldIdLst>
  <p:sldSz cx="9144000" cy="5143500" type="screen16x9"/>
  <p:notesSz cx="6858000" cy="9144000"/>
  <p:embeddedFontLst>
    <p:embeddedFont>
      <p:font typeface="Calisto MT" panose="02040603050505030304" pitchFamily="18" charset="0"/>
      <p:regular r:id="rId54"/>
      <p:bold r:id="rId55"/>
      <p:italic r:id="rId56"/>
      <p:boldItalic r:id="rId57"/>
    </p:embeddedFont>
    <p:embeddedFont>
      <p:font typeface="Cascadia Mono SemiBold" panose="020B0609020000020004" pitchFamily="49" charset="0"/>
      <p:bold r:id="rId58"/>
      <p:boldItalic r:id="rId59"/>
    </p:embeddedFont>
    <p:embeddedFont>
      <p:font typeface="Roboto" panose="02000000000000000000" pitchFamily="2" charset="0"/>
      <p:regular r:id="rId60"/>
      <p:bold r:id="rId61"/>
      <p:italic r:id="rId62"/>
      <p:boldItalic r:id="rId63"/>
    </p:embeddedFont>
    <p:embeddedFont>
      <p:font typeface="Univers Condensed" panose="020B0506020202050204" pitchFamily="34" charset="0"/>
      <p:regular r:id="rId64"/>
      <p:bold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78" autoAdjust="0"/>
    <p:restoredTop sz="94404" autoAdjust="0"/>
  </p:normalViewPr>
  <p:slideViewPr>
    <p:cSldViewPr snapToGrid="0">
      <p:cViewPr>
        <p:scale>
          <a:sx n="90" d="100"/>
          <a:sy n="90" d="100"/>
        </p:scale>
        <p:origin x="492"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10.fntdata"/><Relationship Id="rId68"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font" Target="fonts/font8.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6.fntdata"/><Relationship Id="rId67"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1.fntdata"/><Relationship Id="rId62"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4.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7.fntdata"/><Relationship Id="rId65" Type="http://schemas.openxmlformats.org/officeDocument/2006/relationships/font" Target="fonts/font12.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www.geeksforgeeks.org/django-tutorial/" TargetMode="External"/><Relationship Id="rId3" Type="http://schemas.openxmlformats.org/officeDocument/2006/relationships/hyperlink" Target="https://www.geeksforgeeks.org/php-tutorials/" TargetMode="External"/><Relationship Id="rId7" Type="http://schemas.openxmlformats.org/officeDocument/2006/relationships/hyperlink" Target="https://www.geeksforgeeks.org/introduction-to-express/"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www.geeksforgeeks.org/nodejs-tutorials/" TargetMode="External"/><Relationship Id="rId11" Type="http://schemas.openxmlformats.org/officeDocument/2006/relationships/hyperlink" Target="https://www.geeksforgeeks.org/introduction-to-spring-framework/" TargetMode="External"/><Relationship Id="rId5" Type="http://schemas.openxmlformats.org/officeDocument/2006/relationships/hyperlink" Target="https://www.geeksforgeeks.org/python-programming-language/" TargetMode="External"/><Relationship Id="rId10" Type="http://schemas.openxmlformats.org/officeDocument/2006/relationships/hyperlink" Target="https://www.geeksforgeeks.org/tag/laravel/" TargetMode="External"/><Relationship Id="rId4" Type="http://schemas.openxmlformats.org/officeDocument/2006/relationships/hyperlink" Target="https://www.geeksforgeeks.org/java-tutorial/" TargetMode="External"/><Relationship Id="rId9" Type="http://schemas.openxmlformats.org/officeDocument/2006/relationships/hyperlink" Target="https://www.geeksforgeeks.org/how-to-install-ruby-on-rails-on-windows-and-linux/"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fontAlgn="base"/>
            <a:r>
              <a:rPr lang="en-US" sz="1100" b="1" i="0" u="none" strike="noStrike" cap="none" dirty="0">
                <a:solidFill>
                  <a:srgbClr val="000000"/>
                </a:solidFill>
                <a:effectLst/>
                <a:latin typeface="Arial"/>
                <a:ea typeface="Arial"/>
                <a:cs typeface="Arial"/>
                <a:sym typeface="Arial"/>
                <a:hlinkClick r:id="rId3">
                  <a:extLst>
                    <a:ext uri="{A12FA001-AC4F-418D-AE19-62706E023703}">
                      <ahyp:hlinkClr xmlns:ahyp="http://schemas.microsoft.com/office/drawing/2018/hyperlinkcolor" val="tx"/>
                    </a:ext>
                  </a:extLst>
                </a:hlinkClick>
              </a:rPr>
              <a:t>PHP</a:t>
            </a:r>
            <a:r>
              <a:rPr lang="en-US" sz="1100" b="1" i="0" u="none" strike="noStrike" cap="none" dirty="0">
                <a:solidFill>
                  <a:srgbClr val="000000"/>
                </a:solidFill>
                <a:effectLst/>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 PHP is a server-side scripting language designed specifically for web development.</a:t>
            </a:r>
          </a:p>
          <a:p>
            <a:pPr fontAlgn="base"/>
            <a:r>
              <a:rPr lang="en-US" sz="1100" b="1" i="0" u="none" strike="noStrike" cap="none" dirty="0">
                <a:solidFill>
                  <a:srgbClr val="000000"/>
                </a:solidFill>
                <a:effectLst/>
                <a:latin typeface="Arial"/>
                <a:ea typeface="Arial"/>
                <a:cs typeface="Arial"/>
                <a:sym typeface="Arial"/>
                <a:hlinkClick r:id="rId4">
                  <a:extLst>
                    <a:ext uri="{A12FA001-AC4F-418D-AE19-62706E023703}">
                      <ahyp:hlinkClr xmlns:ahyp="http://schemas.microsoft.com/office/drawing/2018/hyperlinkcolor" val="tx"/>
                    </a:ext>
                  </a:extLst>
                </a:hlinkClick>
              </a:rPr>
              <a:t>Java</a:t>
            </a:r>
            <a:r>
              <a:rPr lang="en-US" sz="1100" b="1" i="0" u="none" strike="noStrike" cap="none" dirty="0">
                <a:solidFill>
                  <a:srgbClr val="000000"/>
                </a:solidFill>
                <a:effectLst/>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 Java is one of the most popular and widely used programming language. It is highly scalable.</a:t>
            </a:r>
          </a:p>
          <a:p>
            <a:pPr fontAlgn="base"/>
            <a:r>
              <a:rPr lang="en-US" sz="1100" b="1" i="0" u="none" strike="noStrike" cap="none" dirty="0">
                <a:solidFill>
                  <a:srgbClr val="000000"/>
                </a:solidFill>
                <a:effectLst/>
                <a:latin typeface="Arial"/>
                <a:ea typeface="Arial"/>
                <a:cs typeface="Arial"/>
                <a:sym typeface="Arial"/>
                <a:hlinkClick r:id="rId5">
                  <a:extLst>
                    <a:ext uri="{A12FA001-AC4F-418D-AE19-62706E023703}">
                      <ahyp:hlinkClr xmlns:ahyp="http://schemas.microsoft.com/office/drawing/2018/hyperlinkcolor" val="tx"/>
                    </a:ext>
                  </a:extLst>
                </a:hlinkClick>
              </a:rPr>
              <a:t>Python</a:t>
            </a:r>
            <a:r>
              <a:rPr lang="en-US" sz="1100" b="1"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Python is a programming language that lets you work quickly and integrate systems more efficiently.</a:t>
            </a:r>
          </a:p>
          <a:p>
            <a:pPr fontAlgn="base"/>
            <a:r>
              <a:rPr lang="en-US" sz="1100" b="1" i="0" u="none" strike="noStrike" cap="none" dirty="0">
                <a:solidFill>
                  <a:srgbClr val="000000"/>
                </a:solidFill>
                <a:effectLst/>
                <a:latin typeface="Arial"/>
                <a:ea typeface="Arial"/>
                <a:cs typeface="Arial"/>
                <a:sym typeface="Arial"/>
                <a:hlinkClick r:id="rId6">
                  <a:extLst>
                    <a:ext uri="{A12FA001-AC4F-418D-AE19-62706E023703}">
                      <ahyp:hlinkClr xmlns:ahyp="http://schemas.microsoft.com/office/drawing/2018/hyperlinkcolor" val="tx"/>
                    </a:ext>
                  </a:extLst>
                </a:hlinkClick>
              </a:rPr>
              <a:t>Node.js</a:t>
            </a:r>
            <a:r>
              <a:rPr lang="en-US" sz="1100" b="1" i="0" u="none" strike="noStrike" cap="none" dirty="0">
                <a:solidFill>
                  <a:srgbClr val="000000"/>
                </a:solidFill>
                <a:effectLst/>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 Node.js is an open source and cross-platform runtime environment for executing JavaScript code outside a browser.</a:t>
            </a:r>
          </a:p>
          <a:p>
            <a:pPr fontAlgn="base"/>
            <a:r>
              <a:rPr lang="en-US" sz="1100" b="1" i="0" u="none" strike="noStrike" cap="none" dirty="0">
                <a:solidFill>
                  <a:srgbClr val="000000"/>
                </a:solidFill>
                <a:effectLst/>
                <a:latin typeface="Arial"/>
                <a:ea typeface="Arial"/>
                <a:cs typeface="Arial"/>
                <a:sym typeface="Arial"/>
              </a:rPr>
              <a:t>Back End Frameworks:</a:t>
            </a:r>
            <a:r>
              <a:rPr lang="en-US" sz="1100" b="0" i="0" u="none" strike="noStrike" cap="none" dirty="0">
                <a:solidFill>
                  <a:srgbClr val="000000"/>
                </a:solidFill>
                <a:effectLst/>
                <a:latin typeface="Arial"/>
                <a:ea typeface="Arial"/>
                <a:cs typeface="Arial"/>
                <a:sym typeface="Arial"/>
              </a:rPr>
              <a:t> The list of back end frameworks are: </a:t>
            </a:r>
            <a:r>
              <a:rPr lang="en-US" sz="1100" b="0" i="0" u="none" strike="noStrike" cap="none" dirty="0">
                <a:solidFill>
                  <a:srgbClr val="000000"/>
                </a:solidFill>
                <a:effectLst/>
                <a:latin typeface="Arial"/>
                <a:ea typeface="Arial"/>
                <a:cs typeface="Arial"/>
                <a:sym typeface="Arial"/>
                <a:hlinkClick r:id="rId7">
                  <a:extLst>
                    <a:ext uri="{A12FA001-AC4F-418D-AE19-62706E023703}">
                      <ahyp:hlinkClr xmlns:ahyp="http://schemas.microsoft.com/office/drawing/2018/hyperlinkcolor" val="tx"/>
                    </a:ext>
                  </a:extLst>
                </a:hlinkClick>
              </a:rPr>
              <a:t>Express</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hlinkClick r:id="rId8">
                  <a:extLst>
                    <a:ext uri="{A12FA001-AC4F-418D-AE19-62706E023703}">
                      <ahyp:hlinkClr xmlns:ahyp="http://schemas.microsoft.com/office/drawing/2018/hyperlinkcolor" val="tx"/>
                    </a:ext>
                  </a:extLst>
                </a:hlinkClick>
              </a:rPr>
              <a:t>Django</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hlinkClick r:id="rId9">
                  <a:extLst>
                    <a:ext uri="{A12FA001-AC4F-418D-AE19-62706E023703}">
                      <ahyp:hlinkClr xmlns:ahyp="http://schemas.microsoft.com/office/drawing/2018/hyperlinkcolor" val="tx"/>
                    </a:ext>
                  </a:extLst>
                </a:hlinkClick>
              </a:rPr>
              <a:t>Rails</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hlinkClick r:id="rId10">
                  <a:extLst>
                    <a:ext uri="{A12FA001-AC4F-418D-AE19-62706E023703}">
                      <ahyp:hlinkClr xmlns:ahyp="http://schemas.microsoft.com/office/drawing/2018/hyperlinkcolor" val="tx"/>
                    </a:ext>
                  </a:extLst>
                </a:hlinkClick>
              </a:rPr>
              <a:t>Laravel</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hlinkClick r:id="rId11">
                  <a:extLst>
                    <a:ext uri="{A12FA001-AC4F-418D-AE19-62706E023703}">
                      <ahyp:hlinkClr xmlns:ahyp="http://schemas.microsoft.com/office/drawing/2018/hyperlinkcolor" val="tx"/>
                    </a:ext>
                  </a:extLst>
                </a:hlinkClick>
              </a:rPr>
              <a:t>Spring</a:t>
            </a:r>
            <a:r>
              <a:rPr lang="en-US" sz="1100" b="0" i="0" u="none" strike="noStrike" cap="none" dirty="0">
                <a:solidFill>
                  <a:srgbClr val="000000"/>
                </a:solidFill>
                <a:effectLst/>
                <a:latin typeface="Arial"/>
                <a:ea typeface="Arial"/>
                <a:cs typeface="Arial"/>
                <a:sym typeface="Arial"/>
              </a:rPr>
              <a:t>, etc.</a:t>
            </a:r>
          </a:p>
        </p:txBody>
      </p:sp>
    </p:spTree>
    <p:extLst>
      <p:ext uri="{BB962C8B-B14F-4D97-AF65-F5344CB8AC3E}">
        <p14:creationId xmlns:p14="http://schemas.microsoft.com/office/powerpoint/2010/main" val="2069139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Key Characteristics of React</a:t>
            </a:r>
          </a:p>
          <a:p>
            <a:pPr marL="139700" indent="0">
              <a:buNone/>
            </a:pPr>
            <a:r>
              <a:rPr lang="en-US" b="1" dirty="0"/>
              <a:t>1. Declarative</a:t>
            </a:r>
          </a:p>
          <a:p>
            <a:r>
              <a:rPr lang="en-US" dirty="0"/>
              <a:t>React allows developers to describe </a:t>
            </a:r>
            <a:r>
              <a:rPr lang="en-US" i="1" dirty="0"/>
              <a:t>what</a:t>
            </a:r>
            <a:r>
              <a:rPr lang="en-US" dirty="0"/>
              <a:t> the UI should look like for a given state, and it efficiently updates the DOM when the state changes.</a:t>
            </a:r>
          </a:p>
          <a:p>
            <a:pPr marL="139700" indent="0">
              <a:buNone/>
            </a:pPr>
            <a:r>
              <a:rPr lang="en-US" b="1" dirty="0"/>
              <a:t>2. Component-Based</a:t>
            </a:r>
          </a:p>
          <a:p>
            <a:r>
              <a:rPr lang="en-US" dirty="0"/>
              <a:t>Applications are built using reusable, independent pieces called </a:t>
            </a:r>
            <a:r>
              <a:rPr lang="en-US" b="1" dirty="0"/>
              <a:t>components</a:t>
            </a:r>
            <a:r>
              <a:rPr lang="en-US" dirty="0"/>
              <a:t>.</a:t>
            </a:r>
            <a:br>
              <a:rPr lang="en-US" dirty="0"/>
            </a:br>
            <a:r>
              <a:rPr lang="en-US" dirty="0"/>
              <a:t>Each component manages its own logic and UI.</a:t>
            </a:r>
          </a:p>
          <a:p>
            <a:pPr marL="139700" indent="0">
              <a:buNone/>
            </a:pPr>
            <a:r>
              <a:rPr lang="en-US" b="1" dirty="0"/>
              <a:t>3. Efficient</a:t>
            </a:r>
          </a:p>
          <a:p>
            <a:r>
              <a:rPr lang="en-US" dirty="0"/>
              <a:t>React uses a </a:t>
            </a:r>
            <a:r>
              <a:rPr lang="en-US" b="1" dirty="0"/>
              <a:t>Virtual DOM</a:t>
            </a:r>
            <a:r>
              <a:rPr lang="en-US" dirty="0"/>
              <a:t> to minimize direct DOM manipulation, improving performance.</a:t>
            </a:r>
          </a:p>
          <a:p>
            <a:pPr marL="139700" indent="0">
              <a:buNone/>
            </a:pPr>
            <a:r>
              <a:rPr lang="en-US" b="1" dirty="0"/>
              <a:t>4. Flexible</a:t>
            </a:r>
          </a:p>
          <a:p>
            <a:r>
              <a:rPr lang="en-US" dirty="0"/>
              <a:t>React focuses only on the </a:t>
            </a:r>
            <a:r>
              <a:rPr lang="en-US" b="1" dirty="0"/>
              <a:t>view layer</a:t>
            </a:r>
            <a:r>
              <a:rPr lang="en-US" dirty="0"/>
              <a:t>. It can be combined with other libraries for routing, state management, APIs, etc.</a:t>
            </a:r>
          </a:p>
          <a:p>
            <a:pPr marL="139700" indent="0">
              <a:buNone/>
            </a:pPr>
            <a:r>
              <a:rPr lang="en-US" b="1" dirty="0"/>
              <a:t>5. Supports SPA and More</a:t>
            </a:r>
          </a:p>
          <a:p>
            <a:r>
              <a:rPr lang="en-US" dirty="0"/>
              <a:t>React is commonly used to build </a:t>
            </a:r>
            <a:r>
              <a:rPr lang="en-US" b="1" dirty="0"/>
              <a:t>Single Page Applications (SPAs)</a:t>
            </a:r>
            <a:r>
              <a:rPr lang="en-US" dirty="0"/>
              <a:t>, but it can also be used for:</a:t>
            </a:r>
          </a:p>
          <a:p>
            <a:pPr lvl="1"/>
            <a:r>
              <a:rPr lang="en-US" dirty="0"/>
              <a:t>Multi-page applications</a:t>
            </a:r>
          </a:p>
          <a:p>
            <a:pPr lvl="1"/>
            <a:r>
              <a:rPr lang="en-US" dirty="0"/>
              <a:t>Server-side rendering (SSR)</a:t>
            </a:r>
          </a:p>
          <a:p>
            <a:pPr lvl="1"/>
            <a:r>
              <a:rPr lang="en-US" dirty="0"/>
              <a:t>Static site generation (SSG)</a:t>
            </a:r>
          </a:p>
          <a:p>
            <a:pPr lvl="1"/>
            <a:r>
              <a:rPr lang="en-US" dirty="0"/>
              <a:t>Mobile apps (via React Native)</a:t>
            </a:r>
          </a:p>
          <a:p>
            <a:pPr marL="139700" indent="0">
              <a:buNone/>
            </a:pPr>
            <a:endParaRPr lang="en-US" dirty="0"/>
          </a:p>
        </p:txBody>
      </p:sp>
    </p:spTree>
    <p:extLst>
      <p:ext uri="{BB962C8B-B14F-4D97-AF65-F5344CB8AC3E}">
        <p14:creationId xmlns:p14="http://schemas.microsoft.com/office/powerpoint/2010/main" val="2469186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228E7-BABA-8663-A934-C32CF225A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BBAFC-9797-0D1B-1F0D-DF0794CB67C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C7328DF-17CB-0905-828E-D6998037E189}"/>
              </a:ext>
            </a:extLst>
          </p:cNvPr>
          <p:cNvSpPr>
            <a:spLocks noGrp="1"/>
          </p:cNvSpPr>
          <p:nvPr>
            <p:ph type="body" idx="1"/>
          </p:nvPr>
        </p:nvSpPr>
        <p:spPr/>
        <p:txBody>
          <a:bodyPr/>
          <a:lstStyle/>
          <a:p>
            <a:pPr marL="139700" indent="0">
              <a:buNone/>
            </a:pPr>
            <a:endParaRPr lang="en-US" dirty="0"/>
          </a:p>
        </p:txBody>
      </p:sp>
    </p:spTree>
    <p:extLst>
      <p:ext uri="{BB962C8B-B14F-4D97-AF65-F5344CB8AC3E}">
        <p14:creationId xmlns:p14="http://schemas.microsoft.com/office/powerpoint/2010/main" val="2959909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EC3F-171E-F5DC-34A5-0DAF716B9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021B4-4E3A-660B-7C7F-3B5CBC66F9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74F763-BCF1-B87B-67D1-2B1CF5C1A217}"/>
              </a:ext>
            </a:extLst>
          </p:cNvPr>
          <p:cNvSpPr>
            <a:spLocks noGrp="1"/>
          </p:cNvSpPr>
          <p:nvPr>
            <p:ph type="body" idx="1"/>
          </p:nvPr>
        </p:nvSpPr>
        <p:spPr/>
        <p:txBody>
          <a:bodyPr/>
          <a:lstStyle/>
          <a:p>
            <a:pPr marL="139700" indent="0">
              <a:buNone/>
            </a:pPr>
            <a:endParaRPr lang="en-US" dirty="0"/>
          </a:p>
        </p:txBody>
      </p:sp>
    </p:spTree>
    <p:extLst>
      <p:ext uri="{BB962C8B-B14F-4D97-AF65-F5344CB8AC3E}">
        <p14:creationId xmlns:p14="http://schemas.microsoft.com/office/powerpoint/2010/main" val="893098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dirty="0"/>
          </a:p>
        </p:txBody>
      </p:sp>
    </p:spTree>
    <p:extLst>
      <p:ext uri="{BB962C8B-B14F-4D97-AF65-F5344CB8AC3E}">
        <p14:creationId xmlns:p14="http://schemas.microsoft.com/office/powerpoint/2010/main" val="4121842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NPM stands</a:t>
            </a:r>
            <a:r>
              <a:rPr lang="en-US" baseline="0" dirty="0"/>
              <a:t> for Node package manager</a:t>
            </a:r>
          </a:p>
          <a:p>
            <a:r>
              <a:rPr lang="en-US" dirty="0"/>
              <a:t>Yarn stands</a:t>
            </a:r>
            <a:r>
              <a:rPr lang="en-US" baseline="0" dirty="0"/>
              <a:t> for </a:t>
            </a:r>
            <a:r>
              <a:rPr lang="en-US" sz="1100" b="0" i="0" u="none" strike="noStrike" cap="none" dirty="0">
                <a:solidFill>
                  <a:srgbClr val="000000"/>
                </a:solidFill>
                <a:effectLst/>
                <a:latin typeface="Arial"/>
                <a:ea typeface="Arial"/>
                <a:cs typeface="Arial"/>
                <a:sym typeface="Arial"/>
              </a:rPr>
              <a:t>Yet Another Resource Negotiator</a:t>
            </a:r>
          </a:p>
          <a:p>
            <a:r>
              <a:rPr lang="en-US" sz="1100" b="0" i="0" u="none" strike="noStrike" cap="none" dirty="0">
                <a:solidFill>
                  <a:srgbClr val="000000"/>
                </a:solidFill>
                <a:effectLst/>
                <a:latin typeface="Arial"/>
                <a:cs typeface="Arial"/>
                <a:sym typeface="Arial"/>
              </a:rPr>
              <a:t>PNPM stands for </a:t>
            </a:r>
            <a:r>
              <a:rPr lang="en-US" sz="1100" b="0" i="0" u="none" strike="noStrike" cap="none" dirty="0" err="1">
                <a:solidFill>
                  <a:srgbClr val="000000"/>
                </a:solidFill>
                <a:latin typeface="Arial"/>
                <a:ea typeface="Arial"/>
                <a:cs typeface="Arial"/>
                <a:sym typeface="Arial"/>
              </a:rPr>
              <a:t>Performant</a:t>
            </a:r>
            <a:r>
              <a:rPr lang="en-US" sz="1100" b="0" i="0" u="none" strike="noStrike" cap="none" dirty="0">
                <a:solidFill>
                  <a:srgbClr val="000000"/>
                </a:solidFill>
                <a:latin typeface="Arial"/>
                <a:ea typeface="Arial"/>
                <a:cs typeface="Arial"/>
                <a:sym typeface="Arial"/>
              </a:rPr>
              <a:t> Node Package Manager</a:t>
            </a:r>
            <a:endParaRPr lang="en-US" dirty="0"/>
          </a:p>
        </p:txBody>
      </p:sp>
    </p:spTree>
    <p:extLst>
      <p:ext uri="{BB962C8B-B14F-4D97-AF65-F5344CB8AC3E}">
        <p14:creationId xmlns:p14="http://schemas.microsoft.com/office/powerpoint/2010/main" val="715964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32419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9497E-A235-8663-7954-3CE14AFD8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E7F8D-B773-8DAE-1C4E-13506CFEC7F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56893C3-8F76-8B06-433C-AA447CC12F5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64000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EC707-34E1-DBFE-15D8-6B9A9391A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50291-3109-86CD-1097-F7426ACC848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25D14D-1E25-BC4A-03E5-C878F535FDD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66374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3206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3956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20725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0365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528066" y="667365"/>
            <a:ext cx="7492181" cy="2698955"/>
          </a:xfrm>
        </p:spPr>
        <p:txBody>
          <a:bodyPr anchor="t">
            <a:normAutofit/>
          </a:bodyPr>
          <a:lstStyle>
            <a:lvl1pPr algn="l">
              <a:defRPr sz="405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528066" y="3366319"/>
            <a:ext cx="5243832" cy="977081"/>
          </a:xfrm>
        </p:spPr>
        <p:txBody>
          <a:bodyPr anchor="b">
            <a:normAutofit/>
          </a:bodyPr>
          <a:lstStyle>
            <a:lvl1pPr marL="0" indent="0" algn="l">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A7C484A0-546A-4C7B-9611-1A11DA73FA05}" type="datetime1">
              <a:rPr lang="en-US" smtClean="0"/>
              <a:t>2/28/2026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Web Development using React js</a:t>
            </a:r>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43319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EA6EFDA8-3096-471A-B9F4-7A12D9DB07BB}" type="datetime1">
              <a:rPr lang="en-US" smtClean="0"/>
              <a:t>2/28/2026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Web Development using React js</a:t>
            </a:r>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36045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536538" y="1282304"/>
            <a:ext cx="7974050" cy="2139553"/>
          </a:xfrm>
        </p:spPr>
        <p:txBody>
          <a:bodyPr anchor="b"/>
          <a:lstStyle>
            <a:lvl1pPr>
              <a:defRPr sz="45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536538" y="3442098"/>
            <a:ext cx="797405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02FB31E-CFE6-45A7-AFF2-2DF0D0F4523D}" type="datetime1">
              <a:rPr lang="en-US" smtClean="0"/>
              <a:t>2/28/2026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Web Development using React js</a:t>
            </a:r>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64511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525477" y="685800"/>
            <a:ext cx="8018449" cy="98069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528066" y="1666494"/>
            <a:ext cx="3909060" cy="2804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4636008" y="1666494"/>
            <a:ext cx="3909060" cy="2804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EFC46763-B066-4660-91E8-6C28CF14B302}" type="datetime1">
              <a:rPr lang="en-US" smtClean="0"/>
              <a:t>2/28/2026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Web Development using React js</a:t>
            </a:r>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79391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528065" y="696861"/>
            <a:ext cx="8017002" cy="59883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528066" y="1317404"/>
            <a:ext cx="3909060" cy="492919"/>
          </a:xfrm>
        </p:spPr>
        <p:txBody>
          <a:bodyPr anchor="b">
            <a:normAutofit/>
          </a:bodyPr>
          <a:lstStyle>
            <a:lvl1pPr marL="0" indent="0">
              <a:buNone/>
              <a:defRPr sz="1200" b="1">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528066" y="1832027"/>
            <a:ext cx="3909060" cy="26393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4636008" y="1317404"/>
            <a:ext cx="3909060" cy="492919"/>
          </a:xfrm>
        </p:spPr>
        <p:txBody>
          <a:bodyPr anchor="b">
            <a:normAutofit/>
          </a:bodyPr>
          <a:lstStyle>
            <a:lvl1pPr marL="0" indent="0">
              <a:buNone/>
              <a:defRPr sz="1200" b="1">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4636008" y="1832027"/>
            <a:ext cx="3909060" cy="26393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7B161764-14DE-4119-9949-B1A1BB785561}" type="datetime1">
              <a:rPr lang="en-US" smtClean="0"/>
              <a:t>2/28/2026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Web Development using React js</a:t>
            </a:r>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8546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0AB1F7A7-23C2-411F-AFAC-901759BB1ED4}" type="datetime1">
              <a:rPr lang="en-US" smtClean="0"/>
              <a:t>2/28/2026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Web Development using React js</a:t>
            </a:r>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4062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D0624812-C686-45D7-ACDD-BC46D53CF1AE}" type="datetime1">
              <a:rPr lang="en-US" smtClean="0"/>
              <a:t>2/28/2026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Web Development using React js</a:t>
            </a:r>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88137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528067" y="802386"/>
            <a:ext cx="3070199" cy="987552"/>
          </a:xfrm>
        </p:spPr>
        <p:txBody>
          <a:bodyPr anchor="b"/>
          <a:lstStyle>
            <a:lvl1pP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3887391" y="802386"/>
            <a:ext cx="4629150" cy="359340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528067" y="1913382"/>
            <a:ext cx="3070199" cy="248945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D7DB61E0-6E45-45F8-816F-548DB32ED598}" type="datetime1">
              <a:rPr lang="en-US" smtClean="0"/>
              <a:t>2/28/2026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Web Development using React js</a:t>
            </a:r>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99844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528067" y="800101"/>
            <a:ext cx="3077573" cy="988142"/>
          </a:xfrm>
        </p:spPr>
        <p:txBody>
          <a:bodyPr anchor="b"/>
          <a:lstStyle>
            <a:lvl1pPr>
              <a:defRPr sz="2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3887391" y="800100"/>
            <a:ext cx="4629150" cy="3595688"/>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528067" y="1914525"/>
            <a:ext cx="3077573" cy="248721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D75D2E4D-2B89-417D-9032-9EE86077BCBE}" type="datetime1">
              <a:rPr lang="en-US" smtClean="0"/>
              <a:t>2/28/2026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Web Development using React js</a:t>
            </a:r>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43692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CDCDEA53-6EE2-4DE8-B4D1-9A9F3CB187D2}" type="datetime1">
              <a:rPr lang="en-US" smtClean="0"/>
              <a:t>2/28/2026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Web Development using React js</a:t>
            </a:r>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75892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6931742" y="748480"/>
            <a:ext cx="1761782" cy="373871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576696" y="748480"/>
            <a:ext cx="6355046" cy="37387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CC3C98F2-D83F-43C2-9E87-8CC32260F24F}" type="datetime1">
              <a:rPr lang="en-US" smtClean="0"/>
              <a:t>2/28/2026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Web Development using React js</a:t>
            </a:r>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58211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7C71A-4949-248C-75B6-7A545421CD92}"/>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ADD776FE-EF9C-1A3C-A697-0965D46F10BA}"/>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8A40780-A504-30B0-2719-054295E628E6}"/>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5" name="Footer Placeholder 4">
            <a:extLst>
              <a:ext uri="{FF2B5EF4-FFF2-40B4-BE49-F238E27FC236}">
                <a16:creationId xmlns:a16="http://schemas.microsoft.com/office/drawing/2014/main" id="{156B26C7-CD17-E830-46EB-E9EDC35DEB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253B03-9770-889F-D567-744BEAB3421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124986079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1555B-C033-6744-14C6-22B7EDDEEE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4F66A5-FFD5-7FAE-4555-41B6C6C959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46800E-84F4-91C5-232F-7874CB1DB7BE}"/>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5" name="Footer Placeholder 4">
            <a:extLst>
              <a:ext uri="{FF2B5EF4-FFF2-40B4-BE49-F238E27FC236}">
                <a16:creationId xmlns:a16="http://schemas.microsoft.com/office/drawing/2014/main" id="{2754A7F3-C726-1858-CD00-44C6DAC8F5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DFBD7A-7174-1FB4-D940-5D9D8D9C171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59138144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E2B1C-E2CB-BBAE-CBEC-C898A083EE4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B124144-FE63-1126-EE5A-733C3919F78E}"/>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C2D4B5-4D50-CB8B-8CD3-BF1A9CD20A75}"/>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5" name="Footer Placeholder 4">
            <a:extLst>
              <a:ext uri="{FF2B5EF4-FFF2-40B4-BE49-F238E27FC236}">
                <a16:creationId xmlns:a16="http://schemas.microsoft.com/office/drawing/2014/main" id="{C625E964-72A2-695E-E5F9-1C3879D88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56B62F-CBD3-B303-0C38-F104179BBC7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349253755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25326-2A1D-364A-F0B6-97067D31DA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A20C5C-026C-C280-D141-94EF5700044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75D989-1F73-93DE-071D-561AAE8EB372}"/>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69ED11-485D-0205-348A-ED88A0ABBDDD}"/>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6" name="Footer Placeholder 5">
            <a:extLst>
              <a:ext uri="{FF2B5EF4-FFF2-40B4-BE49-F238E27FC236}">
                <a16:creationId xmlns:a16="http://schemas.microsoft.com/office/drawing/2014/main" id="{8268D20E-E104-CB8B-5D0B-EF7A31125F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8B590C-C1F3-A60A-27D0-E2722D4C6F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201575714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EE912-A73B-9436-D897-3348B6ACC579}"/>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A7FE14-E52B-3925-B212-80DE8EBF6D2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E40C989-F6E0-5823-FBB5-2C9FB4407FF6}"/>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3A2BB8-3043-C606-8EC5-23204CFC4052}"/>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7FD4EB-F935-13DA-8CB8-D506280C355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0C6759-F8D2-9520-65B5-DBB9B8F14F31}"/>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8" name="Footer Placeholder 7">
            <a:extLst>
              <a:ext uri="{FF2B5EF4-FFF2-40B4-BE49-F238E27FC236}">
                <a16:creationId xmlns:a16="http://schemas.microsoft.com/office/drawing/2014/main" id="{65CB202B-693B-CF98-B20B-4B79F81AC1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F76119-DF08-A2CD-834F-52B3F6E65D7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204221710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B07B-856A-3B42-94B2-749E229DB0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DE7B6C-2B2C-49B7-E9EB-206A4F03D343}"/>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4" name="Footer Placeholder 3">
            <a:extLst>
              <a:ext uri="{FF2B5EF4-FFF2-40B4-BE49-F238E27FC236}">
                <a16:creationId xmlns:a16="http://schemas.microsoft.com/office/drawing/2014/main" id="{CA330809-65CE-7553-B6EB-1688537257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6649DA-C613-5335-FB37-FB7E651DAE8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152071574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600E1F-3524-C431-B0B2-362F9FBBBA77}"/>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3" name="Footer Placeholder 2">
            <a:extLst>
              <a:ext uri="{FF2B5EF4-FFF2-40B4-BE49-F238E27FC236}">
                <a16:creationId xmlns:a16="http://schemas.microsoft.com/office/drawing/2014/main" id="{EAC75FA8-B46C-7072-4DF8-956C4AF873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1BBA34-0629-553B-C5EE-0A77120604C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1539265365"/>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31A15-0DD8-8D35-2799-91CAF48EB52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28748CC-123E-090C-0A29-0DA5F617F493}"/>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53DFCB-7EE0-4007-F768-DE9598E5773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F82F95E-2A53-A44B-AB1C-2793C8F73B17}"/>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6" name="Footer Placeholder 5">
            <a:extLst>
              <a:ext uri="{FF2B5EF4-FFF2-40B4-BE49-F238E27FC236}">
                <a16:creationId xmlns:a16="http://schemas.microsoft.com/office/drawing/2014/main" id="{17B64926-E7EC-5528-8F62-1ACED70054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7FBB07-380E-76E1-115F-0E2F27A62CE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1898531296"/>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D9D91-54E1-5247-3A17-DB3F3F313DA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38901CC-B779-302E-9DDA-491497510D1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10DD622-D394-8AE1-67B9-8DD09F77F77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477EC30-EE49-B715-9CD6-0419BDF4B73E}"/>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6" name="Footer Placeholder 5">
            <a:extLst>
              <a:ext uri="{FF2B5EF4-FFF2-40B4-BE49-F238E27FC236}">
                <a16:creationId xmlns:a16="http://schemas.microsoft.com/office/drawing/2014/main" id="{837A0EBC-C41F-960B-5044-3790A8A10C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282DD8-9D04-F75D-1A68-579F0E2C1BB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365788065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37699-0689-DBD5-A03C-871407BF0F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C6C77A-44A5-4033-17C2-CC35A9AB71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CAB2E2-440D-755A-1CF9-A93139BB42B4}"/>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5" name="Footer Placeholder 4">
            <a:extLst>
              <a:ext uri="{FF2B5EF4-FFF2-40B4-BE49-F238E27FC236}">
                <a16:creationId xmlns:a16="http://schemas.microsoft.com/office/drawing/2014/main" id="{FEE75B0B-FC2F-2F82-98B7-3296F1CB4A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750EAA-0DEE-E5E4-2E49-D411FEFDE02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260668633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BC02F7-73C3-1B97-6582-E898FED4A5BD}"/>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BB9807-1C19-0AFA-E2AC-8B24A87998A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4FE359-63CD-530C-208F-5AE4C63D8D62}"/>
              </a:ext>
            </a:extLst>
          </p:cNvPr>
          <p:cNvSpPr>
            <a:spLocks noGrp="1"/>
          </p:cNvSpPr>
          <p:nvPr>
            <p:ph type="dt" sz="half" idx="10"/>
          </p:nvPr>
        </p:nvSpPr>
        <p:spPr/>
        <p:txBody>
          <a:bodyPr/>
          <a:lstStyle/>
          <a:p>
            <a:fld id="{534CC819-10AE-4A7A-91A7-FD6C26A7F155}" type="datetimeFigureOut">
              <a:rPr lang="en-US" smtClean="0"/>
              <a:t>2/28/2026</a:t>
            </a:fld>
            <a:endParaRPr lang="en-US"/>
          </a:p>
        </p:txBody>
      </p:sp>
      <p:sp>
        <p:nvSpPr>
          <p:cNvPr id="5" name="Footer Placeholder 4">
            <a:extLst>
              <a:ext uri="{FF2B5EF4-FFF2-40B4-BE49-F238E27FC236}">
                <a16:creationId xmlns:a16="http://schemas.microsoft.com/office/drawing/2014/main" id="{4A73D2FF-06CA-683F-7B47-F2D16613C7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B5E769-6DA1-C2D8-FB11-AD84EE0CEBC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2740002868"/>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 name="Google Shape;40;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5044320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64FACC-67A5-4704-9F3A-04096A278879}" type="datetime1">
              <a:rPr lang="en-US" smtClean="0"/>
              <a:t>3/1/2026</a:t>
            </a:fld>
            <a:endParaRPr lang="en-US"/>
          </a:p>
        </p:txBody>
      </p:sp>
      <p:sp>
        <p:nvSpPr>
          <p:cNvPr id="5" name="Footer Placeholder 4"/>
          <p:cNvSpPr>
            <a:spLocks noGrp="1"/>
          </p:cNvSpPr>
          <p:nvPr>
            <p:ph type="ftr" sz="quarter" idx="11"/>
          </p:nvPr>
        </p:nvSpPr>
        <p:spPr/>
        <p:txBody>
          <a:bodyPr/>
          <a:lstStyle/>
          <a:p>
            <a:r>
              <a:rPr lang="en-US"/>
              <a:t>Jamhuriya university of science &amp; technology - copyright@2025</a:t>
            </a:r>
          </a:p>
        </p:txBody>
      </p:sp>
      <p:sp>
        <p:nvSpPr>
          <p:cNvPr id="6" name="Slide Number Placeholder 5"/>
          <p:cNvSpPr>
            <a:spLocks noGrp="1"/>
          </p:cNvSpPr>
          <p:nvPr>
            <p:ph type="sldNum" sz="quarter" idx="12"/>
          </p:nvPr>
        </p:nvSpPr>
        <p:spPr/>
        <p:txBody>
          <a:bodyPr/>
          <a:lstStyle/>
          <a:p>
            <a:fld id="{84EF7EEB-C9A5-40EC-A412-F38B288EA657}"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6224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E261C0-2D4F-4141-BB40-E6226F1A5B68}" type="datetime1">
              <a:rPr lang="en-US" smtClean="0"/>
              <a:t>3/1/2026</a:t>
            </a:fld>
            <a:endParaRPr lang="en-US"/>
          </a:p>
        </p:txBody>
      </p:sp>
      <p:sp>
        <p:nvSpPr>
          <p:cNvPr id="5" name="Footer Placeholder 4"/>
          <p:cNvSpPr>
            <a:spLocks noGrp="1"/>
          </p:cNvSpPr>
          <p:nvPr>
            <p:ph type="ftr" sz="quarter" idx="11"/>
          </p:nvPr>
        </p:nvSpPr>
        <p:spPr/>
        <p:txBody>
          <a:bodyPr/>
          <a:lstStyle/>
          <a:p>
            <a:r>
              <a:rPr lang="en-US"/>
              <a:t>Jamhuriya university of science &amp; technology - copyright@2025</a:t>
            </a:r>
          </a:p>
        </p:txBody>
      </p:sp>
      <p:sp>
        <p:nvSpPr>
          <p:cNvPr id="6" name="Slide Number Placeholder 5"/>
          <p:cNvSpPr>
            <a:spLocks noGrp="1"/>
          </p:cNvSpPr>
          <p:nvPr>
            <p:ph type="sldNum" sz="quarter" idx="12"/>
          </p:nvPr>
        </p:nvSpPr>
        <p:spPr/>
        <p:txBody>
          <a:bodyPr/>
          <a:lstStyle/>
          <a:p>
            <a:fld id="{84EF7EEB-C9A5-40EC-A412-F38B288EA657}" type="slidenum">
              <a:rPr lang="en-US" smtClean="0"/>
              <a:t>‹#›</a:t>
            </a:fld>
            <a:endParaRPr lang="en-US"/>
          </a:p>
        </p:txBody>
      </p:sp>
    </p:spTree>
    <p:extLst>
      <p:ext uri="{BB962C8B-B14F-4D97-AF65-F5344CB8AC3E}">
        <p14:creationId xmlns:p14="http://schemas.microsoft.com/office/powerpoint/2010/main" val="6406469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764CF-3B60-4133-8738-B6C1634DF45C}" type="datetime1">
              <a:rPr lang="en-US" smtClean="0"/>
              <a:t>3/1/2026</a:t>
            </a:fld>
            <a:endParaRPr lang="en-US"/>
          </a:p>
        </p:txBody>
      </p:sp>
      <p:sp>
        <p:nvSpPr>
          <p:cNvPr id="5" name="Footer Placeholder 4"/>
          <p:cNvSpPr>
            <a:spLocks noGrp="1"/>
          </p:cNvSpPr>
          <p:nvPr>
            <p:ph type="ftr" sz="quarter" idx="11"/>
          </p:nvPr>
        </p:nvSpPr>
        <p:spPr/>
        <p:txBody>
          <a:bodyPr/>
          <a:lstStyle/>
          <a:p>
            <a:r>
              <a:rPr lang="en-US"/>
              <a:t>Jamhuriya university of science &amp; technology - copyright@2025</a:t>
            </a:r>
          </a:p>
        </p:txBody>
      </p:sp>
      <p:sp>
        <p:nvSpPr>
          <p:cNvPr id="6" name="Slide Number Placeholder 5"/>
          <p:cNvSpPr>
            <a:spLocks noGrp="1"/>
          </p:cNvSpPr>
          <p:nvPr>
            <p:ph type="sldNum" sz="quarter" idx="12"/>
          </p:nvPr>
        </p:nvSpPr>
        <p:spPr/>
        <p:txBody>
          <a:bodyPr/>
          <a:lstStyle/>
          <a:p>
            <a:fld id="{84EF7EEB-C9A5-40EC-A412-F38B288EA657}"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18174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F876FA-3A73-48F4-8072-0E8E1A291667}" type="datetime1">
              <a:rPr lang="en-US" smtClean="0"/>
              <a:t>3/1/2026</a:t>
            </a:fld>
            <a:endParaRPr lang="en-US"/>
          </a:p>
        </p:txBody>
      </p:sp>
      <p:sp>
        <p:nvSpPr>
          <p:cNvPr id="6" name="Footer Placeholder 5"/>
          <p:cNvSpPr>
            <a:spLocks noGrp="1"/>
          </p:cNvSpPr>
          <p:nvPr>
            <p:ph type="ftr" sz="quarter" idx="11"/>
          </p:nvPr>
        </p:nvSpPr>
        <p:spPr/>
        <p:txBody>
          <a:bodyPr/>
          <a:lstStyle/>
          <a:p>
            <a:r>
              <a:rPr lang="en-US"/>
              <a:t>Jamhuriya university of science &amp; technology - copyright@2025</a:t>
            </a:r>
          </a:p>
        </p:txBody>
      </p:sp>
      <p:sp>
        <p:nvSpPr>
          <p:cNvPr id="7" name="Slide Number Placeholder 6"/>
          <p:cNvSpPr>
            <a:spLocks noGrp="1"/>
          </p:cNvSpPr>
          <p:nvPr>
            <p:ph type="sldNum" sz="quarter" idx="12"/>
          </p:nvPr>
        </p:nvSpPr>
        <p:spPr/>
        <p:txBody>
          <a:bodyPr/>
          <a:lstStyle/>
          <a:p>
            <a:fld id="{84EF7EEB-C9A5-40EC-A412-F38B288EA657}" type="slidenum">
              <a:rPr lang="en-US" smtClean="0"/>
              <a:t>‹#›</a:t>
            </a:fld>
            <a:endParaRPr lang="en-US"/>
          </a:p>
        </p:txBody>
      </p:sp>
    </p:spTree>
    <p:extLst>
      <p:ext uri="{BB962C8B-B14F-4D97-AF65-F5344CB8AC3E}">
        <p14:creationId xmlns:p14="http://schemas.microsoft.com/office/powerpoint/2010/main" val="361720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lumMod val="9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lumMod val="9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7507EE-8086-467A-BD33-72860FA4E460}" type="datetime1">
              <a:rPr lang="en-US" smtClean="0"/>
              <a:t>3/1/2026</a:t>
            </a:fld>
            <a:endParaRPr lang="en-US"/>
          </a:p>
        </p:txBody>
      </p:sp>
      <p:sp>
        <p:nvSpPr>
          <p:cNvPr id="8" name="Footer Placeholder 7"/>
          <p:cNvSpPr>
            <a:spLocks noGrp="1"/>
          </p:cNvSpPr>
          <p:nvPr>
            <p:ph type="ftr" sz="quarter" idx="11"/>
          </p:nvPr>
        </p:nvSpPr>
        <p:spPr/>
        <p:txBody>
          <a:bodyPr/>
          <a:lstStyle/>
          <a:p>
            <a:r>
              <a:rPr lang="en-US"/>
              <a:t>Jamhuriya university of science &amp; technology - copyright@2025</a:t>
            </a:r>
          </a:p>
        </p:txBody>
      </p:sp>
      <p:sp>
        <p:nvSpPr>
          <p:cNvPr id="9" name="Slide Number Placeholder 8"/>
          <p:cNvSpPr>
            <a:spLocks noGrp="1"/>
          </p:cNvSpPr>
          <p:nvPr>
            <p:ph type="sldNum" sz="quarter" idx="12"/>
          </p:nvPr>
        </p:nvSpPr>
        <p:spPr/>
        <p:txBody>
          <a:bodyPr/>
          <a:lstStyle/>
          <a:p>
            <a:fld id="{84EF7EEB-C9A5-40EC-A412-F38B288EA657}" type="slidenum">
              <a:rPr lang="en-US" smtClean="0"/>
              <a:t>‹#›</a:t>
            </a:fld>
            <a:endParaRPr lang="en-US"/>
          </a:p>
        </p:txBody>
      </p:sp>
    </p:spTree>
    <p:extLst>
      <p:ext uri="{BB962C8B-B14F-4D97-AF65-F5344CB8AC3E}">
        <p14:creationId xmlns:p14="http://schemas.microsoft.com/office/powerpoint/2010/main" val="12504922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D23A8E-85E0-492D-AB8A-0953E0BDC53D}" type="datetime1">
              <a:rPr lang="en-US" smtClean="0"/>
              <a:t>3/1/2026</a:t>
            </a:fld>
            <a:endParaRPr lang="en-US"/>
          </a:p>
        </p:txBody>
      </p:sp>
      <p:sp>
        <p:nvSpPr>
          <p:cNvPr id="4" name="Footer Placeholder 3"/>
          <p:cNvSpPr>
            <a:spLocks noGrp="1"/>
          </p:cNvSpPr>
          <p:nvPr>
            <p:ph type="ftr" sz="quarter" idx="11"/>
          </p:nvPr>
        </p:nvSpPr>
        <p:spPr/>
        <p:txBody>
          <a:bodyPr/>
          <a:lstStyle/>
          <a:p>
            <a:r>
              <a:rPr lang="en-US"/>
              <a:t>Jamhuriya university of science &amp; technology - copyright@2025</a:t>
            </a:r>
          </a:p>
        </p:txBody>
      </p:sp>
      <p:sp>
        <p:nvSpPr>
          <p:cNvPr id="5" name="Slide Number Placeholder 4"/>
          <p:cNvSpPr>
            <a:spLocks noGrp="1"/>
          </p:cNvSpPr>
          <p:nvPr>
            <p:ph type="sldNum" sz="quarter" idx="12"/>
          </p:nvPr>
        </p:nvSpPr>
        <p:spPr/>
        <p:txBody>
          <a:bodyPr/>
          <a:lstStyle/>
          <a:p>
            <a:fld id="{84EF7EEB-C9A5-40EC-A412-F38B288EA657}" type="slidenum">
              <a:rPr lang="en-US" smtClean="0"/>
              <a:t>‹#›</a:t>
            </a:fld>
            <a:endParaRPr lang="en-US"/>
          </a:p>
        </p:txBody>
      </p:sp>
    </p:spTree>
    <p:extLst>
      <p:ext uri="{BB962C8B-B14F-4D97-AF65-F5344CB8AC3E}">
        <p14:creationId xmlns:p14="http://schemas.microsoft.com/office/powerpoint/2010/main" val="34800935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418E7C3-1B20-40CB-B323-45DE390E564A}" type="datetime1">
              <a:rPr lang="en-US" smtClean="0"/>
              <a:t>3/1/2026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Jamhuriya university of science &amp; technology - copyright@2025</a:t>
            </a:r>
          </a:p>
        </p:txBody>
      </p:sp>
      <p:sp>
        <p:nvSpPr>
          <p:cNvPr id="9" name="Slide Number Placeholder 8"/>
          <p:cNvSpPr>
            <a:spLocks noGrp="1"/>
          </p:cNvSpPr>
          <p:nvPr>
            <p:ph type="sldNum" sz="quarter" idx="12"/>
          </p:nvPr>
        </p:nvSpPr>
        <p:spPr/>
        <p:txBody>
          <a:bodyPr/>
          <a:lstStyle/>
          <a:p>
            <a:fld id="{84EF7EEB-C9A5-40EC-A412-F38B288EA657}" type="slidenum">
              <a:rPr lang="en-US" smtClean="0"/>
              <a:t>‹#›</a:t>
            </a:fld>
            <a:endParaRPr lang="en-US"/>
          </a:p>
        </p:txBody>
      </p:sp>
    </p:spTree>
    <p:extLst>
      <p:ext uri="{BB962C8B-B14F-4D97-AF65-F5344CB8AC3E}">
        <p14:creationId xmlns:p14="http://schemas.microsoft.com/office/powerpoint/2010/main" val="1965053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 y="0"/>
            <a:ext cx="3038093" cy="51435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C26CB1B9-B6B8-4AE2-963F-837E4CDFBC60}" type="datetime1">
              <a:rPr lang="en-US" smtClean="0"/>
              <a:t>3/1/2026</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r>
              <a:rPr lang="en-US"/>
              <a:t>Jamhuriya university of science &amp; technology - copyright@2025</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4EF7EEB-C9A5-40EC-A412-F38B288EA657}" type="slidenum">
              <a:rPr lang="en-US" smtClean="0"/>
              <a:t>‹#›</a:t>
            </a:fld>
            <a:endParaRPr lang="en-US"/>
          </a:p>
        </p:txBody>
      </p:sp>
    </p:spTree>
    <p:extLst>
      <p:ext uri="{BB962C8B-B14F-4D97-AF65-F5344CB8AC3E}">
        <p14:creationId xmlns:p14="http://schemas.microsoft.com/office/powerpoint/2010/main" val="1926777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22960" y="3806190"/>
            <a:ext cx="7585234" cy="617220"/>
          </a:xfrm>
        </p:spPr>
        <p:txBody>
          <a:bodyPr tIns="0" bIns="0" anchor="b">
            <a:noAutofit/>
          </a:bodyPr>
          <a:lstStyle>
            <a:lvl1pPr>
              <a:defRPr sz="27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solidFill>
            <a:schemeClr val="bg1">
              <a:lumMod val="50000"/>
              <a:lumOff val="50000"/>
            </a:schemeClr>
          </a:solidFill>
        </p:spPr>
        <p:txBody>
          <a:bodyPr lIns="457200" tIns="45720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8"/>
            <a:ext cx="7584948" cy="445770"/>
          </a:xfrm>
        </p:spPr>
        <p:txBody>
          <a:bodyPr lIns="91440" tIns="0" rIns="91440" bIns="0">
            <a:normAutofit/>
          </a:bodyPr>
          <a:lstStyle>
            <a:lvl1pPr marL="0" indent="0">
              <a:spcBef>
                <a:spcPts val="0"/>
              </a:spcBef>
              <a:spcAft>
                <a:spcPts val="450"/>
              </a:spcAft>
              <a:buNone/>
              <a:defRPr sz="1125">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B95C3AEC-44A0-46DB-8B8A-408600457E88}" type="datetime1">
              <a:rPr lang="en-US" smtClean="0"/>
              <a:t>3/1/2026</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r>
              <a:rPr lang="en-US"/>
              <a:t>Jamhuriya university of science &amp; technology - copyright@2025</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4EF7EEB-C9A5-40EC-A412-F38B288EA657}" type="slidenum">
              <a:rPr lang="en-US" smtClean="0"/>
              <a:t>‹#›</a:t>
            </a:fld>
            <a:endParaRPr lang="en-US"/>
          </a:p>
        </p:txBody>
      </p:sp>
    </p:spTree>
    <p:extLst>
      <p:ext uri="{BB962C8B-B14F-4D97-AF65-F5344CB8AC3E}">
        <p14:creationId xmlns:p14="http://schemas.microsoft.com/office/powerpoint/2010/main" val="13054541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FBE1E0-DF5C-4819-941A-5492E0B02770}" type="datetime1">
              <a:rPr lang="en-US" smtClean="0"/>
              <a:t>3/1/2026</a:t>
            </a:fld>
            <a:endParaRPr lang="en-US"/>
          </a:p>
        </p:txBody>
      </p:sp>
      <p:sp>
        <p:nvSpPr>
          <p:cNvPr id="5" name="Footer Placeholder 4"/>
          <p:cNvSpPr>
            <a:spLocks noGrp="1"/>
          </p:cNvSpPr>
          <p:nvPr>
            <p:ph type="ftr" sz="quarter" idx="11"/>
          </p:nvPr>
        </p:nvSpPr>
        <p:spPr/>
        <p:txBody>
          <a:bodyPr/>
          <a:lstStyle/>
          <a:p>
            <a:r>
              <a:rPr lang="en-US"/>
              <a:t>Jamhuriya university of science &amp; technology - copyright@2025</a:t>
            </a:r>
          </a:p>
        </p:txBody>
      </p:sp>
      <p:sp>
        <p:nvSpPr>
          <p:cNvPr id="6" name="Slide Number Placeholder 5"/>
          <p:cNvSpPr>
            <a:spLocks noGrp="1"/>
          </p:cNvSpPr>
          <p:nvPr>
            <p:ph type="sldNum" sz="quarter" idx="12"/>
          </p:nvPr>
        </p:nvSpPr>
        <p:spPr/>
        <p:txBody>
          <a:bodyPr/>
          <a:lstStyle/>
          <a:p>
            <a:fld id="{84EF7EEB-C9A5-40EC-A412-F38B288EA657}" type="slidenum">
              <a:rPr lang="en-US" smtClean="0"/>
              <a:t>‹#›</a:t>
            </a:fld>
            <a:endParaRPr lang="en-US"/>
          </a:p>
        </p:txBody>
      </p:sp>
    </p:spTree>
    <p:extLst>
      <p:ext uri="{BB962C8B-B14F-4D97-AF65-F5344CB8AC3E}">
        <p14:creationId xmlns:p14="http://schemas.microsoft.com/office/powerpoint/2010/main" val="12099928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09226"/>
            <a:ext cx="1971675" cy="43199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9226"/>
            <a:ext cx="5800725" cy="4319924"/>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E3EFA9-E19B-49B5-B51B-E7A682F5BDBE}" type="datetime1">
              <a:rPr lang="en-US" smtClean="0"/>
              <a:t>3/1/2026</a:t>
            </a:fld>
            <a:endParaRPr lang="en-US"/>
          </a:p>
        </p:txBody>
      </p:sp>
      <p:sp>
        <p:nvSpPr>
          <p:cNvPr id="5" name="Footer Placeholder 4"/>
          <p:cNvSpPr>
            <a:spLocks noGrp="1"/>
          </p:cNvSpPr>
          <p:nvPr>
            <p:ph type="ftr" sz="quarter" idx="11"/>
          </p:nvPr>
        </p:nvSpPr>
        <p:spPr/>
        <p:txBody>
          <a:bodyPr/>
          <a:lstStyle/>
          <a:p>
            <a:r>
              <a:rPr lang="en-US"/>
              <a:t>Jamhuriya university of science &amp; technology - copyright@2025</a:t>
            </a:r>
          </a:p>
        </p:txBody>
      </p:sp>
      <p:sp>
        <p:nvSpPr>
          <p:cNvPr id="6" name="Slide Number Placeholder 5"/>
          <p:cNvSpPr>
            <a:spLocks noGrp="1"/>
          </p:cNvSpPr>
          <p:nvPr>
            <p:ph type="sldNum" sz="quarter" idx="12"/>
          </p:nvPr>
        </p:nvSpPr>
        <p:spPr/>
        <p:txBody>
          <a:bodyPr/>
          <a:lstStyle/>
          <a:p>
            <a:fld id="{84EF7EEB-C9A5-40EC-A412-F38B288EA657}" type="slidenum">
              <a:rPr lang="en-US" smtClean="0"/>
              <a:t>‹#›</a:t>
            </a:fld>
            <a:endParaRPr lang="en-US"/>
          </a:p>
        </p:txBody>
      </p:sp>
    </p:spTree>
    <p:extLst>
      <p:ext uri="{BB962C8B-B14F-4D97-AF65-F5344CB8AC3E}">
        <p14:creationId xmlns:p14="http://schemas.microsoft.com/office/powerpoint/2010/main" val="3096720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525477" y="685800"/>
            <a:ext cx="8018449" cy="98069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525477" y="1666494"/>
            <a:ext cx="8018449" cy="28049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6277086" y="4767263"/>
            <a:ext cx="1912173" cy="273844"/>
          </a:xfrm>
          <a:prstGeom prst="rect">
            <a:avLst/>
          </a:prstGeom>
        </p:spPr>
        <p:txBody>
          <a:bodyPr vert="horz" lIns="91440" tIns="45720" rIns="91440" bIns="45720" rtlCol="0" anchor="ctr"/>
          <a:lstStyle>
            <a:lvl1pPr algn="r">
              <a:defRPr sz="788">
                <a:solidFill>
                  <a:schemeClr val="tx1"/>
                </a:solidFill>
                <a:latin typeface="+mj-lt"/>
              </a:defRPr>
            </a:lvl1pPr>
          </a:lstStyle>
          <a:p>
            <a:fld id="{AE9C2830-3C5C-4D55-BDE7-40DDE5A9DE71}" type="datetime1">
              <a:rPr lang="en-US" smtClean="0"/>
              <a:t>2/28/2026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528067" y="4767263"/>
            <a:ext cx="3404795" cy="273844"/>
          </a:xfrm>
          <a:prstGeom prst="rect">
            <a:avLst/>
          </a:prstGeom>
        </p:spPr>
        <p:txBody>
          <a:bodyPr vert="horz" lIns="91440" tIns="45720" rIns="91440" bIns="45720" rtlCol="0" anchor="ctr"/>
          <a:lstStyle>
            <a:lvl1pPr algn="l">
              <a:defRPr sz="788">
                <a:solidFill>
                  <a:schemeClr val="tx1"/>
                </a:solidFill>
                <a:latin typeface="+mj-lt"/>
              </a:defRPr>
            </a:lvl1pPr>
          </a:lstStyle>
          <a:p>
            <a:r>
              <a:rPr lang="en-US"/>
              <a:t>Web Development using React js</a:t>
            </a:r>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8189259" y="4767263"/>
            <a:ext cx="504266" cy="273844"/>
          </a:xfrm>
          <a:prstGeom prst="rect">
            <a:avLst/>
          </a:prstGeom>
        </p:spPr>
        <p:txBody>
          <a:bodyPr vert="horz" lIns="91440" tIns="45720" rIns="91440" bIns="45720" rtlCol="0" anchor="ctr"/>
          <a:lstStyle>
            <a:lvl1pPr algn="r">
              <a:defRPr sz="135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600075" y="542925"/>
            <a:ext cx="794385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600075" y="4607086"/>
            <a:ext cx="79438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42402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685800" rtl="0" eaLnBrk="1" latinLnBrk="0" hangingPunct="1">
        <a:lnSpc>
          <a:spcPct val="100000"/>
        </a:lnSpc>
        <a:spcBef>
          <a:spcPct val="0"/>
        </a:spcBef>
        <a:buNone/>
        <a:defRPr sz="3000" kern="1200" cap="all" spc="23" baseline="0">
          <a:solidFill>
            <a:schemeClr val="tx1"/>
          </a:solidFill>
          <a:latin typeface="+mj-lt"/>
          <a:ea typeface="+mj-ea"/>
          <a:cs typeface="+mj-cs"/>
        </a:defRPr>
      </a:lvl1pPr>
    </p:titleStyle>
    <p:bodyStyle>
      <a:lvl1pPr marL="171450" indent="-171450" algn="l" defTabSz="685800" rtl="0" eaLnBrk="1" latinLnBrk="0" hangingPunct="1">
        <a:lnSpc>
          <a:spcPct val="110000"/>
        </a:lnSpc>
        <a:spcBef>
          <a:spcPts val="750"/>
        </a:spcBef>
        <a:buFont typeface="Arial" panose="020B0604020202020204" pitchFamily="34" charset="0"/>
        <a:buChar char="•"/>
        <a:defRPr sz="1500" kern="1200">
          <a:solidFill>
            <a:schemeClr val="tx1"/>
          </a:solidFill>
          <a:latin typeface="+mn-lt"/>
          <a:ea typeface="+mn-ea"/>
          <a:cs typeface="+mn-cs"/>
        </a:defRPr>
      </a:lvl1pPr>
      <a:lvl2pPr marL="514350" indent="-171450" algn="l" defTabSz="685800" rtl="0" eaLnBrk="1" latinLnBrk="0" hangingPunct="1">
        <a:lnSpc>
          <a:spcPct val="110000"/>
        </a:lnSpc>
        <a:spcBef>
          <a:spcPts val="375"/>
        </a:spcBef>
        <a:buFont typeface="Arial" panose="020B0604020202020204" pitchFamily="34" charset="0"/>
        <a:buChar char="•"/>
        <a:defRPr sz="1350" kern="1200">
          <a:solidFill>
            <a:schemeClr val="tx1"/>
          </a:solidFill>
          <a:latin typeface="+mn-lt"/>
          <a:ea typeface="+mn-ea"/>
          <a:cs typeface="+mn-cs"/>
        </a:defRPr>
      </a:lvl2pPr>
      <a:lvl3pPr marL="857250" indent="-171450" algn="l" defTabSz="685800" rtl="0" eaLnBrk="1" latinLnBrk="0" hangingPunct="1">
        <a:lnSpc>
          <a:spcPct val="110000"/>
        </a:lnSpc>
        <a:spcBef>
          <a:spcPts val="375"/>
        </a:spcBef>
        <a:buFont typeface="Arial" panose="020B0604020202020204" pitchFamily="34" charset="0"/>
        <a:buChar char="•"/>
        <a:defRPr sz="1200" kern="1200">
          <a:solidFill>
            <a:schemeClr val="tx1"/>
          </a:solidFill>
          <a:latin typeface="+mn-lt"/>
          <a:ea typeface="+mn-ea"/>
          <a:cs typeface="+mn-cs"/>
        </a:defRPr>
      </a:lvl3pPr>
      <a:lvl4pPr marL="1200150" indent="-171450" algn="l" defTabSz="685800" rtl="0" eaLnBrk="1" latinLnBrk="0" hangingPunct="1">
        <a:lnSpc>
          <a:spcPct val="110000"/>
        </a:lnSpc>
        <a:spcBef>
          <a:spcPts val="375"/>
        </a:spcBef>
        <a:buFont typeface="Arial" panose="020B0604020202020204" pitchFamily="34" charset="0"/>
        <a:buChar char="•"/>
        <a:defRPr sz="1050" kern="1200">
          <a:solidFill>
            <a:schemeClr val="tx1"/>
          </a:solidFill>
          <a:latin typeface="+mn-lt"/>
          <a:ea typeface="+mn-ea"/>
          <a:cs typeface="+mn-cs"/>
        </a:defRPr>
      </a:lvl4pPr>
      <a:lvl5pPr marL="1543050" indent="-171450" algn="l" defTabSz="685800" rtl="0" eaLnBrk="1" latinLnBrk="0" hangingPunct="1">
        <a:lnSpc>
          <a:spcPct val="110000"/>
        </a:lnSpc>
        <a:spcBef>
          <a:spcPts val="375"/>
        </a:spcBef>
        <a:buFont typeface="Arial" panose="020B0604020202020204" pitchFamily="34" charset="0"/>
        <a:buChar char="•"/>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060B2C-7246-6EAB-B3C9-BC54C5B683D8}"/>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12F70B-F0C1-4C81-429E-03558143507C}"/>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25257C-15F7-466E-E07D-5419B013ABBA}"/>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34CC819-10AE-4A7A-91A7-FD6C26A7F155}" type="datetimeFigureOut">
              <a:rPr lang="en-US" smtClean="0"/>
              <a:t>2/28/2026</a:t>
            </a:fld>
            <a:endParaRPr lang="en-US"/>
          </a:p>
        </p:txBody>
      </p:sp>
      <p:sp>
        <p:nvSpPr>
          <p:cNvPr id="5" name="Footer Placeholder 4">
            <a:extLst>
              <a:ext uri="{FF2B5EF4-FFF2-40B4-BE49-F238E27FC236}">
                <a16:creationId xmlns:a16="http://schemas.microsoft.com/office/drawing/2014/main" id="{348F4D38-860E-B71A-BCF4-160E1971644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0E4B57-1403-4EE2-0DAA-E595A2B15E54}"/>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extLst>
      <p:ext uri="{BB962C8B-B14F-4D97-AF65-F5344CB8AC3E}">
        <p14:creationId xmlns:p14="http://schemas.microsoft.com/office/powerpoint/2010/main" val="39259080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 y="4750737"/>
            <a:ext cx="9144000" cy="49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AE9C2830-3C5C-4D55-BDE7-40DDE5A9DE71}" type="datetime1">
              <a:rPr lang="en-US" smtClean="0"/>
              <a:t>3/1/2026</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r>
              <a:rPr lang="en-US"/>
              <a:t>Web Development using React js</a:t>
            </a:r>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87E7843D-FF13-4365-9478-9625B70A2705}"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7867965"/>
      </p:ext>
    </p:extLst>
  </p:cSld>
  <p:clrMap bg1="dk1" tx1="lt1" bg2="dk2"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ftr="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3"/>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3"/>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3"/>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3"/>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3"/>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3"/>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3"/>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3"/>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3"/>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hyperlink" Target="https://nodejs.org/" TargetMode="Externa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nodejs.org/en/" TargetMode="Externa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hyperlink" Target="http://localhost:5174/" TargetMode="External"/><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AABFC-EB3B-C76B-9A3B-81D8F5ABFBD8}"/>
              </a:ext>
            </a:extLst>
          </p:cNvPr>
          <p:cNvSpPr>
            <a:spLocks noGrp="1"/>
          </p:cNvSpPr>
          <p:nvPr>
            <p:ph type="title"/>
          </p:nvPr>
        </p:nvSpPr>
        <p:spPr>
          <a:xfrm>
            <a:off x="822675" y="3813048"/>
            <a:ext cx="7585234" cy="617220"/>
          </a:xfrm>
        </p:spPr>
        <p:txBody>
          <a:bodyPr/>
          <a:lstStyle/>
          <a:p>
            <a:r>
              <a:rPr lang="en-US" b="1" cap="all" spc="113" dirty="0">
                <a:ea typeface="Cascadia Mono SemiBold" panose="020B0609020000020004" pitchFamily="49" charset="0"/>
                <a:cs typeface="Segoe UI" panose="020B0502040204020203" pitchFamily="34" charset="0"/>
              </a:rPr>
              <a:t>CHAPTER 2:</a:t>
            </a:r>
            <a:endParaRPr lang="en-US" b="1" dirty="0"/>
          </a:p>
        </p:txBody>
      </p:sp>
      <p:pic>
        <p:nvPicPr>
          <p:cNvPr id="6" name="Picture Placeholder 5">
            <a:extLst>
              <a:ext uri="{FF2B5EF4-FFF2-40B4-BE49-F238E27FC236}">
                <a16:creationId xmlns:a16="http://schemas.microsoft.com/office/drawing/2014/main" id="{DE890C8A-5872-808A-1E58-7F798720C255}"/>
              </a:ext>
            </a:extLst>
          </p:cNvPr>
          <p:cNvPicPr>
            <a:picLocks noGrp="1" noChangeAspect="1"/>
          </p:cNvPicPr>
          <p:nvPr>
            <p:ph type="pic" idx="1"/>
          </p:nvPr>
        </p:nvPicPr>
        <p:blipFill>
          <a:blip r:embed="rId2"/>
          <a:srcRect t="14167" b="14167"/>
          <a:stretch/>
        </p:blipFill>
        <p:spPr/>
      </p:pic>
      <p:sp>
        <p:nvSpPr>
          <p:cNvPr id="4" name="Text Placeholder 3">
            <a:extLst>
              <a:ext uri="{FF2B5EF4-FFF2-40B4-BE49-F238E27FC236}">
                <a16:creationId xmlns:a16="http://schemas.microsoft.com/office/drawing/2014/main" id="{98429B45-4A68-E411-86D1-334A4ED6F503}"/>
              </a:ext>
            </a:extLst>
          </p:cNvPr>
          <p:cNvSpPr>
            <a:spLocks noGrp="1"/>
          </p:cNvSpPr>
          <p:nvPr>
            <p:ph type="body" sz="half" idx="2"/>
          </p:nvPr>
        </p:nvSpPr>
        <p:spPr/>
        <p:txBody>
          <a:bodyPr>
            <a:normAutofit/>
          </a:bodyPr>
          <a:lstStyle/>
          <a:p>
            <a:r>
              <a:rPr lang="en-US" sz="2700" b="1" dirty="0"/>
              <a:t>Introduction to React&amp; JSX</a:t>
            </a:r>
          </a:p>
        </p:txBody>
      </p:sp>
      <p:sp>
        <p:nvSpPr>
          <p:cNvPr id="12" name="Footer Placeholder 11">
            <a:extLst>
              <a:ext uri="{FF2B5EF4-FFF2-40B4-BE49-F238E27FC236}">
                <a16:creationId xmlns:a16="http://schemas.microsoft.com/office/drawing/2014/main" id="{DC6C6A84-A556-FBBB-0061-8237F80AA1F7}"/>
              </a:ext>
            </a:extLst>
          </p:cNvPr>
          <p:cNvSpPr>
            <a:spLocks noGrp="1"/>
          </p:cNvSpPr>
          <p:nvPr>
            <p:ph type="ftr" sz="quarter" idx="11"/>
          </p:nvPr>
        </p:nvSpPr>
        <p:spPr/>
        <p:txBody>
          <a:bodyPr/>
          <a:lstStyle/>
          <a:p>
            <a:pPr defTabSz="342878">
              <a:buClrTx/>
            </a:pPr>
            <a:r>
              <a:rPr lang="en-US" kern="1200">
                <a:solidFill>
                  <a:srgbClr val="DDDDDD"/>
                </a:solidFill>
                <a:latin typeface="Calibri" panose="020F0502020204030204"/>
                <a:ea typeface="+mn-ea"/>
              </a:rPr>
              <a:t>Jamhuriya university of science &amp; technology - copyright@2025</a:t>
            </a:r>
          </a:p>
        </p:txBody>
      </p:sp>
      <p:sp>
        <p:nvSpPr>
          <p:cNvPr id="7" name="Slide Number Placeholder 6">
            <a:extLst>
              <a:ext uri="{FF2B5EF4-FFF2-40B4-BE49-F238E27FC236}">
                <a16:creationId xmlns:a16="http://schemas.microsoft.com/office/drawing/2014/main" id="{C4E140E3-A07F-030B-C0AD-9AC6B2734EA8}"/>
              </a:ext>
            </a:extLst>
          </p:cNvPr>
          <p:cNvSpPr>
            <a:spLocks noGrp="1"/>
          </p:cNvSpPr>
          <p:nvPr>
            <p:ph type="sldNum" sz="quarter" idx="12"/>
          </p:nvPr>
        </p:nvSpPr>
        <p:spPr/>
        <p:txBody>
          <a:bodyPr/>
          <a:lstStyle/>
          <a:p>
            <a:pPr defTabSz="342878">
              <a:buClrTx/>
            </a:pPr>
            <a:fld id="{84EF7EEB-C9A5-40EC-A412-F38B288EA657}" type="slidenum">
              <a:rPr lang="en-US" kern="1200">
                <a:solidFill>
                  <a:srgbClr val="DDDDDD"/>
                </a:solidFill>
                <a:latin typeface="Calibri" panose="020F0502020204030204"/>
                <a:ea typeface="+mn-ea"/>
              </a:rPr>
              <a:pPr defTabSz="342878">
                <a:buClrTx/>
              </a:pPr>
              <a:t>1</a:t>
            </a:fld>
            <a:endParaRPr lang="en-US" kern="1200">
              <a:solidFill>
                <a:srgbClr val="DDDDDD"/>
              </a:solidFill>
              <a:latin typeface="Calibri" panose="020F0502020204030204"/>
              <a:ea typeface="+mn-ea"/>
            </a:endParaRPr>
          </a:p>
        </p:txBody>
      </p:sp>
      <p:pic>
        <p:nvPicPr>
          <p:cNvPr id="61" name="Picture 60">
            <a:extLst>
              <a:ext uri="{FF2B5EF4-FFF2-40B4-BE49-F238E27FC236}">
                <a16:creationId xmlns:a16="http://schemas.microsoft.com/office/drawing/2014/main" id="{B10761D2-EB64-2ED4-B3D5-EAB39E3E3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3030" y="2686888"/>
            <a:ext cx="2080958" cy="1616639"/>
          </a:xfrm>
          <a:prstGeom prst="rect">
            <a:avLst/>
          </a:prstGeom>
          <a:ln>
            <a:noFill/>
          </a:ln>
          <a:effectLst>
            <a:glow rad="228600">
              <a:schemeClr val="accent4">
                <a:satMod val="175000"/>
                <a:alpha val="40000"/>
              </a:schemeClr>
            </a:glow>
            <a:outerShdw blurRad="292100" dist="139700" dir="2700000" algn="tl" rotWithShape="0">
              <a:srgbClr val="333333">
                <a:alpha val="65000"/>
              </a:srgbClr>
            </a:outerShdw>
          </a:effectLst>
        </p:spPr>
      </p:pic>
    </p:spTree>
    <p:extLst>
      <p:ext uri="{BB962C8B-B14F-4D97-AF65-F5344CB8AC3E}">
        <p14:creationId xmlns:p14="http://schemas.microsoft.com/office/powerpoint/2010/main" val="3826571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61"/>
                                        </p:tgtEl>
                                        <p:attrNameLst>
                                          <p:attrName>r</p:attrName>
                                        </p:attrNameLst>
                                      </p:cBhvr>
                                    </p:animRot>
                                    <p:animRot by="-240000">
                                      <p:cBhvr>
                                        <p:cTn id="7" dur="200" fill="hold">
                                          <p:stCondLst>
                                            <p:cond delay="200"/>
                                          </p:stCondLst>
                                        </p:cTn>
                                        <p:tgtEl>
                                          <p:spTgt spid="61"/>
                                        </p:tgtEl>
                                        <p:attrNameLst>
                                          <p:attrName>r</p:attrName>
                                        </p:attrNameLst>
                                      </p:cBhvr>
                                    </p:animRot>
                                    <p:animRot by="240000">
                                      <p:cBhvr>
                                        <p:cTn id="8" dur="200" fill="hold">
                                          <p:stCondLst>
                                            <p:cond delay="400"/>
                                          </p:stCondLst>
                                        </p:cTn>
                                        <p:tgtEl>
                                          <p:spTgt spid="61"/>
                                        </p:tgtEl>
                                        <p:attrNameLst>
                                          <p:attrName>r</p:attrName>
                                        </p:attrNameLst>
                                      </p:cBhvr>
                                    </p:animRot>
                                    <p:animRot by="-240000">
                                      <p:cBhvr>
                                        <p:cTn id="9" dur="200" fill="hold">
                                          <p:stCondLst>
                                            <p:cond delay="600"/>
                                          </p:stCondLst>
                                        </p:cTn>
                                        <p:tgtEl>
                                          <p:spTgt spid="61"/>
                                        </p:tgtEl>
                                        <p:attrNameLst>
                                          <p:attrName>r</p:attrName>
                                        </p:attrNameLst>
                                      </p:cBhvr>
                                    </p:animRot>
                                    <p:animRot by="120000">
                                      <p:cBhvr>
                                        <p:cTn id="10" dur="200" fill="hold">
                                          <p:stCondLst>
                                            <p:cond delay="800"/>
                                          </p:stCondLst>
                                        </p:cTn>
                                        <p:tgtEl>
                                          <p:spTgt spid="6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92AE47-B027-36EE-88C8-B7B089D901B8}"/>
              </a:ext>
            </a:extLst>
          </p:cNvPr>
          <p:cNvSpPr>
            <a:spLocks noGrp="1"/>
          </p:cNvSpPr>
          <p:nvPr>
            <p:ph type="title"/>
          </p:nvPr>
        </p:nvSpPr>
        <p:spPr>
          <a:xfrm>
            <a:off x="3936492" y="685800"/>
            <a:ext cx="4677156" cy="980694"/>
          </a:xfrm>
        </p:spPr>
        <p:txBody>
          <a:bodyPr>
            <a:normAutofit/>
          </a:bodyPr>
          <a:lstStyle/>
          <a:p>
            <a:r>
              <a:rPr lang="en-US"/>
              <a:t>Outline</a:t>
            </a:r>
            <a:endParaRPr lang="en-US" dirty="0"/>
          </a:p>
        </p:txBody>
      </p:sp>
      <p:pic>
        <p:nvPicPr>
          <p:cNvPr id="16" name="Picture 15">
            <a:extLst>
              <a:ext uri="{FF2B5EF4-FFF2-40B4-BE49-F238E27FC236}">
                <a16:creationId xmlns:a16="http://schemas.microsoft.com/office/drawing/2014/main" id="{D96559C2-ACF9-27CD-FBB2-7948020966DF}"/>
              </a:ext>
            </a:extLst>
          </p:cNvPr>
          <p:cNvPicPr>
            <a:picLocks noChangeAspect="1"/>
          </p:cNvPicPr>
          <p:nvPr/>
        </p:nvPicPr>
        <p:blipFill>
          <a:blip r:embed="rId2"/>
          <a:srcRect l="6716" r="6716"/>
          <a:stretch/>
        </p:blipFill>
        <p:spPr>
          <a:xfrm>
            <a:off x="20" y="10"/>
            <a:ext cx="3497560" cy="5143490"/>
          </a:xfrm>
          <a:prstGeom prst="rect">
            <a:avLst/>
          </a:prstGeom>
        </p:spPr>
      </p:pic>
      <p:cxnSp>
        <p:nvCxnSpPr>
          <p:cNvPr id="17" name="Straight Connector 16">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10153" y="541782"/>
            <a:ext cx="122872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48A7F27-4144-C194-6039-A8EE19B59607}"/>
              </a:ext>
            </a:extLst>
          </p:cNvPr>
          <p:cNvSpPr>
            <a:spLocks noGrp="1"/>
          </p:cNvSpPr>
          <p:nvPr>
            <p:ph idx="1"/>
          </p:nvPr>
        </p:nvSpPr>
        <p:spPr>
          <a:xfrm>
            <a:off x="3936492" y="1342417"/>
            <a:ext cx="4677156" cy="3279875"/>
          </a:xfrm>
        </p:spPr>
        <p:txBody>
          <a:bodyPr>
            <a:normAutofit/>
          </a:bodyPr>
          <a:lstStyle/>
          <a:p>
            <a:pPr lvl="0">
              <a:lnSpc>
                <a:spcPct val="100000"/>
              </a:lnSpc>
            </a:pPr>
            <a:r>
              <a:rPr lang="en-US" sz="1400" dirty="0">
                <a:latin typeface="Aptos (Body)"/>
              </a:rPr>
              <a:t>WEB DEVELOPMENT</a:t>
            </a:r>
          </a:p>
          <a:p>
            <a:pPr lvl="0">
              <a:lnSpc>
                <a:spcPct val="100000"/>
              </a:lnSpc>
            </a:pPr>
            <a:r>
              <a:rPr lang="en-US" sz="1400" dirty="0">
                <a:latin typeface="Aptos (Body)"/>
              </a:rPr>
              <a:t>ENVIRONMENT SETUP &amp; INSTALLATION GUIDE</a:t>
            </a:r>
          </a:p>
          <a:p>
            <a:pPr lvl="0">
              <a:lnSpc>
                <a:spcPct val="100000"/>
              </a:lnSpc>
            </a:pPr>
            <a:r>
              <a:rPr lang="en-US" sz="1400" dirty="0">
                <a:latin typeface="Aptos (Body)"/>
              </a:rPr>
              <a:t>NODE AND PACKAGE MANAGER (NPM)</a:t>
            </a:r>
          </a:p>
          <a:p>
            <a:pPr lvl="0">
              <a:lnSpc>
                <a:spcPct val="100000"/>
              </a:lnSpc>
            </a:pPr>
            <a:r>
              <a:rPr lang="en-US" sz="1400" dirty="0">
                <a:latin typeface="Aptos (Body)"/>
              </a:rPr>
              <a:t>DEPENDENCY</a:t>
            </a:r>
          </a:p>
          <a:p>
            <a:pPr lvl="0">
              <a:lnSpc>
                <a:spcPct val="100000"/>
              </a:lnSpc>
            </a:pPr>
            <a:r>
              <a:rPr lang="en-US" sz="1400" dirty="0">
                <a:latin typeface="Aptos (Body)"/>
              </a:rPr>
              <a:t>SETTING UP A REACT PROJECT</a:t>
            </a:r>
          </a:p>
          <a:p>
            <a:pPr lvl="0">
              <a:lnSpc>
                <a:spcPct val="100000"/>
              </a:lnSpc>
            </a:pPr>
            <a:r>
              <a:rPr lang="en-US" sz="1400" dirty="0">
                <a:latin typeface="Aptos (Body)"/>
              </a:rPr>
              <a:t>REACT PROJECT FOLDER STRUCTURE</a:t>
            </a:r>
          </a:p>
          <a:p>
            <a:pPr lvl="0">
              <a:lnSpc>
                <a:spcPct val="100000"/>
              </a:lnSpc>
            </a:pPr>
            <a:r>
              <a:rPr lang="en-US" sz="1400" dirty="0">
                <a:latin typeface="Aptos (Body)"/>
              </a:rPr>
              <a:t>INTRO TO JSX</a:t>
            </a:r>
          </a:p>
          <a:p>
            <a:pPr lvl="0">
              <a:lnSpc>
                <a:spcPct val="100000"/>
              </a:lnSpc>
            </a:pPr>
            <a:r>
              <a:rPr lang="en-US" sz="1400" dirty="0">
                <a:latin typeface="Aptos (Body)"/>
              </a:rPr>
              <a:t>DYNAMIC VALUES &amp; LISTS IN JSX</a:t>
            </a:r>
          </a:p>
          <a:p>
            <a:pPr lvl="0">
              <a:lnSpc>
                <a:spcPct val="100000"/>
              </a:lnSpc>
            </a:pPr>
            <a:r>
              <a:rPr lang="en-US" sz="1400" dirty="0">
                <a:latin typeface="Aptos (Body)"/>
              </a:rPr>
              <a:t>CONDITIONALS IN JSX</a:t>
            </a:r>
          </a:p>
          <a:p>
            <a:pPr lvl="0">
              <a:lnSpc>
                <a:spcPct val="100000"/>
              </a:lnSpc>
            </a:pPr>
            <a:r>
              <a:rPr lang="en-US" sz="1400" dirty="0">
                <a:latin typeface="Aptos (Body)"/>
              </a:rPr>
              <a:t>REACT PROPS</a:t>
            </a:r>
          </a:p>
        </p:txBody>
      </p:sp>
      <p:sp>
        <p:nvSpPr>
          <p:cNvPr id="4" name="Date Placeholder 3">
            <a:extLst>
              <a:ext uri="{FF2B5EF4-FFF2-40B4-BE49-F238E27FC236}">
                <a16:creationId xmlns:a16="http://schemas.microsoft.com/office/drawing/2014/main" id="{B6F347CA-D078-1B93-936B-25B61EB466FF}"/>
              </a:ext>
            </a:extLst>
          </p:cNvPr>
          <p:cNvSpPr>
            <a:spLocks noGrp="1"/>
          </p:cNvSpPr>
          <p:nvPr>
            <p:ph type="dt" sz="half" idx="10"/>
          </p:nvPr>
        </p:nvSpPr>
        <p:spPr>
          <a:xfrm>
            <a:off x="6277086" y="4767262"/>
            <a:ext cx="1912173" cy="273844"/>
          </a:xfrm>
        </p:spPr>
        <p:txBody>
          <a:bodyPr>
            <a:normAutofit/>
          </a:bodyPr>
          <a:lstStyle/>
          <a:p>
            <a:pPr>
              <a:spcAft>
                <a:spcPts val="600"/>
              </a:spcAft>
            </a:pPr>
            <a:fld id="{EA6EFDA8-3096-471A-B9F4-7A12D9DB07BB}" type="datetime1">
              <a:rPr lang="en-US" smtClean="0"/>
              <a:pPr>
                <a:spcAft>
                  <a:spcPts val="600"/>
                </a:spcAft>
              </a:pPr>
              <a:t>2/28/2026</a:t>
            </a:fld>
            <a:endParaRPr lang="en-US"/>
          </a:p>
        </p:txBody>
      </p:sp>
      <p:sp>
        <p:nvSpPr>
          <p:cNvPr id="5" name="Slide Number Placeholder 4">
            <a:extLst>
              <a:ext uri="{FF2B5EF4-FFF2-40B4-BE49-F238E27FC236}">
                <a16:creationId xmlns:a16="http://schemas.microsoft.com/office/drawing/2014/main" id="{6C769CD9-856D-91C2-4261-6B628689220D}"/>
              </a:ext>
            </a:extLst>
          </p:cNvPr>
          <p:cNvSpPr>
            <a:spLocks noGrp="1"/>
          </p:cNvSpPr>
          <p:nvPr>
            <p:ph type="sldNum" sz="quarter" idx="12"/>
          </p:nvPr>
        </p:nvSpPr>
        <p:spPr>
          <a:xfrm>
            <a:off x="8189259" y="4767262"/>
            <a:ext cx="504265" cy="273844"/>
          </a:xfrm>
        </p:spPr>
        <p:txBody>
          <a:bodyPr>
            <a:normAutofit/>
          </a:bodyPr>
          <a:lstStyle/>
          <a:p>
            <a:pPr>
              <a:lnSpc>
                <a:spcPct val="90000"/>
              </a:lnSpc>
              <a:spcAft>
                <a:spcPts val="600"/>
              </a:spcAft>
            </a:pPr>
            <a:fld id="{87E7843D-FF13-4365-9478-9625B70A2705}" type="slidenum">
              <a:rPr lang="en-US" sz="1200" smtClean="0"/>
              <a:pPr>
                <a:lnSpc>
                  <a:spcPct val="90000"/>
                </a:lnSpc>
                <a:spcAft>
                  <a:spcPts val="600"/>
                </a:spcAft>
              </a:pPr>
              <a:t>2</a:t>
            </a:fld>
            <a:endParaRPr lang="en-US" sz="1200"/>
          </a:p>
        </p:txBody>
      </p:sp>
    </p:spTree>
    <p:extLst>
      <p:ext uri="{BB962C8B-B14F-4D97-AF65-F5344CB8AC3E}">
        <p14:creationId xmlns:p14="http://schemas.microsoft.com/office/powerpoint/2010/main" val="1231712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3" y="1057562"/>
            <a:ext cx="51435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4" y="1065164"/>
            <a:ext cx="51434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942" y="2691064"/>
            <a:ext cx="1876484"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288"/>
            <a:ext cx="2925267" cy="3134219"/>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70" y="1049957"/>
            <a:ext cx="5143502"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50041" y="440141"/>
            <a:ext cx="2401025" cy="2540623"/>
          </a:xfrm>
        </p:spPr>
        <p:txBody>
          <a:bodyPr vert="horz" lIns="91440" tIns="45720" rIns="91440" bIns="45720" rtlCol="0" anchor="b">
            <a:normAutofit/>
          </a:bodyPr>
          <a:lstStyle/>
          <a:p>
            <a:pPr algn="r" defTabSz="914400"/>
            <a:r>
              <a:rPr lang="en-US" sz="3000" b="1" kern="1200">
                <a:solidFill>
                  <a:srgbClr val="FFFFFF"/>
                </a:solidFill>
                <a:latin typeface="+mj-lt"/>
                <a:ea typeface="+mj-ea"/>
                <a:cs typeface="+mj-cs"/>
              </a:rPr>
              <a:t>Web Development</a:t>
            </a:r>
          </a:p>
        </p:txBody>
      </p:sp>
      <p:sp>
        <p:nvSpPr>
          <p:cNvPr id="5" name="TextBox 4">
            <a:extLst>
              <a:ext uri="{FF2B5EF4-FFF2-40B4-BE49-F238E27FC236}">
                <a16:creationId xmlns:a16="http://schemas.microsoft.com/office/drawing/2014/main" id="{690F1E8B-7A28-EB48-8FF1-FED478526A26}"/>
              </a:ext>
            </a:extLst>
          </p:cNvPr>
          <p:cNvSpPr txBox="1"/>
          <p:nvPr/>
        </p:nvSpPr>
        <p:spPr>
          <a:xfrm>
            <a:off x="3192868" y="499585"/>
            <a:ext cx="5784339" cy="4159535"/>
          </a:xfrm>
          <a:prstGeom prst="rect">
            <a:avLst/>
          </a:prstGeom>
        </p:spPr>
        <p:txBody>
          <a:bodyPr vert="horz" lIns="91440" tIns="45720" rIns="91440" bIns="45720" rtlCol="0" anchor="ctr">
            <a:normAutofit/>
          </a:bodyPr>
          <a:lstStyle/>
          <a:p>
            <a:pPr marL="342900" indent="-228600">
              <a:lnSpc>
                <a:spcPct val="90000"/>
              </a:lnSpc>
              <a:spcAft>
                <a:spcPts val="600"/>
              </a:spcAft>
              <a:buFont typeface="Arial" panose="020B0604020202020204" pitchFamily="34" charset="0"/>
              <a:buChar char="•"/>
            </a:pPr>
            <a:r>
              <a:rPr lang="en-US" sz="2800" b="1" kern="1200" dirty="0">
                <a:solidFill>
                  <a:srgbClr val="00B0F0"/>
                </a:solidFill>
                <a:latin typeface="+mn-lt"/>
                <a:ea typeface="+mn-ea"/>
                <a:cs typeface="+mn-cs"/>
              </a:rPr>
              <a:t>Web development</a:t>
            </a:r>
            <a:r>
              <a:rPr lang="en-US" sz="2800" kern="1200" dirty="0">
                <a:solidFill>
                  <a:srgbClr val="00B0F0"/>
                </a:solidFill>
                <a:latin typeface="+mn-lt"/>
                <a:ea typeface="+mn-ea"/>
                <a:cs typeface="+mn-cs"/>
              </a:rPr>
              <a:t> </a:t>
            </a:r>
            <a:r>
              <a:rPr lang="en-US" sz="2800" kern="1200" dirty="0">
                <a:solidFill>
                  <a:schemeClr val="tx1"/>
                </a:solidFill>
                <a:latin typeface="+mn-lt"/>
                <a:ea typeface="+mn-ea"/>
                <a:cs typeface="+mn-cs"/>
              </a:rPr>
              <a:t>refers to the building, creating, and maintaining of websites. </a:t>
            </a:r>
          </a:p>
          <a:p>
            <a:pPr marL="342900" indent="-228600">
              <a:lnSpc>
                <a:spcPct val="90000"/>
              </a:lnSpc>
              <a:spcAft>
                <a:spcPts val="600"/>
              </a:spcAft>
              <a:buFont typeface="Arial" panose="020B0604020202020204" pitchFamily="34" charset="0"/>
              <a:buChar char="•"/>
            </a:pPr>
            <a:r>
              <a:rPr lang="en-US" sz="2800" kern="1200" dirty="0">
                <a:solidFill>
                  <a:schemeClr val="tx1"/>
                </a:solidFill>
                <a:latin typeface="+mn-lt"/>
                <a:ea typeface="+mn-ea"/>
                <a:cs typeface="+mn-cs"/>
              </a:rPr>
              <a:t>A </a:t>
            </a:r>
            <a:r>
              <a:rPr lang="en-US" sz="2800" b="1" kern="1200" dirty="0">
                <a:solidFill>
                  <a:srgbClr val="00B0F0"/>
                </a:solidFill>
                <a:latin typeface="+mn-lt"/>
                <a:ea typeface="+mn-ea"/>
                <a:cs typeface="+mn-cs"/>
              </a:rPr>
              <a:t>website</a:t>
            </a:r>
            <a:r>
              <a:rPr lang="en-US" sz="2800" kern="1200" dirty="0">
                <a:solidFill>
                  <a:schemeClr val="tx1"/>
                </a:solidFill>
                <a:latin typeface="+mn-lt"/>
                <a:ea typeface="+mn-ea"/>
                <a:cs typeface="+mn-cs"/>
              </a:rPr>
              <a:t> is a collection of web pages and related content that is identified by a common domain name and published on at least one web server.</a:t>
            </a:r>
          </a:p>
        </p:txBody>
      </p:sp>
    </p:spTree>
    <p:extLst>
      <p:ext uri="{BB962C8B-B14F-4D97-AF65-F5344CB8AC3E}">
        <p14:creationId xmlns:p14="http://schemas.microsoft.com/office/powerpoint/2010/main" val="1564421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3" y="1057562"/>
            <a:ext cx="51435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64" y="1065164"/>
            <a:ext cx="51434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942" y="2691064"/>
            <a:ext cx="1876484"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288"/>
            <a:ext cx="2925267" cy="3134219"/>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7570" y="1049957"/>
            <a:ext cx="5143502"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50041" y="440141"/>
            <a:ext cx="2401025" cy="2540623"/>
          </a:xfrm>
        </p:spPr>
        <p:txBody>
          <a:bodyPr vert="horz" lIns="91440" tIns="45720" rIns="91440" bIns="45720" rtlCol="0" anchor="b">
            <a:normAutofit/>
          </a:bodyPr>
          <a:lstStyle/>
          <a:p>
            <a:pPr algn="r" defTabSz="914400"/>
            <a:r>
              <a:rPr lang="en-US" sz="3000" b="1" kern="1200">
                <a:solidFill>
                  <a:srgbClr val="FFFFFF"/>
                </a:solidFill>
                <a:latin typeface="+mj-lt"/>
                <a:ea typeface="+mj-ea"/>
                <a:cs typeface="+mj-cs"/>
              </a:rPr>
              <a:t>Web Development</a:t>
            </a:r>
          </a:p>
        </p:txBody>
      </p:sp>
      <p:sp>
        <p:nvSpPr>
          <p:cNvPr id="5" name="TextBox 4">
            <a:extLst>
              <a:ext uri="{FF2B5EF4-FFF2-40B4-BE49-F238E27FC236}">
                <a16:creationId xmlns:a16="http://schemas.microsoft.com/office/drawing/2014/main" id="{690F1E8B-7A28-EB48-8FF1-FED478526A26}"/>
              </a:ext>
            </a:extLst>
          </p:cNvPr>
          <p:cNvSpPr txBox="1"/>
          <p:nvPr/>
        </p:nvSpPr>
        <p:spPr>
          <a:xfrm>
            <a:off x="3607693" y="487110"/>
            <a:ext cx="5186265" cy="4159535"/>
          </a:xfrm>
          <a:prstGeom prst="rect">
            <a:avLst/>
          </a:prstGeom>
        </p:spPr>
        <p:txBody>
          <a:bodyPr vert="horz" lIns="91440" tIns="45720" rIns="91440" bIns="45720" rtlCol="0" anchor="ctr">
            <a:normAutofit/>
          </a:bodyPr>
          <a:lstStyle/>
          <a:p>
            <a:pPr marL="342900" indent="-228600">
              <a:lnSpc>
                <a:spcPct val="90000"/>
              </a:lnSpc>
              <a:spcAft>
                <a:spcPts val="600"/>
              </a:spcAft>
              <a:buFont typeface="Arial" panose="020B0604020202020204" pitchFamily="34" charset="0"/>
              <a:buChar char="•"/>
            </a:pPr>
            <a:r>
              <a:rPr lang="en-US" sz="2800" kern="1200" dirty="0">
                <a:solidFill>
                  <a:schemeClr val="tx1"/>
                </a:solidFill>
                <a:latin typeface="+mn-lt"/>
                <a:ea typeface="+mn-ea"/>
                <a:cs typeface="+mn-cs"/>
              </a:rPr>
              <a:t>A </a:t>
            </a:r>
            <a:r>
              <a:rPr lang="en-US" sz="2800" b="1" kern="1200" dirty="0">
                <a:solidFill>
                  <a:srgbClr val="00B0F0"/>
                </a:solidFill>
                <a:latin typeface="+mn-lt"/>
                <a:ea typeface="+mn-ea"/>
                <a:cs typeface="+mn-cs"/>
              </a:rPr>
              <a:t>web server</a:t>
            </a:r>
            <a:r>
              <a:rPr lang="en-US" sz="2800" kern="1200" dirty="0">
                <a:solidFill>
                  <a:srgbClr val="00B0F0"/>
                </a:solidFill>
                <a:latin typeface="+mn-lt"/>
                <a:ea typeface="+mn-ea"/>
                <a:cs typeface="+mn-cs"/>
              </a:rPr>
              <a:t> </a:t>
            </a:r>
            <a:r>
              <a:rPr lang="en-US" sz="2800" kern="1200" dirty="0">
                <a:solidFill>
                  <a:schemeClr val="tx1"/>
                </a:solidFill>
                <a:latin typeface="+mn-lt"/>
                <a:ea typeface="+mn-ea"/>
                <a:cs typeface="+mn-cs"/>
              </a:rPr>
              <a:t>accepts and fulfills requests from clients for static content (i.e., HTML pages, files, images, and videos) from a website. </a:t>
            </a:r>
          </a:p>
          <a:p>
            <a:pPr marL="342900" indent="-228600">
              <a:lnSpc>
                <a:spcPct val="90000"/>
              </a:lnSpc>
              <a:spcAft>
                <a:spcPts val="600"/>
              </a:spcAft>
              <a:buFont typeface="Arial" panose="020B0604020202020204" pitchFamily="34" charset="0"/>
              <a:buChar char="•"/>
            </a:pPr>
            <a:r>
              <a:rPr lang="en-US" sz="2800" kern="1200" dirty="0">
                <a:solidFill>
                  <a:schemeClr val="tx1"/>
                </a:solidFill>
                <a:latin typeface="+mn-lt"/>
                <a:ea typeface="+mn-ea"/>
                <a:cs typeface="+mn-cs"/>
              </a:rPr>
              <a:t>Web servers handle HTTP </a:t>
            </a:r>
            <a:r>
              <a:rPr lang="en-US" sz="2800" i="1" kern="1200" dirty="0">
                <a:solidFill>
                  <a:srgbClr val="00B0F0"/>
                </a:solidFill>
                <a:latin typeface="+mn-lt"/>
                <a:ea typeface="+mn-ea"/>
                <a:cs typeface="+mn-cs"/>
              </a:rPr>
              <a:t>requests</a:t>
            </a:r>
            <a:r>
              <a:rPr lang="en-US" sz="2800" kern="1200" dirty="0">
                <a:solidFill>
                  <a:schemeClr val="tx1"/>
                </a:solidFill>
                <a:latin typeface="+mn-lt"/>
                <a:ea typeface="+mn-ea"/>
                <a:cs typeface="+mn-cs"/>
              </a:rPr>
              <a:t> and </a:t>
            </a:r>
            <a:r>
              <a:rPr lang="en-US" sz="2800" i="1" kern="1200" dirty="0">
                <a:solidFill>
                  <a:srgbClr val="00B0F0"/>
                </a:solidFill>
                <a:latin typeface="+mn-lt"/>
                <a:ea typeface="+mn-ea"/>
                <a:cs typeface="+mn-cs"/>
              </a:rPr>
              <a:t>responses</a:t>
            </a:r>
            <a:r>
              <a:rPr lang="en-US" sz="2800" kern="1200" dirty="0">
                <a:solidFill>
                  <a:schemeClr val="tx1"/>
                </a:solidFill>
                <a:latin typeface="+mn-lt"/>
                <a:ea typeface="+mn-ea"/>
                <a:cs typeface="+mn-cs"/>
              </a:rPr>
              <a:t> </a:t>
            </a:r>
            <a:r>
              <a:rPr lang="en-US" sz="2800" i="1" kern="1200" dirty="0">
                <a:solidFill>
                  <a:schemeClr val="tx1"/>
                </a:solidFill>
                <a:latin typeface="+mn-lt"/>
                <a:ea typeface="+mn-ea"/>
                <a:cs typeface="+mn-cs"/>
              </a:rPr>
              <a:t>only.</a:t>
            </a:r>
          </a:p>
        </p:txBody>
      </p:sp>
    </p:spTree>
    <p:extLst>
      <p:ext uri="{BB962C8B-B14F-4D97-AF65-F5344CB8AC3E}">
        <p14:creationId xmlns:p14="http://schemas.microsoft.com/office/powerpoint/2010/main" val="3153211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b="1" kern="1200">
                <a:solidFill>
                  <a:srgbClr val="FFFFFF"/>
                </a:solidFill>
                <a:latin typeface="+mj-lt"/>
                <a:ea typeface="+mj-ea"/>
                <a:cs typeface="+mj-cs"/>
              </a:rPr>
              <a:t>Web Development</a:t>
            </a:r>
          </a:p>
        </p:txBody>
      </p:sp>
      <p:sp>
        <p:nvSpPr>
          <p:cNvPr id="5" name="TextBox 4">
            <a:extLst>
              <a:ext uri="{FF2B5EF4-FFF2-40B4-BE49-F238E27FC236}">
                <a16:creationId xmlns:a16="http://schemas.microsoft.com/office/drawing/2014/main" id="{690F1E8B-7A28-EB48-8FF1-FED478526A26}"/>
              </a:ext>
            </a:extLst>
          </p:cNvPr>
          <p:cNvSpPr txBox="1"/>
          <p:nvPr/>
        </p:nvSpPr>
        <p:spPr>
          <a:xfrm>
            <a:off x="259404" y="1413958"/>
            <a:ext cx="8579795" cy="2762519"/>
          </a:xfrm>
          <a:prstGeom prst="rect">
            <a:avLst/>
          </a:prstGeom>
        </p:spPr>
        <p:txBody>
          <a:bodyPr vert="horz" lIns="91440" tIns="45720" rIns="91440" bIns="45720" rtlCol="0" anchor="ctr">
            <a:normAutofit/>
          </a:bodyPr>
          <a:lstStyle/>
          <a:p>
            <a:pPr lvl="2" fontAlgn="base">
              <a:lnSpc>
                <a:spcPct val="90000"/>
              </a:lnSpc>
              <a:spcAft>
                <a:spcPts val="600"/>
              </a:spcAft>
            </a:pPr>
            <a:r>
              <a:rPr lang="en-US" sz="2800" b="1" kern="1200" dirty="0">
                <a:solidFill>
                  <a:schemeClr val="tx1"/>
                </a:solidFill>
                <a:latin typeface="+mn-lt"/>
                <a:ea typeface="+mn-ea"/>
                <a:cs typeface="+mn-cs"/>
              </a:rPr>
              <a:t>Web Development can be classified into two ways:</a:t>
            </a:r>
          </a:p>
          <a:p>
            <a:pPr marL="342900" lvl="8" indent="-228600" fontAlgn="base">
              <a:lnSpc>
                <a:spcPct val="90000"/>
              </a:lnSpc>
              <a:spcAft>
                <a:spcPts val="600"/>
              </a:spcAft>
              <a:buFont typeface="Arial" panose="020B0604020202020204" pitchFamily="34" charset="0"/>
              <a:buChar char="•"/>
            </a:pPr>
            <a:r>
              <a:rPr lang="en-US" sz="2800" kern="1200" dirty="0">
                <a:solidFill>
                  <a:schemeClr val="tx1"/>
                </a:solidFill>
                <a:latin typeface="+mn-lt"/>
                <a:ea typeface="+mn-ea"/>
                <a:cs typeface="+mn-cs"/>
              </a:rPr>
              <a:t>Frontend Development.</a:t>
            </a:r>
          </a:p>
          <a:p>
            <a:pPr marL="342900" lvl="8" indent="-228600" fontAlgn="base">
              <a:lnSpc>
                <a:spcPct val="90000"/>
              </a:lnSpc>
              <a:spcAft>
                <a:spcPts val="600"/>
              </a:spcAft>
              <a:buFont typeface="Arial" panose="020B0604020202020204" pitchFamily="34" charset="0"/>
              <a:buChar char="•"/>
            </a:pPr>
            <a:r>
              <a:rPr lang="en-US" sz="2800" kern="1200" dirty="0">
                <a:solidFill>
                  <a:schemeClr val="tx1"/>
                </a:solidFill>
                <a:latin typeface="+mn-lt"/>
                <a:ea typeface="+mn-ea"/>
                <a:cs typeface="+mn-cs"/>
              </a:rPr>
              <a:t>Backend Development.</a:t>
            </a:r>
            <a:r>
              <a:rPr lang="en-US" sz="2800" b="1" i="1" kern="1200" dirty="0">
                <a:solidFill>
                  <a:schemeClr val="tx1"/>
                </a:solidFill>
                <a:latin typeface="+mn-lt"/>
                <a:ea typeface="+mn-ea"/>
                <a:cs typeface="+mn-cs"/>
              </a:rPr>
              <a:t>   </a:t>
            </a:r>
            <a:endParaRPr lang="en-US" sz="2800" kern="1200" dirty="0">
              <a:solidFill>
                <a:schemeClr val="tx1"/>
              </a:solidFill>
              <a:latin typeface="+mn-lt"/>
              <a:ea typeface="+mn-ea"/>
              <a:cs typeface="+mn-cs"/>
            </a:endParaRPr>
          </a:p>
        </p:txBody>
      </p:sp>
    </p:spTree>
    <p:extLst>
      <p:ext uri="{BB962C8B-B14F-4D97-AF65-F5344CB8AC3E}">
        <p14:creationId xmlns:p14="http://schemas.microsoft.com/office/powerpoint/2010/main" val="3582737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912447"/>
            <a:ext cx="548639" cy="505095"/>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460465"/>
            <a:ext cx="8180615" cy="1420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782723" y="607423"/>
            <a:ext cx="7457037" cy="1165860"/>
          </a:xfrm>
        </p:spPr>
        <p:txBody>
          <a:bodyPr vert="horz" lIns="91440" tIns="45720" rIns="91440" bIns="45720" rtlCol="0" anchor="ctr">
            <a:normAutofit/>
          </a:bodyPr>
          <a:lstStyle/>
          <a:p>
            <a:pPr defTabSz="914400"/>
            <a:r>
              <a:rPr lang="en-US" sz="3600" kern="1200">
                <a:solidFill>
                  <a:schemeClr val="tx1"/>
                </a:solidFill>
                <a:latin typeface="+mj-lt"/>
                <a:ea typeface="+mj-ea"/>
                <a:cs typeface="+mj-cs"/>
              </a:rPr>
              <a:t>Frontend Development (Client-Side)</a:t>
            </a:r>
          </a:p>
        </p:txBody>
      </p:sp>
      <p:sp>
        <p:nvSpPr>
          <p:cNvPr id="5" name="TextBox 4">
            <a:extLst>
              <a:ext uri="{FF2B5EF4-FFF2-40B4-BE49-F238E27FC236}">
                <a16:creationId xmlns:a16="http://schemas.microsoft.com/office/drawing/2014/main" id="{690F1E8B-7A28-EB48-8FF1-FED478526A26}"/>
              </a:ext>
            </a:extLst>
          </p:cNvPr>
          <p:cNvSpPr txBox="1"/>
          <p:nvPr/>
        </p:nvSpPr>
        <p:spPr>
          <a:xfrm>
            <a:off x="480059" y="2028010"/>
            <a:ext cx="8180615" cy="2728203"/>
          </a:xfrm>
          <a:prstGeom prst="rect">
            <a:avLst/>
          </a:prstGeom>
        </p:spPr>
        <p:txBody>
          <a:bodyPr vert="horz" lIns="91440" tIns="45720" rIns="91440" bIns="45720" rtlCol="0" anchor="ctr">
            <a:normAutofit/>
          </a:bodyPr>
          <a:lstStyle/>
          <a:p>
            <a:pPr marL="400050" indent="-285750">
              <a:lnSpc>
                <a:spcPct val="90000"/>
              </a:lnSpc>
              <a:spcAft>
                <a:spcPts val="600"/>
              </a:spcAft>
              <a:buFont typeface="Arial" panose="020B0604020202020204" pitchFamily="34" charset="0"/>
              <a:buChar char="•"/>
            </a:pPr>
            <a:r>
              <a:rPr lang="en-US" sz="1600" b="1" kern="1200" dirty="0">
                <a:solidFill>
                  <a:srgbClr val="00B0F0"/>
                </a:solidFill>
                <a:latin typeface="+mn-lt"/>
                <a:ea typeface="+mn-ea"/>
                <a:cs typeface="+mn-cs"/>
              </a:rPr>
              <a:t>Frontend</a:t>
            </a:r>
            <a:r>
              <a:rPr lang="en-US" sz="1600" kern="1200" dirty="0">
                <a:solidFill>
                  <a:schemeClr val="tx1"/>
                </a:solidFill>
                <a:latin typeface="+mn-lt"/>
                <a:ea typeface="+mn-ea"/>
                <a:cs typeface="+mn-cs"/>
              </a:rPr>
              <a:t> is the part of a website that users </a:t>
            </a:r>
            <a:r>
              <a:rPr lang="en-US" sz="1600" b="1" kern="1200" dirty="0">
                <a:solidFill>
                  <a:schemeClr val="tx1"/>
                </a:solidFill>
                <a:latin typeface="+mn-lt"/>
                <a:ea typeface="+mn-ea"/>
                <a:cs typeface="+mn-cs"/>
              </a:rPr>
              <a:t>see and interact with directly</a:t>
            </a:r>
            <a:r>
              <a:rPr lang="en-US" sz="1600" kern="1200" dirty="0">
                <a:solidFill>
                  <a:schemeClr val="tx1"/>
                </a:solidFill>
                <a:latin typeface="+mn-lt"/>
                <a:ea typeface="+mn-ea"/>
                <a:cs typeface="+mn-cs"/>
              </a:rPr>
              <a:t> in the browser.</a:t>
            </a:r>
          </a:p>
          <a:p>
            <a:pPr marL="400050" indent="-285750">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It focuses on:</a:t>
            </a:r>
          </a:p>
          <a:p>
            <a:pPr marL="365760" lvl="3">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UI (User Interface)</a:t>
            </a:r>
          </a:p>
          <a:p>
            <a:pPr marL="365760" lvl="3">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Layout &amp; Design</a:t>
            </a:r>
          </a:p>
          <a:p>
            <a:pPr marL="365760" lvl="3">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User interactions</a:t>
            </a:r>
          </a:p>
          <a:p>
            <a:pPr marL="365760" lvl="3">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Responsiveness.</a:t>
            </a:r>
          </a:p>
          <a:p>
            <a:pPr marL="285750" indent="-228600">
              <a:lnSpc>
                <a:spcPct val="90000"/>
              </a:lnSpc>
              <a:spcAft>
                <a:spcPts val="600"/>
              </a:spcAft>
              <a:buFont typeface="Arial" panose="020B0604020202020204" pitchFamily="34" charset="0"/>
              <a:buChar char="•"/>
            </a:pPr>
            <a:r>
              <a:rPr lang="en-US" sz="1600" b="1" kern="1200" dirty="0">
                <a:solidFill>
                  <a:schemeClr val="tx1"/>
                </a:solidFill>
                <a:latin typeface="+mn-lt"/>
                <a:ea typeface="+mn-ea"/>
                <a:cs typeface="+mn-cs"/>
              </a:rPr>
              <a:t>Popular Frontend Frameworks &amp; Libraries:</a:t>
            </a:r>
          </a:p>
          <a:p>
            <a:pPr marL="365760" lvl="4">
              <a:lnSpc>
                <a:spcPct val="90000"/>
              </a:lnSpc>
              <a:spcAft>
                <a:spcPts val="600"/>
              </a:spcAft>
              <a:buFont typeface="Arial" panose="020B0604020202020204" pitchFamily="34" charset="0"/>
              <a:buChar char="•"/>
            </a:pPr>
            <a:r>
              <a:rPr lang="en-US" sz="1600" kern="1200" dirty="0">
                <a:solidFill>
                  <a:schemeClr val="tx1"/>
                </a:solidFill>
                <a:latin typeface="+mn-lt"/>
                <a:ea typeface="+mn-ea"/>
                <a:cs typeface="+mn-cs"/>
              </a:rPr>
              <a:t>Angular , </a:t>
            </a:r>
            <a:r>
              <a:rPr lang="en-US" sz="1600" kern="1200" dirty="0">
                <a:solidFill>
                  <a:srgbClr val="00B0F0"/>
                </a:solidFill>
                <a:latin typeface="+mn-lt"/>
                <a:ea typeface="+mn-ea"/>
                <a:cs typeface="+mn-cs"/>
              </a:rPr>
              <a:t>React</a:t>
            </a:r>
            <a:r>
              <a:rPr lang="en-US" sz="1600" kern="1200" dirty="0">
                <a:solidFill>
                  <a:schemeClr val="tx1"/>
                </a:solidFill>
                <a:latin typeface="+mn-lt"/>
                <a:ea typeface="+mn-ea"/>
                <a:cs typeface="+mn-cs"/>
              </a:rPr>
              <a:t> , Vue.js , jQuery, Bootstrap, Material UI, Tailwind CSS.</a:t>
            </a:r>
          </a:p>
        </p:txBody>
      </p:sp>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4863984"/>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9624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7A0003-7B5C-D551-D05B-C1D89BD8712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0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912447"/>
            <a:ext cx="548639" cy="505095"/>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460465"/>
            <a:ext cx="8180615" cy="1420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174A1C-673E-3A9C-1CF7-B84543360162}"/>
              </a:ext>
            </a:extLst>
          </p:cNvPr>
          <p:cNvSpPr>
            <a:spLocks noGrp="1"/>
          </p:cNvSpPr>
          <p:nvPr>
            <p:ph type="title"/>
          </p:nvPr>
        </p:nvSpPr>
        <p:spPr>
          <a:xfrm>
            <a:off x="782723" y="607423"/>
            <a:ext cx="7457037" cy="1165860"/>
          </a:xfrm>
        </p:spPr>
        <p:txBody>
          <a:bodyPr vert="horz" lIns="91440" tIns="45720" rIns="91440" bIns="45720" rtlCol="0" anchor="ctr">
            <a:normAutofit/>
          </a:bodyPr>
          <a:lstStyle/>
          <a:p>
            <a:pPr defTabSz="914400"/>
            <a:r>
              <a:rPr kumimoji="0" lang="en-US" sz="3600" i="0" u="none" strike="noStrike" kern="1200" cap="none" spc="0" normalizeH="0" baseline="0" noProof="0">
                <a:ln>
                  <a:noFill/>
                </a:ln>
                <a:solidFill>
                  <a:schemeClr val="tx1"/>
                </a:solidFill>
                <a:effectLst/>
                <a:uLnTx/>
                <a:uFillTx/>
                <a:latin typeface="+mj-lt"/>
                <a:ea typeface="+mj-ea"/>
                <a:cs typeface="+mj-cs"/>
                <a:sym typeface="Roboto"/>
              </a:rPr>
              <a:t>Backend Development</a:t>
            </a:r>
            <a:endParaRPr lang="en-US" sz="3600" kern="1200">
              <a:solidFill>
                <a:schemeClr val="tx1"/>
              </a:solidFill>
              <a:latin typeface="+mj-lt"/>
              <a:ea typeface="+mj-ea"/>
              <a:cs typeface="+mj-cs"/>
            </a:endParaRPr>
          </a:p>
        </p:txBody>
      </p:sp>
      <p:sp>
        <p:nvSpPr>
          <p:cNvPr id="5" name="TextBox 4">
            <a:extLst>
              <a:ext uri="{FF2B5EF4-FFF2-40B4-BE49-F238E27FC236}">
                <a16:creationId xmlns:a16="http://schemas.microsoft.com/office/drawing/2014/main" id="{E0E60D4A-080D-A426-0D2B-6880DF82C03F}"/>
              </a:ext>
            </a:extLst>
          </p:cNvPr>
          <p:cNvSpPr txBox="1"/>
          <p:nvPr/>
        </p:nvSpPr>
        <p:spPr>
          <a:xfrm>
            <a:off x="480059" y="2028010"/>
            <a:ext cx="8180615" cy="2578625"/>
          </a:xfrm>
          <a:prstGeom prst="rect">
            <a:avLst/>
          </a:prstGeom>
        </p:spPr>
        <p:txBody>
          <a:bodyPr vert="horz" lIns="91440" tIns="45720" rIns="91440" bIns="45720" rtlCol="0" anchor="ctr">
            <a:normAutofit/>
          </a:bodyPr>
          <a:lstStyle/>
          <a:p>
            <a:pPr marL="342900" lvl="2" indent="-228600" fontAlgn="base">
              <a:lnSpc>
                <a:spcPct val="90000"/>
              </a:lnSpc>
              <a:spcAft>
                <a:spcPts val="600"/>
              </a:spcAft>
              <a:buFont typeface="Arial" panose="020B0604020202020204" pitchFamily="34" charset="0"/>
              <a:buChar char="•"/>
            </a:pPr>
            <a:r>
              <a:rPr lang="en-US" sz="1800" kern="1200" dirty="0">
                <a:solidFill>
                  <a:srgbClr val="00B0F0"/>
                </a:solidFill>
                <a:latin typeface="+mn-lt"/>
                <a:ea typeface="+mn-ea"/>
                <a:cs typeface="+mn-cs"/>
              </a:rPr>
              <a:t>Backend</a:t>
            </a:r>
            <a:r>
              <a:rPr lang="en-US" sz="1800" kern="1200" dirty="0">
                <a:solidFill>
                  <a:schemeClr val="tx1"/>
                </a:solidFill>
                <a:latin typeface="+mn-lt"/>
                <a:ea typeface="+mn-ea"/>
                <a:cs typeface="+mn-cs"/>
              </a:rPr>
              <a:t> is the server side of a website. </a:t>
            </a:r>
          </a:p>
          <a:p>
            <a:pPr marL="342900" lvl="2" indent="-228600" fontAlgn="base">
              <a:lnSpc>
                <a:spcPct val="90000"/>
              </a:lnSpc>
              <a:spcAft>
                <a:spcPts val="600"/>
              </a:spcAft>
              <a:buFont typeface="Arial" panose="020B0604020202020204" pitchFamily="34" charset="0"/>
              <a:buChar char="•"/>
            </a:pPr>
            <a:r>
              <a:rPr lang="en-US" sz="1800" kern="1200" dirty="0">
                <a:solidFill>
                  <a:schemeClr val="tx1"/>
                </a:solidFill>
                <a:latin typeface="+mn-lt"/>
                <a:ea typeface="+mn-ea"/>
                <a:cs typeface="+mn-cs"/>
              </a:rPr>
              <a:t>It is the part of the website that users cannot see and interact.</a:t>
            </a:r>
          </a:p>
          <a:p>
            <a:pPr marL="342900" lvl="2" indent="-228600" fontAlgn="base">
              <a:lnSpc>
                <a:spcPct val="90000"/>
              </a:lnSpc>
              <a:spcAft>
                <a:spcPts val="600"/>
              </a:spcAft>
              <a:buFont typeface="Arial" panose="020B0604020202020204" pitchFamily="34" charset="0"/>
              <a:buChar char="•"/>
            </a:pPr>
            <a:r>
              <a:rPr lang="en-US" sz="1800" b="1" kern="1200" dirty="0">
                <a:solidFill>
                  <a:schemeClr val="tx1"/>
                </a:solidFill>
                <a:latin typeface="+mn-lt"/>
                <a:ea typeface="+mn-ea"/>
                <a:cs typeface="+mn-cs"/>
              </a:rPr>
              <a:t>It handles:</a:t>
            </a:r>
          </a:p>
          <a:p>
            <a:pPr marL="365760" lvl="8" fontAlgn="base">
              <a:lnSpc>
                <a:spcPct val="90000"/>
              </a:lnSpc>
              <a:spcAft>
                <a:spcPts val="600"/>
              </a:spcAft>
              <a:buFont typeface="Arial" panose="020B0604020202020204" pitchFamily="34" charset="0"/>
              <a:buChar char="•"/>
            </a:pPr>
            <a:r>
              <a:rPr lang="en-US" sz="1800" kern="1200" dirty="0">
                <a:solidFill>
                  <a:schemeClr val="tx1"/>
                </a:solidFill>
                <a:latin typeface="+mn-lt"/>
                <a:ea typeface="+mn-ea"/>
                <a:cs typeface="+mn-cs"/>
              </a:rPr>
              <a:t>Databases</a:t>
            </a:r>
          </a:p>
          <a:p>
            <a:pPr marL="365760" lvl="8" fontAlgn="base">
              <a:lnSpc>
                <a:spcPct val="90000"/>
              </a:lnSpc>
              <a:spcAft>
                <a:spcPts val="600"/>
              </a:spcAft>
              <a:buFont typeface="Arial" panose="020B0604020202020204" pitchFamily="34" charset="0"/>
              <a:buChar char="•"/>
            </a:pPr>
            <a:r>
              <a:rPr lang="en-US" sz="1800" kern="1200" dirty="0">
                <a:solidFill>
                  <a:schemeClr val="tx1"/>
                </a:solidFill>
                <a:latin typeface="+mn-lt"/>
                <a:ea typeface="+mn-ea"/>
                <a:cs typeface="+mn-cs"/>
              </a:rPr>
              <a:t>Authentication</a:t>
            </a:r>
          </a:p>
          <a:p>
            <a:pPr marL="365760" lvl="8" fontAlgn="base">
              <a:lnSpc>
                <a:spcPct val="90000"/>
              </a:lnSpc>
              <a:spcAft>
                <a:spcPts val="600"/>
              </a:spcAft>
              <a:buFont typeface="Arial" panose="020B0604020202020204" pitchFamily="34" charset="0"/>
              <a:buChar char="•"/>
            </a:pPr>
            <a:r>
              <a:rPr lang="en-US" sz="1800" kern="1200" dirty="0">
                <a:solidFill>
                  <a:schemeClr val="tx1"/>
                </a:solidFill>
                <a:latin typeface="+mn-lt"/>
                <a:ea typeface="+mn-ea"/>
                <a:cs typeface="+mn-cs"/>
              </a:rPr>
              <a:t>Business logic</a:t>
            </a:r>
          </a:p>
          <a:p>
            <a:pPr marL="365760" lvl="8" fontAlgn="base">
              <a:lnSpc>
                <a:spcPct val="90000"/>
              </a:lnSpc>
              <a:spcAft>
                <a:spcPts val="600"/>
              </a:spcAft>
              <a:buFont typeface="Arial" panose="020B0604020202020204" pitchFamily="34" charset="0"/>
              <a:buChar char="•"/>
            </a:pPr>
            <a:r>
              <a:rPr lang="en-US" sz="1800" kern="1200" dirty="0">
                <a:solidFill>
                  <a:schemeClr val="tx1"/>
                </a:solidFill>
                <a:latin typeface="+mn-lt"/>
                <a:ea typeface="+mn-ea"/>
                <a:cs typeface="+mn-cs"/>
              </a:rPr>
              <a:t>Server communication.</a:t>
            </a: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4863984"/>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8511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524784" y="186028"/>
            <a:ext cx="5297791" cy="869400"/>
          </a:xfrm>
        </p:spPr>
        <p:txBody>
          <a:bodyPr vert="horz" lIns="91440" tIns="45720" rIns="91440" bIns="45720" rtlCol="0" anchor="ctr">
            <a:normAutofit/>
          </a:bodyPr>
          <a:lstStyle/>
          <a:p>
            <a:pPr defTabSz="914400"/>
            <a:r>
              <a:rPr lang="en-US" sz="3000" b="1" kern="1200">
                <a:solidFill>
                  <a:srgbClr val="FFFFFF"/>
                </a:solidFill>
                <a:latin typeface="+mj-lt"/>
                <a:ea typeface="+mj-ea"/>
                <a:cs typeface="+mj-cs"/>
              </a:rPr>
              <a:t>Web Development</a:t>
            </a:r>
          </a:p>
        </p:txBody>
      </p:sp>
      <p:sp>
        <p:nvSpPr>
          <p:cNvPr id="3" name="Rectangle 2"/>
          <p:cNvSpPr/>
          <p:nvPr/>
        </p:nvSpPr>
        <p:spPr>
          <a:xfrm>
            <a:off x="6429374" y="293124"/>
            <a:ext cx="2425189" cy="655209"/>
          </a:xfrm>
          <a:prstGeom prst="rect">
            <a:avLst/>
          </a:prstGeom>
        </p:spPr>
        <p:txBody>
          <a:bodyPr vert="horz" lIns="91440" tIns="45720" rIns="91440" bIns="45720" rtlCol="0" anchor="ctr">
            <a:normAutofit/>
          </a:bodyPr>
          <a:lstStyle/>
          <a:p>
            <a:pPr>
              <a:lnSpc>
                <a:spcPct val="90000"/>
              </a:lnSpc>
              <a:spcBef>
                <a:spcPts val="1000"/>
              </a:spcBef>
            </a:pPr>
            <a:r>
              <a:rPr lang="en-US" sz="1500" kern="1200">
                <a:solidFill>
                  <a:srgbClr val="FFFFFF"/>
                </a:solidFill>
                <a:latin typeface="+mn-lt"/>
                <a:ea typeface="+mn-ea"/>
                <a:cs typeface="+mn-cs"/>
              </a:rPr>
              <a:t>https://www.geeksforgeeks.org/web-development/</a:t>
            </a:r>
          </a:p>
        </p:txBody>
      </p:sp>
      <p:pic>
        <p:nvPicPr>
          <p:cNvPr id="1026"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0966" y="1211600"/>
            <a:ext cx="7802064" cy="390103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90F1E8B-7A28-EB48-8FF1-FED478526A26}"/>
              </a:ext>
            </a:extLst>
          </p:cNvPr>
          <p:cNvSpPr txBox="1"/>
          <p:nvPr/>
        </p:nvSpPr>
        <p:spPr>
          <a:xfrm>
            <a:off x="524216" y="2207620"/>
            <a:ext cx="4845498" cy="456535"/>
          </a:xfrm>
          <a:prstGeom prst="rect">
            <a:avLst/>
          </a:prstGeom>
          <a:noFill/>
        </p:spPr>
        <p:txBody>
          <a:bodyPr wrap="square" rtlCol="0">
            <a:spAutoFit/>
          </a:bodyPr>
          <a:lstStyle/>
          <a:p>
            <a:pPr marL="285750" lvl="2" indent="-285750" fontAlgn="base">
              <a:lnSpc>
                <a:spcPct val="150000"/>
              </a:lnSpc>
              <a:buFont typeface="Wingdings" panose="05000000000000000000" pitchFamily="2" charset="2"/>
              <a:buChar char="Ø"/>
            </a:pPr>
            <a:endParaRPr lang="en-US" sz="1800" b="1" dirty="0"/>
          </a:p>
        </p:txBody>
      </p:sp>
    </p:spTree>
    <p:extLst>
      <p:ext uri="{BB962C8B-B14F-4D97-AF65-F5344CB8AC3E}">
        <p14:creationId xmlns:p14="http://schemas.microsoft.com/office/powerpoint/2010/main" val="576003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a:solidFill>
                  <a:srgbClr val="FFFFFF"/>
                </a:solidFill>
                <a:latin typeface="+mj-lt"/>
                <a:ea typeface="+mj-ea"/>
                <a:cs typeface="+mj-cs"/>
                <a:sym typeface="Arial"/>
              </a:rPr>
              <a:t> React js</a:t>
            </a:r>
            <a:endParaRPr lang="en-US" sz="3000" kern="1200">
              <a:solidFill>
                <a:srgbClr val="FFFFFF"/>
              </a:solidFill>
              <a:latin typeface="+mj-lt"/>
              <a:ea typeface="+mj-ea"/>
              <a:cs typeface="+mj-cs"/>
            </a:endParaRPr>
          </a:p>
        </p:txBody>
      </p:sp>
      <p:sp>
        <p:nvSpPr>
          <p:cNvPr id="6" name="Title 1">
            <a:extLst>
              <a:ext uri="{FF2B5EF4-FFF2-40B4-BE49-F238E27FC236}">
                <a16:creationId xmlns:a16="http://schemas.microsoft.com/office/drawing/2014/main" id="{8D1E3386-AC52-6547-A5DF-FF2440AE4B6B}"/>
              </a:ext>
            </a:extLst>
          </p:cNvPr>
          <p:cNvSpPr txBox="1">
            <a:spLocks/>
          </p:cNvSpPr>
          <p:nvPr/>
        </p:nvSpPr>
        <p:spPr>
          <a:xfrm>
            <a:off x="278861" y="1413958"/>
            <a:ext cx="8638160" cy="3592543"/>
          </a:xfrm>
          <a:prstGeom prst="rect">
            <a:avLst/>
          </a:prstGeom>
        </p:spPr>
        <p:txBody>
          <a:bodyPr spcFirstLastPara="1" vert="horz" lIns="91440" tIns="45720" rIns="91440" bIns="45720" rtlCol="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pPr marL="457200" lvl="2" indent="-342900" fontAlgn="base">
              <a:lnSpc>
                <a:spcPct val="90000"/>
              </a:lnSpc>
              <a:spcAft>
                <a:spcPts val="600"/>
              </a:spcAft>
              <a:buClr>
                <a:srgbClr val="000000"/>
              </a:buClr>
              <a:buFont typeface="Arial" panose="020B0604020202020204" pitchFamily="34" charset="0"/>
              <a:buChar char="•"/>
            </a:pPr>
            <a:r>
              <a:rPr lang="en-US" sz="2400" b="1" kern="1200" dirty="0">
                <a:solidFill>
                  <a:srgbClr val="00B0F0"/>
                </a:solidFill>
                <a:latin typeface="+mn-lt"/>
                <a:ea typeface="+mn-ea"/>
                <a:cs typeface="+mn-cs"/>
                <a:sym typeface="Arial"/>
              </a:rPr>
              <a:t>React </a:t>
            </a:r>
            <a:r>
              <a:rPr lang="en-US" sz="2400" b="1" kern="1200" dirty="0" err="1">
                <a:solidFill>
                  <a:srgbClr val="00B0F0"/>
                </a:solidFill>
                <a:latin typeface="+mn-lt"/>
                <a:ea typeface="+mn-ea"/>
                <a:cs typeface="+mn-cs"/>
                <a:sym typeface="Arial"/>
              </a:rPr>
              <a:t>js</a:t>
            </a:r>
            <a:r>
              <a:rPr lang="en-US" sz="2400" b="1" kern="1200" dirty="0">
                <a:solidFill>
                  <a:srgbClr val="00B0F0"/>
                </a:solidFill>
                <a:latin typeface="+mn-lt"/>
                <a:ea typeface="+mn-ea"/>
                <a:cs typeface="+mn-cs"/>
                <a:sym typeface="Arial"/>
              </a:rPr>
              <a:t>: </a:t>
            </a:r>
            <a:r>
              <a:rPr lang="en-US" sz="2400" kern="1200" dirty="0">
                <a:solidFill>
                  <a:schemeClr val="tx1"/>
                </a:solidFill>
                <a:latin typeface="+mn-lt"/>
                <a:ea typeface="+mn-ea"/>
                <a:cs typeface="+mn-cs"/>
                <a:sym typeface="Arial"/>
              </a:rPr>
              <a:t>is a declarative, efficient, and flexible JavaScript library for building user interfaces. </a:t>
            </a:r>
          </a:p>
          <a:p>
            <a:pPr marL="342900" lvl="2"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It is:</a:t>
            </a:r>
          </a:p>
          <a:p>
            <a:pPr marL="685800" lvl="8"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Declarative.</a:t>
            </a:r>
          </a:p>
          <a:p>
            <a:pPr marL="685800" lvl="8"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Component-based.</a:t>
            </a:r>
          </a:p>
          <a:p>
            <a:pPr marL="685800" lvl="8"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Efficient.</a:t>
            </a:r>
          </a:p>
          <a:p>
            <a:pPr marL="685800" lvl="8"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React is commonly used to build Single Page Applications (SPAs).</a:t>
            </a:r>
          </a:p>
          <a:p>
            <a:pPr marL="342900" lvl="2"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rPr>
              <a:t>React was created by </a:t>
            </a:r>
            <a:r>
              <a:rPr lang="en-US" sz="2400" kern="1200" dirty="0">
                <a:solidFill>
                  <a:srgbClr val="00B0F0"/>
                </a:solidFill>
                <a:latin typeface="+mn-lt"/>
                <a:ea typeface="+mn-ea"/>
                <a:cs typeface="+mn-cs"/>
              </a:rPr>
              <a:t>Meta</a:t>
            </a:r>
            <a:r>
              <a:rPr lang="en-US" sz="2400" kern="1200" dirty="0">
                <a:solidFill>
                  <a:schemeClr val="tx1"/>
                </a:solidFill>
                <a:latin typeface="+mn-lt"/>
                <a:ea typeface="+mn-ea"/>
                <a:cs typeface="+mn-cs"/>
              </a:rPr>
              <a:t> (formerly </a:t>
            </a:r>
            <a:r>
              <a:rPr lang="en-US" sz="2400" kern="1200" dirty="0">
                <a:solidFill>
                  <a:srgbClr val="00B0F0"/>
                </a:solidFill>
                <a:latin typeface="+mn-lt"/>
                <a:ea typeface="+mn-ea"/>
                <a:cs typeface="+mn-cs"/>
              </a:rPr>
              <a:t>Facebook</a:t>
            </a:r>
            <a:r>
              <a:rPr lang="en-US" sz="2400" kern="1200" dirty="0">
                <a:solidFill>
                  <a:schemeClr val="tx1"/>
                </a:solidFill>
                <a:latin typeface="+mn-lt"/>
                <a:ea typeface="+mn-ea"/>
                <a:cs typeface="+mn-cs"/>
              </a:rPr>
              <a:t>).</a:t>
            </a:r>
          </a:p>
        </p:txBody>
      </p:sp>
      <p:sp>
        <p:nvSpPr>
          <p:cNvPr id="5" name="TextBox 4">
            <a:extLst>
              <a:ext uri="{FF2B5EF4-FFF2-40B4-BE49-F238E27FC236}">
                <a16:creationId xmlns:a16="http://schemas.microsoft.com/office/drawing/2014/main" id="{690F1E8B-7A28-EB48-8FF1-FED478526A26}"/>
              </a:ext>
            </a:extLst>
          </p:cNvPr>
          <p:cNvSpPr txBox="1"/>
          <p:nvPr/>
        </p:nvSpPr>
        <p:spPr>
          <a:xfrm>
            <a:off x="524216" y="2207620"/>
            <a:ext cx="4845498" cy="456535"/>
          </a:xfrm>
          <a:prstGeom prst="rect">
            <a:avLst/>
          </a:prstGeom>
          <a:noFill/>
        </p:spPr>
        <p:txBody>
          <a:bodyPr wrap="square" rtlCol="0">
            <a:spAutoFit/>
          </a:bodyPr>
          <a:lstStyle/>
          <a:p>
            <a:pPr marL="285750" lvl="2" indent="-285750" fontAlgn="base">
              <a:lnSpc>
                <a:spcPct val="150000"/>
              </a:lnSpc>
              <a:buFont typeface="Wingdings" panose="05000000000000000000" pitchFamily="2" charset="2"/>
              <a:buChar char="Ø"/>
            </a:pPr>
            <a:endParaRPr lang="en-US" sz="1800" b="1" dirty="0"/>
          </a:p>
        </p:txBody>
      </p:sp>
      <p:pic>
        <p:nvPicPr>
          <p:cNvPr id="3" name="Picture 2">
            <a:extLst>
              <a:ext uri="{FF2B5EF4-FFF2-40B4-BE49-F238E27FC236}">
                <a16:creationId xmlns:a16="http://schemas.microsoft.com/office/drawing/2014/main" id="{8CB2416B-3520-A3D1-660B-2E683CBAA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3303" y="186258"/>
            <a:ext cx="606849" cy="606849"/>
          </a:xfrm>
          <a:prstGeom prst="rect">
            <a:avLst/>
          </a:prstGeom>
        </p:spPr>
      </p:pic>
    </p:spTree>
    <p:extLst>
      <p:ext uri="{BB962C8B-B14F-4D97-AF65-F5344CB8AC3E}">
        <p14:creationId xmlns:p14="http://schemas.microsoft.com/office/powerpoint/2010/main" val="589163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2FFEA0-F5C5-F366-040E-E526BBB1BC9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EFFD2D-77E4-5943-CE4D-6405DB68A62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dirty="0">
                <a:solidFill>
                  <a:srgbClr val="FFFFFF"/>
                </a:solidFill>
                <a:latin typeface="+mj-lt"/>
                <a:ea typeface="+mj-ea"/>
                <a:cs typeface="+mj-cs"/>
                <a:sym typeface="Arial"/>
              </a:rPr>
              <a:t>Why React?</a:t>
            </a:r>
            <a:endParaRPr lang="en-US" sz="3000" kern="1200" dirty="0">
              <a:solidFill>
                <a:srgbClr val="FFFFFF"/>
              </a:solidFill>
              <a:latin typeface="+mj-lt"/>
              <a:ea typeface="+mj-ea"/>
              <a:cs typeface="+mj-cs"/>
            </a:endParaRPr>
          </a:p>
        </p:txBody>
      </p:sp>
      <p:sp>
        <p:nvSpPr>
          <p:cNvPr id="6" name="Title 1">
            <a:extLst>
              <a:ext uri="{FF2B5EF4-FFF2-40B4-BE49-F238E27FC236}">
                <a16:creationId xmlns:a16="http://schemas.microsoft.com/office/drawing/2014/main" id="{6B97D84E-C749-47FA-1551-C600FCEFD7C4}"/>
              </a:ext>
            </a:extLst>
          </p:cNvPr>
          <p:cNvSpPr txBox="1">
            <a:spLocks/>
          </p:cNvSpPr>
          <p:nvPr/>
        </p:nvSpPr>
        <p:spPr>
          <a:xfrm>
            <a:off x="344512" y="1413958"/>
            <a:ext cx="8631708" cy="3508639"/>
          </a:xfrm>
          <a:prstGeom prst="rect">
            <a:avLst/>
          </a:prstGeom>
        </p:spPr>
        <p:txBody>
          <a:bodyPr spcFirstLastPara="1" vert="horz" lIns="91440" tIns="45720" rIns="91440" bIns="45720" rtlCol="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pPr marL="342900" lvl="2" indent="-228600" fontAlgn="base">
              <a:lnSpc>
                <a:spcPct val="90000"/>
              </a:lnSpc>
              <a:spcAft>
                <a:spcPts val="600"/>
              </a:spcAft>
              <a:buClr>
                <a:srgbClr val="000000"/>
              </a:buClr>
              <a:buFont typeface="Arial" panose="020B0604020202020204" pitchFamily="34" charset="0"/>
              <a:buChar char="•"/>
            </a:pPr>
            <a:r>
              <a:rPr lang="en-US" sz="2400" b="1" kern="1200" dirty="0">
                <a:solidFill>
                  <a:srgbClr val="C00000"/>
                </a:solidFill>
                <a:latin typeface="+mn-lt"/>
                <a:ea typeface="+mn-ea"/>
                <a:cs typeface="+mn-cs"/>
                <a:sym typeface="Arial"/>
              </a:rPr>
              <a:t>Traditional websites:</a:t>
            </a:r>
          </a:p>
          <a:p>
            <a:pPr marL="685800"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Reload the entire page on every request.</a:t>
            </a:r>
          </a:p>
          <a:p>
            <a:pPr marL="685800" lvl="3"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Mix UI logic and DOM manipulation</a:t>
            </a:r>
          </a:p>
          <a:p>
            <a:pPr marL="685800" lvl="3"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Hard to scale.</a:t>
            </a:r>
          </a:p>
          <a:p>
            <a:pPr marL="342900" lvl="2" indent="-228600" fontAlgn="base">
              <a:lnSpc>
                <a:spcPct val="90000"/>
              </a:lnSpc>
              <a:spcAft>
                <a:spcPts val="600"/>
              </a:spcAft>
              <a:buClr>
                <a:srgbClr val="000000"/>
              </a:buClr>
              <a:buFont typeface="Arial" panose="020B0604020202020204" pitchFamily="34" charset="0"/>
              <a:buChar char="•"/>
            </a:pPr>
            <a:r>
              <a:rPr lang="en-US" sz="2400" b="1" kern="1200" dirty="0">
                <a:solidFill>
                  <a:srgbClr val="00B0F0"/>
                </a:solidFill>
                <a:latin typeface="+mn-lt"/>
                <a:ea typeface="+mn-ea"/>
                <a:cs typeface="+mn-cs"/>
                <a:sym typeface="Arial"/>
              </a:rPr>
              <a:t>React solves this by:</a:t>
            </a:r>
          </a:p>
          <a:p>
            <a:pPr marL="685800" lvl="3"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Breaking UI into small, reusable components</a:t>
            </a:r>
          </a:p>
          <a:p>
            <a:pPr marL="685800" lvl="3"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Updating only what changes</a:t>
            </a:r>
          </a:p>
          <a:p>
            <a:pPr marL="685800" lvl="3"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sym typeface="Arial"/>
              </a:rPr>
              <a:t>Making UI predictable.</a:t>
            </a:r>
            <a:endParaRPr lang="en-US" sz="2400" kern="1200" dirty="0">
              <a:solidFill>
                <a:schemeClr val="tx1"/>
              </a:solidFill>
              <a:latin typeface="+mn-lt"/>
              <a:ea typeface="+mn-ea"/>
              <a:cs typeface="+mn-cs"/>
            </a:endParaRPr>
          </a:p>
        </p:txBody>
      </p:sp>
      <p:pic>
        <p:nvPicPr>
          <p:cNvPr id="3" name="Picture 2">
            <a:extLst>
              <a:ext uri="{FF2B5EF4-FFF2-40B4-BE49-F238E27FC236}">
                <a16:creationId xmlns:a16="http://schemas.microsoft.com/office/drawing/2014/main" id="{A3A269A2-A7C7-17F4-6FBA-CE0A30EAF1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3303" y="186258"/>
            <a:ext cx="606849" cy="606849"/>
          </a:xfrm>
          <a:prstGeom prst="rect">
            <a:avLst/>
          </a:prstGeom>
        </p:spPr>
      </p:pic>
    </p:spTree>
    <p:extLst>
      <p:ext uri="{BB962C8B-B14F-4D97-AF65-F5344CB8AC3E}">
        <p14:creationId xmlns:p14="http://schemas.microsoft.com/office/powerpoint/2010/main" val="2823822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74F875-59E8-85BD-12A5-94C4424D64D6}"/>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DC01F7-04BD-67A1-005E-23B221F1E79F}"/>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a:solidFill>
                  <a:srgbClr val="FFFFFF"/>
                </a:solidFill>
                <a:latin typeface="+mj-lt"/>
                <a:ea typeface="+mj-ea"/>
                <a:cs typeface="+mj-cs"/>
                <a:sym typeface="Arial"/>
              </a:rPr>
              <a:t>Single Page Application (SPA)</a:t>
            </a:r>
            <a:endParaRPr lang="en-US" sz="3000" kern="1200">
              <a:solidFill>
                <a:srgbClr val="FFFFFF"/>
              </a:solidFill>
              <a:latin typeface="+mj-lt"/>
              <a:ea typeface="+mj-ea"/>
              <a:cs typeface="+mj-cs"/>
            </a:endParaRPr>
          </a:p>
        </p:txBody>
      </p:sp>
      <p:sp>
        <p:nvSpPr>
          <p:cNvPr id="6" name="Title 1">
            <a:extLst>
              <a:ext uri="{FF2B5EF4-FFF2-40B4-BE49-F238E27FC236}">
                <a16:creationId xmlns:a16="http://schemas.microsoft.com/office/drawing/2014/main" id="{833413EB-39FE-40B5-794E-D62DD1A21D78}"/>
              </a:ext>
            </a:extLst>
          </p:cNvPr>
          <p:cNvSpPr txBox="1">
            <a:spLocks/>
          </p:cNvSpPr>
          <p:nvPr/>
        </p:nvSpPr>
        <p:spPr>
          <a:xfrm>
            <a:off x="344512" y="1326911"/>
            <a:ext cx="8187092" cy="3595686"/>
          </a:xfrm>
          <a:prstGeom prst="rect">
            <a:avLst/>
          </a:prstGeom>
        </p:spPr>
        <p:txBody>
          <a:bodyPr spcFirstLastPara="1" vert="horz" lIns="91440" tIns="45720" rIns="91440" bIns="45720" rtlCol="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pPr marL="342900" lvl="2" indent="-228600" fontAlgn="base">
              <a:lnSpc>
                <a:spcPct val="90000"/>
              </a:lnSpc>
              <a:spcAft>
                <a:spcPts val="600"/>
              </a:spcAft>
              <a:buClr>
                <a:srgbClr val="000000"/>
              </a:buClr>
              <a:buFont typeface="Arial" panose="020B0604020202020204" pitchFamily="34" charset="0"/>
              <a:buChar char="•"/>
            </a:pPr>
            <a:r>
              <a:rPr lang="en-US" sz="2000" b="1" kern="1200">
                <a:solidFill>
                  <a:schemeClr val="tx1"/>
                </a:solidFill>
                <a:latin typeface="+mn-lt"/>
                <a:ea typeface="+mn-ea"/>
                <a:cs typeface="+mn-cs"/>
                <a:sym typeface="Arial"/>
              </a:rPr>
              <a:t>A Single Page Application:</a:t>
            </a:r>
          </a:p>
          <a:p>
            <a:pPr marL="685800" lvl="2" indent="-228600" fontAlgn="base">
              <a:lnSpc>
                <a:spcPct val="90000"/>
              </a:lnSpc>
              <a:spcAft>
                <a:spcPts val="600"/>
              </a:spcAft>
              <a:buClr>
                <a:srgbClr val="000000"/>
              </a:buClr>
              <a:buFont typeface="Arial" panose="020B0604020202020204" pitchFamily="34" charset="0"/>
              <a:buChar char="•"/>
            </a:pPr>
            <a:r>
              <a:rPr lang="en-US" sz="2000" kern="1200">
                <a:solidFill>
                  <a:schemeClr val="tx1"/>
                </a:solidFill>
                <a:latin typeface="+mn-lt"/>
                <a:ea typeface="+mn-ea"/>
                <a:cs typeface="+mn-cs"/>
                <a:sym typeface="Arial"/>
              </a:rPr>
              <a:t>Loads one HTML file</a:t>
            </a:r>
          </a:p>
          <a:p>
            <a:pPr marL="685800" lvl="2" indent="-228600" fontAlgn="base">
              <a:lnSpc>
                <a:spcPct val="90000"/>
              </a:lnSpc>
              <a:spcAft>
                <a:spcPts val="600"/>
              </a:spcAft>
              <a:buClr>
                <a:srgbClr val="000000"/>
              </a:buClr>
              <a:buFont typeface="Arial" panose="020B0604020202020204" pitchFamily="34" charset="0"/>
              <a:buChar char="•"/>
            </a:pPr>
            <a:r>
              <a:rPr lang="en-US" sz="2000" kern="1200">
                <a:solidFill>
                  <a:schemeClr val="tx1"/>
                </a:solidFill>
                <a:latin typeface="+mn-lt"/>
                <a:ea typeface="+mn-ea"/>
                <a:cs typeface="+mn-cs"/>
                <a:sym typeface="Arial"/>
              </a:rPr>
              <a:t>Updates content dynamically</a:t>
            </a:r>
          </a:p>
          <a:p>
            <a:pPr marL="685800" lvl="2" indent="-228600" fontAlgn="base">
              <a:lnSpc>
                <a:spcPct val="90000"/>
              </a:lnSpc>
              <a:spcAft>
                <a:spcPts val="600"/>
              </a:spcAft>
              <a:buClr>
                <a:srgbClr val="000000"/>
              </a:buClr>
              <a:buFont typeface="Arial" panose="020B0604020202020204" pitchFamily="34" charset="0"/>
              <a:buChar char="•"/>
            </a:pPr>
            <a:r>
              <a:rPr lang="en-US" sz="2000" kern="1200">
                <a:solidFill>
                  <a:schemeClr val="tx1"/>
                </a:solidFill>
                <a:latin typeface="+mn-lt"/>
                <a:ea typeface="+mn-ea"/>
                <a:cs typeface="+mn-cs"/>
                <a:sym typeface="Arial"/>
              </a:rPr>
              <a:t>Does NOT reload the entire page.</a:t>
            </a:r>
          </a:p>
          <a:p>
            <a:pPr marL="342900" lvl="2" indent="-228600" fontAlgn="base">
              <a:lnSpc>
                <a:spcPct val="90000"/>
              </a:lnSpc>
              <a:spcAft>
                <a:spcPts val="600"/>
              </a:spcAft>
              <a:buClr>
                <a:srgbClr val="000000"/>
              </a:buClr>
              <a:buFont typeface="Arial" panose="020B0604020202020204" pitchFamily="34" charset="0"/>
              <a:buChar char="•"/>
            </a:pPr>
            <a:r>
              <a:rPr lang="en-US" sz="2000" b="1" kern="1200">
                <a:solidFill>
                  <a:schemeClr val="tx1"/>
                </a:solidFill>
                <a:latin typeface="+mn-lt"/>
                <a:ea typeface="+mn-ea"/>
                <a:cs typeface="+mn-cs"/>
                <a:sym typeface="Arial"/>
              </a:rPr>
              <a:t>Examples:</a:t>
            </a:r>
          </a:p>
          <a:p>
            <a:pPr marL="685800" lvl="3" indent="-228600" fontAlgn="base">
              <a:lnSpc>
                <a:spcPct val="90000"/>
              </a:lnSpc>
              <a:spcAft>
                <a:spcPts val="600"/>
              </a:spcAft>
              <a:buClr>
                <a:srgbClr val="000000"/>
              </a:buClr>
              <a:buFont typeface="Arial" panose="020B0604020202020204" pitchFamily="34" charset="0"/>
              <a:buChar char="•"/>
            </a:pPr>
            <a:r>
              <a:rPr lang="en-US" sz="2000" kern="1200">
                <a:solidFill>
                  <a:schemeClr val="tx1"/>
                </a:solidFill>
                <a:latin typeface="+mn-lt"/>
                <a:ea typeface="+mn-ea"/>
                <a:cs typeface="+mn-cs"/>
                <a:sym typeface="Arial"/>
              </a:rPr>
              <a:t>Gmail</a:t>
            </a:r>
          </a:p>
          <a:p>
            <a:pPr marL="685800" lvl="3" indent="-228600" fontAlgn="base">
              <a:lnSpc>
                <a:spcPct val="90000"/>
              </a:lnSpc>
              <a:spcAft>
                <a:spcPts val="600"/>
              </a:spcAft>
              <a:buClr>
                <a:srgbClr val="000000"/>
              </a:buClr>
              <a:buFont typeface="Arial" panose="020B0604020202020204" pitchFamily="34" charset="0"/>
              <a:buChar char="•"/>
            </a:pPr>
            <a:r>
              <a:rPr lang="en-US" sz="2000" kern="1200">
                <a:solidFill>
                  <a:schemeClr val="tx1"/>
                </a:solidFill>
                <a:latin typeface="+mn-lt"/>
                <a:ea typeface="+mn-ea"/>
                <a:cs typeface="+mn-cs"/>
                <a:sym typeface="Arial"/>
              </a:rPr>
              <a:t>Facebook</a:t>
            </a:r>
          </a:p>
          <a:p>
            <a:pPr marL="685800" lvl="3" indent="-228600" fontAlgn="base">
              <a:lnSpc>
                <a:spcPct val="90000"/>
              </a:lnSpc>
              <a:spcAft>
                <a:spcPts val="600"/>
              </a:spcAft>
              <a:buClr>
                <a:srgbClr val="000000"/>
              </a:buClr>
              <a:buFont typeface="Arial" panose="020B0604020202020204" pitchFamily="34" charset="0"/>
              <a:buChar char="•"/>
            </a:pPr>
            <a:r>
              <a:rPr lang="en-US" sz="2000" kern="1200">
                <a:solidFill>
                  <a:schemeClr val="tx1"/>
                </a:solidFill>
                <a:latin typeface="+mn-lt"/>
                <a:ea typeface="+mn-ea"/>
                <a:cs typeface="+mn-cs"/>
                <a:sym typeface="Arial"/>
              </a:rPr>
              <a:t>Netflix</a:t>
            </a:r>
          </a:p>
          <a:p>
            <a:pPr marL="342900" lvl="2" indent="-228600" fontAlgn="base">
              <a:lnSpc>
                <a:spcPct val="90000"/>
              </a:lnSpc>
              <a:spcAft>
                <a:spcPts val="600"/>
              </a:spcAft>
              <a:buClr>
                <a:srgbClr val="000000"/>
              </a:buClr>
              <a:buFont typeface="Arial" panose="020B0604020202020204" pitchFamily="34" charset="0"/>
              <a:buChar char="•"/>
            </a:pPr>
            <a:r>
              <a:rPr lang="en-US" sz="2000" kern="1200">
                <a:solidFill>
                  <a:schemeClr val="tx1"/>
                </a:solidFill>
                <a:latin typeface="+mn-lt"/>
                <a:ea typeface="+mn-ea"/>
                <a:cs typeface="+mn-cs"/>
                <a:sym typeface="Arial"/>
              </a:rPr>
              <a:t>React is commonly used to build SPAs.</a:t>
            </a:r>
            <a:endParaRPr lang="en-US" sz="2000" kern="1200" dirty="0">
              <a:solidFill>
                <a:schemeClr val="tx1"/>
              </a:solidFill>
              <a:latin typeface="+mn-lt"/>
              <a:ea typeface="+mn-ea"/>
              <a:cs typeface="+mn-cs"/>
            </a:endParaRPr>
          </a:p>
        </p:txBody>
      </p:sp>
      <p:pic>
        <p:nvPicPr>
          <p:cNvPr id="21" name="Picture 20">
            <a:extLst>
              <a:ext uri="{FF2B5EF4-FFF2-40B4-BE49-F238E27FC236}">
                <a16:creationId xmlns:a16="http://schemas.microsoft.com/office/drawing/2014/main" id="{E756691E-E42B-B93E-B73E-44ABC39E6C88}"/>
              </a:ext>
            </a:extLst>
          </p:cNvPr>
          <p:cNvPicPr>
            <a:picLocks noChangeAspect="1"/>
          </p:cNvPicPr>
          <p:nvPr/>
        </p:nvPicPr>
        <p:blipFill>
          <a:blip r:embed="rId3"/>
          <a:stretch>
            <a:fillRect/>
          </a:stretch>
        </p:blipFill>
        <p:spPr>
          <a:xfrm>
            <a:off x="5369093" y="1440977"/>
            <a:ext cx="3367554" cy="336755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88263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a:solidFill>
                  <a:srgbClr val="FFFFFF"/>
                </a:solidFill>
                <a:latin typeface="+mj-lt"/>
                <a:ea typeface="+mj-ea"/>
                <a:cs typeface="+mj-cs"/>
              </a:rPr>
              <a:t>Prerequisites Before Learning React</a:t>
            </a:r>
          </a:p>
        </p:txBody>
      </p:sp>
      <p:sp>
        <p:nvSpPr>
          <p:cNvPr id="6" name="Title 1">
            <a:extLst>
              <a:ext uri="{FF2B5EF4-FFF2-40B4-BE49-F238E27FC236}">
                <a16:creationId xmlns:a16="http://schemas.microsoft.com/office/drawing/2014/main" id="{8D1E3386-AC52-6547-A5DF-FF2440AE4B6B}"/>
              </a:ext>
            </a:extLst>
          </p:cNvPr>
          <p:cNvSpPr txBox="1">
            <a:spLocks/>
          </p:cNvSpPr>
          <p:nvPr/>
        </p:nvSpPr>
        <p:spPr>
          <a:xfrm>
            <a:off x="344512" y="1413958"/>
            <a:ext cx="8106150" cy="2711155"/>
          </a:xfrm>
          <a:prstGeom prst="rect">
            <a:avLst/>
          </a:prstGeom>
        </p:spPr>
        <p:txBody>
          <a:bodyPr spcFirstLastPara="1" vert="horz" lIns="91440" tIns="45720" rIns="91440" bIns="45720" rtlCol="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pPr marL="342900" lvl="2"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rPr>
              <a:t>Before starting React, you should understand these core concepts:</a:t>
            </a:r>
          </a:p>
          <a:p>
            <a:pPr marL="685800" lvl="3" indent="-228600" fontAlgn="base">
              <a:lnSpc>
                <a:spcPct val="90000"/>
              </a:lnSpc>
              <a:spcAft>
                <a:spcPts val="600"/>
              </a:spcAft>
              <a:buClr>
                <a:srgbClr val="000000"/>
              </a:buClr>
              <a:buFont typeface="Arial" panose="020B0604020202020204" pitchFamily="34" charset="0"/>
              <a:buChar char="•"/>
            </a:pPr>
            <a:r>
              <a:rPr lang="en-US" sz="2400" kern="1200" dirty="0">
                <a:solidFill>
                  <a:srgbClr val="00B0F0"/>
                </a:solidFill>
                <a:latin typeface="+mn-lt"/>
                <a:ea typeface="+mn-ea"/>
                <a:cs typeface="+mn-cs"/>
              </a:rPr>
              <a:t>HTML</a:t>
            </a:r>
            <a:r>
              <a:rPr lang="en-US" sz="2400" kern="1200" dirty="0">
                <a:solidFill>
                  <a:schemeClr val="tx1"/>
                </a:solidFill>
                <a:latin typeface="+mn-lt"/>
                <a:ea typeface="+mn-ea"/>
                <a:cs typeface="+mn-cs"/>
              </a:rPr>
              <a:t> and </a:t>
            </a:r>
            <a:r>
              <a:rPr lang="en-US" sz="2400" kern="1200" dirty="0">
                <a:solidFill>
                  <a:srgbClr val="00B0F0"/>
                </a:solidFill>
                <a:latin typeface="+mn-lt"/>
                <a:ea typeface="+mn-ea"/>
                <a:cs typeface="+mn-cs"/>
              </a:rPr>
              <a:t>CSS</a:t>
            </a:r>
            <a:r>
              <a:rPr lang="en-US" sz="2400" kern="1200" dirty="0">
                <a:solidFill>
                  <a:schemeClr val="tx1"/>
                </a:solidFill>
                <a:latin typeface="+mn-lt"/>
                <a:ea typeface="+mn-ea"/>
                <a:cs typeface="+mn-cs"/>
              </a:rPr>
              <a:t>.</a:t>
            </a:r>
          </a:p>
          <a:p>
            <a:pPr marL="685800" lvl="3" indent="-228600" fontAlgn="base">
              <a:lnSpc>
                <a:spcPct val="90000"/>
              </a:lnSpc>
              <a:spcAft>
                <a:spcPts val="600"/>
              </a:spcAft>
              <a:buClr>
                <a:srgbClr val="000000"/>
              </a:buClr>
              <a:buFont typeface="Arial" panose="020B0604020202020204" pitchFamily="34" charset="0"/>
              <a:buChar char="•"/>
            </a:pPr>
            <a:r>
              <a:rPr lang="en-US" sz="2400" kern="1200" dirty="0">
                <a:solidFill>
                  <a:schemeClr val="tx1"/>
                </a:solidFill>
                <a:latin typeface="+mn-lt"/>
                <a:ea typeface="+mn-ea"/>
                <a:cs typeface="+mn-cs"/>
              </a:rPr>
              <a:t>Fundamentals of </a:t>
            </a:r>
            <a:r>
              <a:rPr lang="en-US" sz="2400" kern="1200" dirty="0">
                <a:solidFill>
                  <a:srgbClr val="00B0F0"/>
                </a:solidFill>
                <a:latin typeface="+mn-lt"/>
                <a:ea typeface="+mn-ea"/>
                <a:cs typeface="+mn-cs"/>
              </a:rPr>
              <a:t>JavaScript</a:t>
            </a:r>
            <a:r>
              <a:rPr lang="en-US" sz="2400" kern="1200" dirty="0">
                <a:solidFill>
                  <a:schemeClr val="tx1"/>
                </a:solidFill>
                <a:latin typeface="+mn-lt"/>
                <a:ea typeface="+mn-ea"/>
                <a:cs typeface="+mn-cs"/>
              </a:rPr>
              <a:t> and ES6.</a:t>
            </a:r>
          </a:p>
        </p:txBody>
      </p:sp>
      <p:sp>
        <p:nvSpPr>
          <p:cNvPr id="5" name="TextBox 4">
            <a:extLst>
              <a:ext uri="{FF2B5EF4-FFF2-40B4-BE49-F238E27FC236}">
                <a16:creationId xmlns:a16="http://schemas.microsoft.com/office/drawing/2014/main" id="{690F1E8B-7A28-EB48-8FF1-FED478526A26}"/>
              </a:ext>
            </a:extLst>
          </p:cNvPr>
          <p:cNvSpPr txBox="1"/>
          <p:nvPr/>
        </p:nvSpPr>
        <p:spPr>
          <a:xfrm>
            <a:off x="524216" y="2207620"/>
            <a:ext cx="4845498" cy="456535"/>
          </a:xfrm>
          <a:prstGeom prst="rect">
            <a:avLst/>
          </a:prstGeom>
          <a:noFill/>
        </p:spPr>
        <p:txBody>
          <a:bodyPr wrap="square" rtlCol="0">
            <a:spAutoFit/>
          </a:bodyPr>
          <a:lstStyle/>
          <a:p>
            <a:pPr marL="285750" lvl="2" indent="-285750" fontAlgn="base">
              <a:lnSpc>
                <a:spcPct val="150000"/>
              </a:lnSpc>
              <a:buFont typeface="Wingdings" panose="05000000000000000000" pitchFamily="2" charset="2"/>
              <a:buChar char="Ø"/>
            </a:pPr>
            <a:endParaRPr lang="en-US" sz="1800" b="1" dirty="0"/>
          </a:p>
        </p:txBody>
      </p:sp>
    </p:spTree>
    <p:extLst>
      <p:ext uri="{BB962C8B-B14F-4D97-AF65-F5344CB8AC3E}">
        <p14:creationId xmlns:p14="http://schemas.microsoft.com/office/powerpoint/2010/main" val="4252829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2600" kern="1200">
                <a:solidFill>
                  <a:srgbClr val="FFFFFF"/>
                </a:solidFill>
                <a:latin typeface="+mj-lt"/>
                <a:ea typeface="+mj-ea"/>
                <a:cs typeface="+mj-cs"/>
              </a:rPr>
              <a:t>Modern Development Environment (2026 Standard)</a:t>
            </a:r>
          </a:p>
        </p:txBody>
      </p:sp>
      <p:sp>
        <p:nvSpPr>
          <p:cNvPr id="5" name="TextBox 4">
            <a:extLst>
              <a:ext uri="{FF2B5EF4-FFF2-40B4-BE49-F238E27FC236}">
                <a16:creationId xmlns:a16="http://schemas.microsoft.com/office/drawing/2014/main" id="{690F1E8B-7A28-EB48-8FF1-FED478526A26}"/>
              </a:ext>
            </a:extLst>
          </p:cNvPr>
          <p:cNvSpPr txBox="1"/>
          <p:nvPr/>
        </p:nvSpPr>
        <p:spPr>
          <a:xfrm>
            <a:off x="1028699" y="1464415"/>
            <a:ext cx="7421963" cy="3080084"/>
          </a:xfrm>
          <a:prstGeom prst="rect">
            <a:avLst/>
          </a:prstGeom>
        </p:spPr>
        <p:txBody>
          <a:bodyPr vert="horz" lIns="91440" tIns="45720" rIns="91440" bIns="45720" rtlCol="0" anchor="ctr">
            <a:normAutofit/>
          </a:bodyPr>
          <a:lstStyle/>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400" b="1" i="0" u="none" strike="noStrike" kern="0" cap="none" spc="0" normalizeH="0" baseline="0" noProof="0" dirty="0">
                <a:ln>
                  <a:noFill/>
                </a:ln>
                <a:solidFill>
                  <a:srgbClr val="000000"/>
                </a:solidFill>
                <a:effectLst/>
                <a:uLnTx/>
                <a:uFillTx/>
                <a:latin typeface="Arial"/>
                <a:cs typeface="Arial"/>
                <a:sym typeface="Arial"/>
              </a:rPr>
              <a:t>Required Tools:</a:t>
            </a:r>
          </a:p>
          <a:p>
            <a:pPr marL="702900" marR="0" lvl="1" indent="-3429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GB" sz="2400" b="0" i="0" u="none" strike="noStrike" kern="0" cap="none" spc="0" normalizeH="0" baseline="0" noProof="0" dirty="0">
                <a:ln>
                  <a:noFill/>
                </a:ln>
                <a:solidFill>
                  <a:srgbClr val="000000"/>
                </a:solidFill>
                <a:effectLst/>
                <a:uLnTx/>
                <a:uFillTx/>
                <a:latin typeface="Arial"/>
                <a:cs typeface="Arial"/>
                <a:sym typeface="Arial"/>
              </a:rPr>
              <a:t>Node.js 20+</a:t>
            </a:r>
          </a:p>
          <a:p>
            <a:pPr marL="702900" marR="0" lvl="1" indent="-3429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GB" sz="2400" b="0" i="0" u="none" strike="noStrike" kern="0" cap="none" spc="0" normalizeH="0" baseline="0" noProof="0" dirty="0" err="1">
                <a:ln>
                  <a:noFill/>
                </a:ln>
                <a:solidFill>
                  <a:srgbClr val="000000"/>
                </a:solidFill>
                <a:effectLst/>
                <a:uLnTx/>
                <a:uFillTx/>
                <a:latin typeface="Arial"/>
                <a:cs typeface="Arial"/>
                <a:sym typeface="Arial"/>
              </a:rPr>
              <a:t>npm</a:t>
            </a:r>
            <a:endParaRPr kumimoji="0" lang="en-GB" sz="2400" b="0" i="0" u="none" strike="noStrike" kern="0" cap="none" spc="0" normalizeH="0" baseline="0" noProof="0" dirty="0">
              <a:ln>
                <a:noFill/>
              </a:ln>
              <a:solidFill>
                <a:srgbClr val="000000"/>
              </a:solidFill>
              <a:effectLst/>
              <a:uLnTx/>
              <a:uFillTx/>
              <a:latin typeface="Arial"/>
              <a:cs typeface="Arial"/>
              <a:sym typeface="Arial"/>
            </a:endParaRPr>
          </a:p>
          <a:p>
            <a:pPr marL="702900" marR="0" lvl="1" indent="-3429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ü"/>
              <a:tabLst/>
              <a:defRPr/>
            </a:pPr>
            <a:r>
              <a:rPr kumimoji="0" lang="en-GB" sz="2400" b="0" i="0" u="none" strike="noStrike" kern="0" cap="none" spc="0" normalizeH="0" baseline="0" noProof="0" dirty="0">
                <a:ln>
                  <a:noFill/>
                </a:ln>
                <a:solidFill>
                  <a:srgbClr val="000000"/>
                </a:solidFill>
                <a:effectLst/>
                <a:uLnTx/>
                <a:uFillTx/>
                <a:latin typeface="Arial"/>
                <a:cs typeface="Arial"/>
                <a:sym typeface="Arial"/>
              </a:rPr>
              <a:t>VS Code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400" b="0" i="0" u="none" strike="noStrike" kern="0" cap="none" spc="0" normalizeH="0" baseline="0" noProof="0" dirty="0">
                <a:ln>
                  <a:noFill/>
                </a:ln>
                <a:solidFill>
                  <a:srgbClr val="000000"/>
                </a:solidFill>
                <a:effectLst/>
                <a:uLnTx/>
                <a:uFillTx/>
                <a:latin typeface="Arial"/>
                <a:cs typeface="Arial"/>
                <a:sym typeface="Arial"/>
              </a:rPr>
              <a:t>Download Node from:</a:t>
            </a:r>
            <a:br>
              <a:rPr kumimoji="0" lang="en-GB" sz="2400" b="0" i="0" u="none" strike="noStrike" kern="0" cap="none" spc="0" normalizeH="0" baseline="0" noProof="0" dirty="0">
                <a:ln>
                  <a:noFill/>
                </a:ln>
                <a:solidFill>
                  <a:srgbClr val="000000"/>
                </a:solidFill>
                <a:effectLst/>
                <a:uLnTx/>
                <a:uFillTx/>
                <a:latin typeface="Arial"/>
                <a:cs typeface="Arial"/>
                <a:sym typeface="Arial"/>
              </a:rPr>
            </a:br>
            <a:r>
              <a:rPr kumimoji="0" lang="en-GB" sz="2400" b="0" i="0" u="none" strike="noStrike" kern="0" cap="none" spc="0" normalizeH="0" baseline="0" noProof="0" dirty="0">
                <a:ln>
                  <a:noFill/>
                </a:ln>
                <a:solidFill>
                  <a:srgbClr val="00B0F0"/>
                </a:solidFill>
                <a:effectLst/>
                <a:uLnTx/>
                <a:uFillTx/>
                <a:latin typeface="Arial"/>
                <a:cs typeface="Arial"/>
                <a:sym typeface="Arial"/>
                <a:hlinkClick r:id="rId2">
                  <a:extLst>
                    <a:ext uri="{A12FA001-AC4F-418D-AE19-62706E023703}">
                      <ahyp:hlinkClr xmlns:ahyp="http://schemas.microsoft.com/office/drawing/2018/hyperlinkcolor" val="tx"/>
                    </a:ext>
                  </a:extLst>
                </a:hlinkClick>
              </a:rPr>
              <a:t>https://nodejs.org</a:t>
            </a:r>
            <a:endParaRPr kumimoji="0" lang="en-GB" sz="2400" b="0" i="0" u="none" strike="noStrike" kern="0" cap="none" spc="0" normalizeH="0" baseline="0" noProof="0" dirty="0">
              <a:ln>
                <a:noFill/>
              </a:ln>
              <a:solidFill>
                <a:srgbClr val="00B0F0"/>
              </a:solidFill>
              <a:effectLst/>
              <a:uLnTx/>
              <a:uFillTx/>
              <a:latin typeface="Arial"/>
              <a:cs typeface="Arial"/>
              <a:sym typeface="Arial"/>
            </a:endParaRPr>
          </a:p>
        </p:txBody>
      </p:sp>
    </p:spTree>
    <p:extLst>
      <p:ext uri="{BB962C8B-B14F-4D97-AF65-F5344CB8AC3E}">
        <p14:creationId xmlns:p14="http://schemas.microsoft.com/office/powerpoint/2010/main" val="1150329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a:solidFill>
                  <a:srgbClr val="FFFFFF"/>
                </a:solidFill>
                <a:latin typeface="+mj-lt"/>
                <a:ea typeface="+mj-ea"/>
                <a:cs typeface="+mj-cs"/>
              </a:rPr>
              <a:t>Node and  Package Manager (NPM)</a:t>
            </a:r>
          </a:p>
        </p:txBody>
      </p:sp>
      <p:sp>
        <p:nvSpPr>
          <p:cNvPr id="5" name="TextBox 4">
            <a:extLst>
              <a:ext uri="{FF2B5EF4-FFF2-40B4-BE49-F238E27FC236}">
                <a16:creationId xmlns:a16="http://schemas.microsoft.com/office/drawing/2014/main" id="{690F1E8B-7A28-EB48-8FF1-FED478526A26}"/>
              </a:ext>
            </a:extLst>
          </p:cNvPr>
          <p:cNvSpPr txBox="1"/>
          <p:nvPr/>
        </p:nvSpPr>
        <p:spPr>
          <a:xfrm>
            <a:off x="344513" y="1531088"/>
            <a:ext cx="8452816" cy="3471205"/>
          </a:xfrm>
          <a:prstGeom prst="rect">
            <a:avLst/>
          </a:prstGeom>
        </p:spPr>
        <p:txBody>
          <a:bodyPr vert="horz" lIns="91440" tIns="45720" rIns="91440" bIns="45720" rtlCol="0" anchor="ctr">
            <a:normAutofit/>
          </a:bodyPr>
          <a:lstStyle/>
          <a:p>
            <a:pPr marL="342900" indent="-228600">
              <a:lnSpc>
                <a:spcPct val="90000"/>
              </a:lnSpc>
              <a:spcAft>
                <a:spcPts val="600"/>
              </a:spcAft>
              <a:buFont typeface="Arial" panose="020B0604020202020204" pitchFamily="34" charset="0"/>
              <a:buChar char="•"/>
            </a:pPr>
            <a:r>
              <a:rPr lang="en-US" sz="2400" b="1" kern="1200" dirty="0">
                <a:solidFill>
                  <a:srgbClr val="00B0F0"/>
                </a:solidFill>
                <a:latin typeface="+mn-lt"/>
                <a:ea typeface="+mn-ea"/>
                <a:cs typeface="+mn-cs"/>
              </a:rPr>
              <a:t>Node</a:t>
            </a:r>
            <a:r>
              <a:rPr lang="en-US" sz="2400" kern="1200" dirty="0">
                <a:solidFill>
                  <a:schemeClr val="tx1"/>
                </a:solidFill>
                <a:latin typeface="+mn-lt"/>
                <a:ea typeface="+mn-ea"/>
                <a:cs typeface="+mn-cs"/>
              </a:rPr>
              <a:t> (or more formally </a:t>
            </a:r>
            <a:r>
              <a:rPr lang="en-US" sz="2400" i="1" kern="1200" dirty="0">
                <a:solidFill>
                  <a:schemeClr val="tx1"/>
                </a:solidFill>
                <a:latin typeface="+mn-lt"/>
                <a:ea typeface="+mn-ea"/>
                <a:cs typeface="+mn-cs"/>
              </a:rPr>
              <a:t>Node.js</a:t>
            </a:r>
            <a:r>
              <a:rPr lang="en-US" sz="2400" kern="1200" dirty="0">
                <a:solidFill>
                  <a:schemeClr val="tx1"/>
                </a:solidFill>
                <a:latin typeface="+mn-lt"/>
                <a:ea typeface="+mn-ea"/>
                <a:cs typeface="+mn-cs"/>
              </a:rPr>
              <a:t>) is an open-source, cross-platform runtime environment that allows developers to create all kinds of server-side tools and applications in JavaScript. </a:t>
            </a:r>
          </a:p>
          <a:p>
            <a:pPr marL="342900"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The runtime is intended for use </a:t>
            </a:r>
            <a:r>
              <a:rPr lang="en-US" sz="2400" kern="1200" dirty="0">
                <a:solidFill>
                  <a:srgbClr val="00B0F0"/>
                </a:solidFill>
                <a:latin typeface="+mn-lt"/>
                <a:ea typeface="+mn-ea"/>
                <a:cs typeface="+mn-cs"/>
              </a:rPr>
              <a:t>outside of a browser </a:t>
            </a:r>
            <a:r>
              <a:rPr lang="en-US" sz="2400" kern="1200" dirty="0">
                <a:solidFill>
                  <a:schemeClr val="tx1"/>
                </a:solidFill>
                <a:latin typeface="+mn-lt"/>
                <a:ea typeface="+mn-ea"/>
                <a:cs typeface="+mn-cs"/>
              </a:rPr>
              <a:t>context (i.e. running directly on a computer or server OS)  and can be downloaded the official website of node </a:t>
            </a:r>
            <a:r>
              <a:rPr lang="en-US" sz="2400" kern="1200" dirty="0" err="1">
                <a:solidFill>
                  <a:schemeClr val="tx1"/>
                </a:solidFill>
                <a:latin typeface="+mn-lt"/>
                <a:ea typeface="+mn-ea"/>
                <a:cs typeface="+mn-cs"/>
              </a:rPr>
              <a:t>js</a:t>
            </a:r>
            <a:r>
              <a:rPr lang="en-US" sz="2400" kern="1200" dirty="0">
                <a:solidFill>
                  <a:schemeClr val="tx1"/>
                </a:solidFill>
                <a:latin typeface="+mn-lt"/>
                <a:ea typeface="+mn-ea"/>
                <a:cs typeface="+mn-cs"/>
              </a:rPr>
              <a:t>  </a:t>
            </a:r>
            <a:r>
              <a:rPr lang="en-US" sz="2400" kern="1200" dirty="0">
                <a:solidFill>
                  <a:schemeClr val="tx1"/>
                </a:solidFill>
                <a:latin typeface="+mn-lt"/>
                <a:ea typeface="+mn-ea"/>
                <a:cs typeface="+mn-cs"/>
                <a:hlinkClick r:id="rId2"/>
              </a:rPr>
              <a:t>https://nodejs.org/en/</a:t>
            </a:r>
            <a:r>
              <a:rPr lang="en-US" sz="2400" kern="1200" dirty="0">
                <a:solidFill>
                  <a:schemeClr val="tx1"/>
                </a:solidFill>
                <a:latin typeface="+mn-lt"/>
                <a:ea typeface="+mn-ea"/>
                <a:cs typeface="+mn-cs"/>
              </a:rPr>
              <a:t>.</a:t>
            </a:r>
          </a:p>
        </p:txBody>
      </p:sp>
      <p:pic>
        <p:nvPicPr>
          <p:cNvPr id="3" name="Picture 2">
            <a:extLst>
              <a:ext uri="{FF2B5EF4-FFF2-40B4-BE49-F238E27FC236}">
                <a16:creationId xmlns:a16="http://schemas.microsoft.com/office/drawing/2014/main" id="{CF6D17DD-2808-0CA1-5D89-389C983FD9B0}"/>
              </a:ext>
            </a:extLst>
          </p:cNvPr>
          <p:cNvPicPr>
            <a:picLocks noChangeAspect="1"/>
          </p:cNvPicPr>
          <p:nvPr/>
        </p:nvPicPr>
        <p:blipFill>
          <a:blip r:embed="rId3"/>
          <a:stretch>
            <a:fillRect/>
          </a:stretch>
        </p:blipFill>
        <p:spPr>
          <a:xfrm>
            <a:off x="7871278" y="138896"/>
            <a:ext cx="926051" cy="85725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58023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a:solidFill>
                  <a:srgbClr val="FFFFFF"/>
                </a:solidFill>
                <a:latin typeface="+mj-lt"/>
                <a:ea typeface="+mj-ea"/>
                <a:cs typeface="+mj-cs"/>
              </a:rPr>
              <a:t>Node and NPM</a:t>
            </a:r>
          </a:p>
        </p:txBody>
      </p:sp>
      <p:sp>
        <p:nvSpPr>
          <p:cNvPr id="5" name="TextBox 4">
            <a:extLst>
              <a:ext uri="{FF2B5EF4-FFF2-40B4-BE49-F238E27FC236}">
                <a16:creationId xmlns:a16="http://schemas.microsoft.com/office/drawing/2014/main" id="{690F1E8B-7A28-EB48-8FF1-FED478526A26}"/>
              </a:ext>
            </a:extLst>
          </p:cNvPr>
          <p:cNvSpPr txBox="1"/>
          <p:nvPr/>
        </p:nvSpPr>
        <p:spPr>
          <a:xfrm>
            <a:off x="344513" y="1413959"/>
            <a:ext cx="8523854" cy="2973744"/>
          </a:xfrm>
          <a:prstGeom prst="rect">
            <a:avLst/>
          </a:prstGeom>
        </p:spPr>
        <p:txBody>
          <a:bodyPr vert="horz" lIns="91440" tIns="45720" rIns="91440" bIns="45720" rtlCol="0" anchor="ctr">
            <a:normAutofit/>
          </a:bodyPr>
          <a:lstStyle/>
          <a:p>
            <a:pPr marL="342900" indent="-228600">
              <a:lnSpc>
                <a:spcPct val="90000"/>
              </a:lnSpc>
              <a:spcAft>
                <a:spcPts val="600"/>
              </a:spcAft>
              <a:buFont typeface="Arial" panose="020B0604020202020204" pitchFamily="34" charset="0"/>
              <a:buChar char="•"/>
            </a:pPr>
            <a:r>
              <a:rPr lang="en-US" sz="2400" b="1" kern="1200" dirty="0" err="1">
                <a:solidFill>
                  <a:srgbClr val="00B0F0"/>
                </a:solidFill>
                <a:latin typeface="+mn-lt"/>
                <a:ea typeface="+mn-ea"/>
                <a:cs typeface="+mn-cs"/>
              </a:rPr>
              <a:t>npm</a:t>
            </a:r>
            <a:r>
              <a:rPr lang="en-US" sz="2400" kern="1200" dirty="0">
                <a:solidFill>
                  <a:schemeClr val="tx1"/>
                </a:solidFill>
                <a:latin typeface="+mn-lt"/>
                <a:ea typeface="+mn-ea"/>
                <a:cs typeface="+mn-cs"/>
              </a:rPr>
              <a:t> is the package manager for the Node JavaScript platform. </a:t>
            </a:r>
          </a:p>
          <a:p>
            <a:pPr marL="342900"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It puts modules in place so that node can find them and manages dependency conflicts intelligently.</a:t>
            </a:r>
          </a:p>
          <a:p>
            <a:pPr marL="342900" indent="-228600">
              <a:lnSpc>
                <a:spcPct val="90000"/>
              </a:lnSpc>
              <a:spcAft>
                <a:spcPts val="600"/>
              </a:spcAft>
              <a:buFont typeface="Arial" panose="020B0604020202020204" pitchFamily="34" charset="0"/>
              <a:buChar char="•"/>
            </a:pPr>
            <a:r>
              <a:rPr lang="en-US" sz="2400" kern="1200" dirty="0">
                <a:solidFill>
                  <a:srgbClr val="00B0F0"/>
                </a:solidFill>
                <a:latin typeface="+mn-lt"/>
                <a:ea typeface="+mn-ea"/>
                <a:cs typeface="+mn-cs"/>
              </a:rPr>
              <a:t>NPM is included with Node. </a:t>
            </a:r>
            <a:r>
              <a:rPr lang="en-US" sz="2400" kern="1200" dirty="0" err="1">
                <a:solidFill>
                  <a:srgbClr val="00B0F0"/>
                </a:solidFill>
                <a:latin typeface="+mn-lt"/>
                <a:ea typeface="+mn-ea"/>
                <a:cs typeface="+mn-cs"/>
              </a:rPr>
              <a:t>js</a:t>
            </a:r>
            <a:r>
              <a:rPr lang="en-US" sz="2400" kern="1200" dirty="0">
                <a:solidFill>
                  <a:srgbClr val="00B0F0"/>
                </a:solidFill>
                <a:latin typeface="+mn-lt"/>
                <a:ea typeface="+mn-ea"/>
                <a:cs typeface="+mn-cs"/>
              </a:rPr>
              <a:t> installation.</a:t>
            </a:r>
          </a:p>
        </p:txBody>
      </p:sp>
      <p:pic>
        <p:nvPicPr>
          <p:cNvPr id="3" name="Picture 2">
            <a:extLst>
              <a:ext uri="{FF2B5EF4-FFF2-40B4-BE49-F238E27FC236}">
                <a16:creationId xmlns:a16="http://schemas.microsoft.com/office/drawing/2014/main" id="{09EA63C3-9ADB-3BD4-37FB-CB5565A7A34D}"/>
              </a:ext>
            </a:extLst>
          </p:cNvPr>
          <p:cNvPicPr>
            <a:picLocks noChangeAspect="1"/>
          </p:cNvPicPr>
          <p:nvPr/>
        </p:nvPicPr>
        <p:blipFill>
          <a:blip r:embed="rId2"/>
          <a:stretch>
            <a:fillRect/>
          </a:stretch>
        </p:blipFill>
        <p:spPr>
          <a:xfrm>
            <a:off x="7362234" y="303668"/>
            <a:ext cx="1506133" cy="58571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74554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a:solidFill>
                  <a:srgbClr val="FFFFFF"/>
                </a:solidFill>
                <a:latin typeface="+mj-lt"/>
                <a:ea typeface="+mj-ea"/>
                <a:cs typeface="+mj-cs"/>
              </a:rPr>
              <a:t>Dependency or Packages</a:t>
            </a:r>
          </a:p>
        </p:txBody>
      </p:sp>
      <p:sp>
        <p:nvSpPr>
          <p:cNvPr id="6" name="TextBox 5">
            <a:extLst>
              <a:ext uri="{FF2B5EF4-FFF2-40B4-BE49-F238E27FC236}">
                <a16:creationId xmlns:a16="http://schemas.microsoft.com/office/drawing/2014/main" id="{690F1E8B-7A28-EB48-8FF1-FED478526A26}"/>
              </a:ext>
            </a:extLst>
          </p:cNvPr>
          <p:cNvSpPr txBox="1"/>
          <p:nvPr/>
        </p:nvSpPr>
        <p:spPr>
          <a:xfrm>
            <a:off x="298379" y="1516911"/>
            <a:ext cx="8152283" cy="3019647"/>
          </a:xfrm>
          <a:prstGeom prst="rect">
            <a:avLst/>
          </a:prstGeom>
        </p:spPr>
        <p:txBody>
          <a:bodyPr vert="horz" lIns="91440" tIns="45720" rIns="91440" bIns="45720" rtlCol="0" anchor="ctr">
            <a:normAutofit/>
          </a:bodyPr>
          <a:lstStyle/>
          <a:p>
            <a:pPr marL="342900" lvl="6" indent="-228600" algn="just">
              <a:lnSpc>
                <a:spcPct val="90000"/>
              </a:lnSpc>
              <a:spcAft>
                <a:spcPts val="600"/>
              </a:spcAft>
              <a:buFont typeface="Arial" panose="020B0604020202020204" pitchFamily="34" charset="0"/>
              <a:buChar char="•"/>
            </a:pPr>
            <a:r>
              <a:rPr lang="en-US" sz="2400" b="1" kern="1200" dirty="0">
                <a:solidFill>
                  <a:srgbClr val="00B0F0"/>
                </a:solidFill>
                <a:latin typeface="+mn-lt"/>
                <a:ea typeface="+mn-ea"/>
                <a:cs typeface="+mn-cs"/>
              </a:rPr>
              <a:t>Dependency</a:t>
            </a:r>
            <a:r>
              <a:rPr lang="en-US" sz="2400" kern="1200" dirty="0">
                <a:solidFill>
                  <a:schemeClr val="tx1"/>
                </a:solidFill>
                <a:latin typeface="+mn-lt"/>
                <a:ea typeface="+mn-ea"/>
                <a:cs typeface="+mn-cs"/>
              </a:rPr>
              <a:t> is a third-party bit of software that was probably written by someone else and ideally solves a single problem for you.</a:t>
            </a:r>
          </a:p>
          <a:p>
            <a:pPr marL="342900" lvl="6" indent="-228600" algn="just">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A web project can have any number of dependencies, ranging from none to many. </a:t>
            </a:r>
          </a:p>
          <a:p>
            <a:pPr marL="342900" lvl="6" indent="-228600" algn="just">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A project dependency can be an entire JavaScript library or framework — such as React or Vue.</a:t>
            </a:r>
          </a:p>
        </p:txBody>
      </p:sp>
      <p:sp>
        <p:nvSpPr>
          <p:cNvPr id="5" name="TextBox 4">
            <a:extLst>
              <a:ext uri="{FF2B5EF4-FFF2-40B4-BE49-F238E27FC236}">
                <a16:creationId xmlns:a16="http://schemas.microsoft.com/office/drawing/2014/main" id="{690F1E8B-7A28-EB48-8FF1-FED478526A26}"/>
              </a:ext>
            </a:extLst>
          </p:cNvPr>
          <p:cNvSpPr txBox="1"/>
          <p:nvPr/>
        </p:nvSpPr>
        <p:spPr>
          <a:xfrm>
            <a:off x="298378" y="896183"/>
            <a:ext cx="8547243" cy="307777"/>
          </a:xfrm>
          <a:prstGeom prst="rect">
            <a:avLst/>
          </a:prstGeom>
          <a:noFill/>
        </p:spPr>
        <p:txBody>
          <a:bodyPr wrap="square" rtlCol="0">
            <a:spAutoFit/>
          </a:bodyPr>
          <a:lstStyle/>
          <a:p>
            <a:pPr lvl="3">
              <a:spcAft>
                <a:spcPts val="600"/>
              </a:spcAft>
            </a:pPr>
            <a:r>
              <a:rPr lang="en-US" b="1" dirty="0"/>
              <a:t>	</a:t>
            </a:r>
            <a:endParaRPr lang="en-US" b="1"/>
          </a:p>
        </p:txBody>
      </p:sp>
    </p:spTree>
    <p:extLst>
      <p:ext uri="{BB962C8B-B14F-4D97-AF65-F5344CB8AC3E}">
        <p14:creationId xmlns:p14="http://schemas.microsoft.com/office/powerpoint/2010/main" val="140557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dirty="0">
                <a:solidFill>
                  <a:srgbClr val="FFFFFF"/>
                </a:solidFill>
                <a:latin typeface="+mj-lt"/>
                <a:ea typeface="+mj-ea"/>
                <a:cs typeface="+mj-cs"/>
              </a:rPr>
              <a:t>Package manager</a:t>
            </a:r>
          </a:p>
        </p:txBody>
      </p:sp>
      <p:sp>
        <p:nvSpPr>
          <p:cNvPr id="6" name="TextBox 5">
            <a:extLst>
              <a:ext uri="{FF2B5EF4-FFF2-40B4-BE49-F238E27FC236}">
                <a16:creationId xmlns:a16="http://schemas.microsoft.com/office/drawing/2014/main" id="{690F1E8B-7A28-EB48-8FF1-FED478526A26}"/>
              </a:ext>
            </a:extLst>
          </p:cNvPr>
          <p:cNvSpPr txBox="1"/>
          <p:nvPr/>
        </p:nvSpPr>
        <p:spPr>
          <a:xfrm>
            <a:off x="344513" y="1573619"/>
            <a:ext cx="8106149" cy="3253562"/>
          </a:xfrm>
          <a:prstGeom prst="rect">
            <a:avLst/>
          </a:prstGeom>
        </p:spPr>
        <p:txBody>
          <a:bodyPr vert="horz" lIns="91440" tIns="45720" rIns="91440" bIns="45720" rtlCol="0" anchor="ctr">
            <a:normAutofit/>
          </a:bodyPr>
          <a:lstStyle/>
          <a:p>
            <a:pPr marL="342900" indent="-228600">
              <a:lnSpc>
                <a:spcPct val="90000"/>
              </a:lnSpc>
              <a:spcAft>
                <a:spcPts val="600"/>
              </a:spcAft>
              <a:buFont typeface="Arial" panose="020B0604020202020204" pitchFamily="34" charset="0"/>
              <a:buChar char="•"/>
            </a:pPr>
            <a:r>
              <a:rPr lang="en-US" sz="2400" b="1" kern="1200" dirty="0">
                <a:solidFill>
                  <a:srgbClr val="00B0F0"/>
                </a:solidFill>
                <a:latin typeface="+mn-lt"/>
                <a:ea typeface="+mn-ea"/>
                <a:cs typeface="+mn-cs"/>
              </a:rPr>
              <a:t>Package manager </a:t>
            </a:r>
            <a:r>
              <a:rPr lang="en-US" sz="2400" kern="1200" dirty="0">
                <a:solidFill>
                  <a:schemeClr val="tx1"/>
                </a:solidFill>
                <a:latin typeface="+mn-lt"/>
                <a:ea typeface="+mn-ea"/>
                <a:cs typeface="+mn-cs"/>
              </a:rPr>
              <a:t>is a system that will manage your project dependencies.</a:t>
            </a:r>
          </a:p>
          <a:p>
            <a:pPr marL="342900"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The package manager will provide a method to install new dependencies (also referred to as "packages"), manage where packages are stored on your file system, and offer capabilities for you to publish your own packages.</a:t>
            </a:r>
          </a:p>
          <a:p>
            <a:pPr marL="342900"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Popular package managers include </a:t>
            </a:r>
            <a:r>
              <a:rPr lang="en-US" sz="2400" b="1" kern="1200" dirty="0">
                <a:solidFill>
                  <a:schemeClr val="tx1"/>
                </a:solidFill>
                <a:latin typeface="+mn-lt"/>
                <a:ea typeface="+mn-ea"/>
                <a:cs typeface="+mn-cs"/>
              </a:rPr>
              <a:t>NPM, PNPM</a:t>
            </a:r>
            <a:r>
              <a:rPr lang="en-US" sz="2400" kern="1200" dirty="0">
                <a:solidFill>
                  <a:schemeClr val="tx1"/>
                </a:solidFill>
                <a:latin typeface="+mn-lt"/>
                <a:ea typeface="+mn-ea"/>
                <a:cs typeface="+mn-cs"/>
              </a:rPr>
              <a:t> &amp; </a:t>
            </a:r>
            <a:r>
              <a:rPr lang="en-US" sz="2400" b="1" kern="1200" dirty="0">
                <a:solidFill>
                  <a:schemeClr val="tx1"/>
                </a:solidFill>
                <a:latin typeface="+mn-lt"/>
                <a:ea typeface="+mn-ea"/>
                <a:cs typeface="+mn-cs"/>
              </a:rPr>
              <a:t>YARN</a:t>
            </a:r>
          </a:p>
        </p:txBody>
      </p:sp>
      <p:sp>
        <p:nvSpPr>
          <p:cNvPr id="5" name="TextBox 4">
            <a:extLst>
              <a:ext uri="{FF2B5EF4-FFF2-40B4-BE49-F238E27FC236}">
                <a16:creationId xmlns:a16="http://schemas.microsoft.com/office/drawing/2014/main" id="{690F1E8B-7A28-EB48-8FF1-FED478526A26}"/>
              </a:ext>
            </a:extLst>
          </p:cNvPr>
          <p:cNvSpPr txBox="1"/>
          <p:nvPr/>
        </p:nvSpPr>
        <p:spPr>
          <a:xfrm>
            <a:off x="298378" y="896183"/>
            <a:ext cx="8547243" cy="307777"/>
          </a:xfrm>
          <a:prstGeom prst="rect">
            <a:avLst/>
          </a:prstGeom>
          <a:noFill/>
        </p:spPr>
        <p:txBody>
          <a:bodyPr wrap="square" rtlCol="0">
            <a:spAutoFit/>
          </a:bodyPr>
          <a:lstStyle/>
          <a:p>
            <a:pPr lvl="3">
              <a:spcAft>
                <a:spcPts val="600"/>
              </a:spcAft>
            </a:pPr>
            <a:r>
              <a:rPr lang="en-US" b="1" dirty="0"/>
              <a:t>	</a:t>
            </a:r>
            <a:endParaRPr lang="en-US" b="1"/>
          </a:p>
        </p:txBody>
      </p:sp>
    </p:spTree>
    <p:extLst>
      <p:ext uri="{BB962C8B-B14F-4D97-AF65-F5344CB8AC3E}">
        <p14:creationId xmlns:p14="http://schemas.microsoft.com/office/powerpoint/2010/main" val="1187932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dirty="0">
                <a:solidFill>
                  <a:srgbClr val="FFFFFF"/>
                </a:solidFill>
                <a:latin typeface="+mj-lt"/>
                <a:ea typeface="+mj-ea"/>
                <a:cs typeface="+mj-cs"/>
              </a:rPr>
              <a:t>Creating a React Project (Modern Way)</a:t>
            </a:r>
          </a:p>
        </p:txBody>
      </p:sp>
      <p:sp>
        <p:nvSpPr>
          <p:cNvPr id="6" name="TextBox 5">
            <a:extLst>
              <a:ext uri="{FF2B5EF4-FFF2-40B4-BE49-F238E27FC236}">
                <a16:creationId xmlns:a16="http://schemas.microsoft.com/office/drawing/2014/main" id="{690F1E8B-7A28-EB48-8FF1-FED478526A26}"/>
              </a:ext>
            </a:extLst>
          </p:cNvPr>
          <p:cNvSpPr txBox="1"/>
          <p:nvPr/>
        </p:nvSpPr>
        <p:spPr>
          <a:xfrm>
            <a:off x="344513" y="1493103"/>
            <a:ext cx="8239506" cy="3429493"/>
          </a:xfrm>
          <a:prstGeom prst="rect">
            <a:avLst/>
          </a:prstGeom>
        </p:spPr>
        <p:txBody>
          <a:bodyPr vert="horz" lIns="91440" tIns="45720" rIns="91440" bIns="45720" rtlCol="0" anchor="ctr">
            <a:normAutofit/>
          </a:bodyPr>
          <a:lstStyle/>
          <a:p>
            <a:pPr marL="342900" indent="-228600">
              <a:lnSpc>
                <a:spcPct val="90000"/>
              </a:lnSpc>
              <a:spcAft>
                <a:spcPts val="600"/>
              </a:spcAft>
              <a:buFont typeface="Arial" panose="020B0604020202020204" pitchFamily="34" charset="0"/>
              <a:buChar char="•"/>
            </a:pPr>
            <a:r>
              <a:rPr lang="en-US" sz="2400" kern="1200" dirty="0">
                <a:solidFill>
                  <a:srgbClr val="C00000"/>
                </a:solidFill>
                <a:latin typeface="+mn-lt"/>
                <a:ea typeface="+mn-ea"/>
                <a:cs typeface="+mn-cs"/>
              </a:rPr>
              <a:t>Do NOT use Create React App (deprecated).</a:t>
            </a:r>
          </a:p>
          <a:p>
            <a:pPr marL="342900" indent="-228600">
              <a:lnSpc>
                <a:spcPct val="90000"/>
              </a:lnSpc>
              <a:spcAft>
                <a:spcPts val="600"/>
              </a:spcAft>
              <a:buFont typeface="Arial" panose="020B0604020202020204" pitchFamily="34" charset="0"/>
              <a:buChar char="•"/>
            </a:pPr>
            <a:r>
              <a:rPr lang="en-US" sz="2400" kern="1200" dirty="0">
                <a:solidFill>
                  <a:srgbClr val="00B0F0"/>
                </a:solidFill>
                <a:latin typeface="+mn-lt"/>
                <a:ea typeface="+mn-ea"/>
                <a:cs typeface="+mn-cs"/>
              </a:rPr>
              <a:t>Use Vite.</a:t>
            </a:r>
            <a:endParaRPr lang="en-US" sz="2400" kern="1200" dirty="0">
              <a:solidFill>
                <a:schemeClr val="tx1"/>
              </a:solidFill>
              <a:latin typeface="+mn-lt"/>
              <a:ea typeface="+mn-ea"/>
              <a:cs typeface="+mn-cs"/>
            </a:endParaRPr>
          </a:p>
          <a:p>
            <a:pPr marL="342900"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If you've ever felt that </a:t>
            </a:r>
            <a:r>
              <a:rPr lang="en-US" sz="2400" b="1" kern="1200" dirty="0">
                <a:solidFill>
                  <a:schemeClr val="tx1"/>
                </a:solidFill>
                <a:latin typeface="+mn-lt"/>
                <a:ea typeface="+mn-ea"/>
                <a:cs typeface="+mn-cs"/>
              </a:rPr>
              <a:t>create-react-app</a:t>
            </a:r>
            <a:r>
              <a:rPr lang="en-US" sz="2400" kern="1200" dirty="0">
                <a:solidFill>
                  <a:schemeClr val="tx1"/>
                </a:solidFill>
                <a:latin typeface="+mn-lt"/>
                <a:ea typeface="+mn-ea"/>
                <a:cs typeface="+mn-cs"/>
              </a:rPr>
              <a:t> takes too long to set up or runs a bit slow, you're not alone. That's where </a:t>
            </a:r>
            <a:r>
              <a:rPr lang="en-US" sz="2400" b="1" kern="1200" dirty="0">
                <a:solidFill>
                  <a:schemeClr val="tx1"/>
                </a:solidFill>
                <a:latin typeface="+mn-lt"/>
                <a:ea typeface="+mn-ea"/>
                <a:cs typeface="+mn-cs"/>
              </a:rPr>
              <a:t>Vite</a:t>
            </a:r>
            <a:r>
              <a:rPr lang="en-US" sz="2400" kern="1200" dirty="0">
                <a:solidFill>
                  <a:schemeClr val="tx1"/>
                </a:solidFill>
                <a:latin typeface="+mn-lt"/>
                <a:ea typeface="+mn-ea"/>
                <a:cs typeface="+mn-cs"/>
              </a:rPr>
              <a:t> comes in.</a:t>
            </a:r>
          </a:p>
          <a:p>
            <a:pPr marL="342900" indent="-228600">
              <a:lnSpc>
                <a:spcPct val="90000"/>
              </a:lnSpc>
              <a:spcAft>
                <a:spcPts val="600"/>
              </a:spcAft>
              <a:buFont typeface="Arial" panose="020B0604020202020204" pitchFamily="34" charset="0"/>
              <a:buChar char="•"/>
            </a:pPr>
            <a:r>
              <a:rPr lang="en-US" sz="2400" kern="1200" dirty="0">
                <a:solidFill>
                  <a:srgbClr val="00B0F0"/>
                </a:solidFill>
                <a:latin typeface="+mn-lt"/>
                <a:ea typeface="+mn-ea"/>
                <a:cs typeface="+mn-cs"/>
              </a:rPr>
              <a:t>Vite</a:t>
            </a:r>
            <a:r>
              <a:rPr lang="en-US" sz="2400" kern="1200" dirty="0">
                <a:solidFill>
                  <a:schemeClr val="tx1"/>
                </a:solidFill>
                <a:latin typeface="+mn-lt"/>
                <a:ea typeface="+mn-ea"/>
                <a:cs typeface="+mn-cs"/>
              </a:rPr>
              <a:t> (French word for "quick", pronounced like "</a:t>
            </a:r>
            <a:r>
              <a:rPr lang="en-US" sz="2400" kern="1200" dirty="0" err="1">
                <a:solidFill>
                  <a:schemeClr val="tx1"/>
                </a:solidFill>
                <a:latin typeface="+mn-lt"/>
                <a:ea typeface="+mn-ea"/>
                <a:cs typeface="+mn-cs"/>
              </a:rPr>
              <a:t>veet</a:t>
            </a:r>
            <a:r>
              <a:rPr lang="en-US" sz="2400" kern="1200" dirty="0">
                <a:solidFill>
                  <a:schemeClr val="tx1"/>
                </a:solidFill>
                <a:latin typeface="+mn-lt"/>
                <a:ea typeface="+mn-ea"/>
                <a:cs typeface="+mn-cs"/>
              </a:rPr>
              <a:t>") is a tool that allows us to create and run light to mid-sized React applications. </a:t>
            </a:r>
          </a:p>
          <a:p>
            <a:pPr marL="342900" indent="-228600">
              <a:lnSpc>
                <a:spcPct val="90000"/>
              </a:lnSpc>
              <a:spcAft>
                <a:spcPts val="600"/>
              </a:spcAft>
              <a:buFont typeface="Arial" panose="020B0604020202020204" pitchFamily="34" charset="0"/>
              <a:buChar char="•"/>
            </a:pPr>
            <a:endParaRPr lang="en-US" sz="2400" kern="1200" dirty="0">
              <a:solidFill>
                <a:schemeClr val="tx1"/>
              </a:solidFill>
              <a:latin typeface="+mn-lt"/>
              <a:ea typeface="+mn-ea"/>
              <a:cs typeface="+mn-cs"/>
            </a:endParaRPr>
          </a:p>
        </p:txBody>
      </p:sp>
      <p:sp>
        <p:nvSpPr>
          <p:cNvPr id="5" name="TextBox 4">
            <a:extLst>
              <a:ext uri="{FF2B5EF4-FFF2-40B4-BE49-F238E27FC236}">
                <a16:creationId xmlns:a16="http://schemas.microsoft.com/office/drawing/2014/main" id="{690F1E8B-7A28-EB48-8FF1-FED478526A26}"/>
              </a:ext>
            </a:extLst>
          </p:cNvPr>
          <p:cNvSpPr txBox="1"/>
          <p:nvPr/>
        </p:nvSpPr>
        <p:spPr>
          <a:xfrm>
            <a:off x="298378" y="896183"/>
            <a:ext cx="8547243" cy="307777"/>
          </a:xfrm>
          <a:prstGeom prst="rect">
            <a:avLst/>
          </a:prstGeom>
          <a:noFill/>
        </p:spPr>
        <p:txBody>
          <a:bodyPr wrap="square" rtlCol="0">
            <a:spAutoFit/>
          </a:bodyPr>
          <a:lstStyle/>
          <a:p>
            <a:pPr lvl="3">
              <a:spcAft>
                <a:spcPts val="600"/>
              </a:spcAft>
            </a:pPr>
            <a:r>
              <a:rPr lang="en-US" b="1"/>
              <a:t>	</a:t>
            </a:r>
          </a:p>
        </p:txBody>
      </p:sp>
      <p:pic>
        <p:nvPicPr>
          <p:cNvPr id="3" name="Picture 2">
            <a:extLst>
              <a:ext uri="{FF2B5EF4-FFF2-40B4-BE49-F238E27FC236}">
                <a16:creationId xmlns:a16="http://schemas.microsoft.com/office/drawing/2014/main" id="{0FF8184F-1268-E98D-C67B-8D9F9E9D745B}"/>
              </a:ext>
            </a:extLst>
          </p:cNvPr>
          <p:cNvPicPr>
            <a:picLocks noChangeAspect="1"/>
          </p:cNvPicPr>
          <p:nvPr/>
        </p:nvPicPr>
        <p:blipFill>
          <a:blip r:embed="rId3"/>
          <a:stretch>
            <a:fillRect/>
          </a:stretch>
        </p:blipFill>
        <p:spPr>
          <a:xfrm>
            <a:off x="7691751" y="-79148"/>
            <a:ext cx="1351349" cy="1351349"/>
          </a:xfrm>
          <a:prstGeom prst="rect">
            <a:avLst/>
          </a:prstGeom>
        </p:spPr>
      </p:pic>
    </p:spTree>
    <p:extLst>
      <p:ext uri="{BB962C8B-B14F-4D97-AF65-F5344CB8AC3E}">
        <p14:creationId xmlns:p14="http://schemas.microsoft.com/office/powerpoint/2010/main" val="3754988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8D4D91-3615-ACFB-399A-83ED164B44D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D51171-DD1E-5E3F-F11D-289C76FFFCE4}"/>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dirty="0">
                <a:solidFill>
                  <a:srgbClr val="FFFFFF"/>
                </a:solidFill>
                <a:latin typeface="+mj-lt"/>
                <a:ea typeface="+mj-ea"/>
                <a:cs typeface="+mj-cs"/>
              </a:rPr>
              <a:t>Creating a React Project (Modern Way)</a:t>
            </a:r>
          </a:p>
        </p:txBody>
      </p:sp>
      <p:sp>
        <p:nvSpPr>
          <p:cNvPr id="6" name="TextBox 5">
            <a:extLst>
              <a:ext uri="{FF2B5EF4-FFF2-40B4-BE49-F238E27FC236}">
                <a16:creationId xmlns:a16="http://schemas.microsoft.com/office/drawing/2014/main" id="{9DED4720-927F-A268-8CB5-C3A10483889E}"/>
              </a:ext>
            </a:extLst>
          </p:cNvPr>
          <p:cNvSpPr txBox="1"/>
          <p:nvPr/>
        </p:nvSpPr>
        <p:spPr>
          <a:xfrm>
            <a:off x="344512" y="1413958"/>
            <a:ext cx="8435103" cy="3598054"/>
          </a:xfrm>
          <a:prstGeom prst="rect">
            <a:avLst/>
          </a:prstGeom>
        </p:spPr>
        <p:txBody>
          <a:bodyPr vert="horz" lIns="91440" tIns="45720" rIns="91440" bIns="45720" rtlCol="0" anchor="ctr">
            <a:normAutofit fontScale="92500" lnSpcReduction="10000"/>
          </a:bodyPr>
          <a:lstStyle/>
          <a:p>
            <a:pPr marR="0" lvl="0" algn="l" defTabSz="914400" rtl="0" eaLnBrk="1" fontAlgn="auto" latinLnBrk="0" hangingPunct="1">
              <a:lnSpc>
                <a:spcPct val="100000"/>
              </a:lnSpc>
              <a:spcBef>
                <a:spcPts val="0"/>
              </a:spcBef>
              <a:spcAft>
                <a:spcPts val="0"/>
              </a:spcAft>
              <a:buClr>
                <a:srgbClr val="000000"/>
              </a:buClr>
              <a:buSzTx/>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Setting up a React project with Vite is straightforward and efficient: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1" i="0" u="none" strike="noStrike" kern="0" cap="none" spc="0" normalizeH="0" baseline="0" noProof="0" dirty="0">
                <a:ln>
                  <a:noFill/>
                </a:ln>
                <a:solidFill>
                  <a:srgbClr val="000000"/>
                </a:solidFill>
                <a:effectLst/>
                <a:uLnTx/>
                <a:uFillTx/>
                <a:latin typeface="Aptos" panose="02110004020202020204"/>
                <a:cs typeface="Arial"/>
                <a:sym typeface="Arial"/>
              </a:rPr>
              <a:t>Step 1: Install Node.js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1" i="0" u="none" strike="noStrike" kern="0" cap="none" spc="0" normalizeH="0" baseline="0" noProof="0" dirty="0">
                <a:ln>
                  <a:noFill/>
                </a:ln>
                <a:solidFill>
                  <a:srgbClr val="000000"/>
                </a:solidFill>
                <a:effectLst/>
                <a:uLnTx/>
                <a:uFillTx/>
                <a:latin typeface="Aptos" panose="02110004020202020204"/>
                <a:cs typeface="Arial"/>
                <a:sym typeface="Arial"/>
              </a:rPr>
              <a:t>Step 2: Create the Project:</a:t>
            </a:r>
            <a:endPar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endParaRPr>
          </a:p>
          <a:p>
            <a:pPr marL="558900" marR="0" lvl="1"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err="1">
                <a:ln>
                  <a:noFill/>
                </a:ln>
                <a:solidFill>
                  <a:srgbClr val="00B0F0"/>
                </a:solidFill>
                <a:effectLst/>
                <a:uLnTx/>
                <a:uFillTx/>
                <a:latin typeface="Aptos" panose="02110004020202020204"/>
                <a:cs typeface="Arial"/>
                <a:sym typeface="Arial"/>
              </a:rPr>
              <a:t>npm</a:t>
            </a:r>
            <a:r>
              <a:rPr kumimoji="0" lang="en-GB" sz="2000" b="0" i="0" u="none" strike="noStrike" kern="0" cap="none" spc="0" normalizeH="0" baseline="0" noProof="0" dirty="0">
                <a:ln>
                  <a:noFill/>
                </a:ln>
                <a:solidFill>
                  <a:srgbClr val="00B0F0"/>
                </a:solidFill>
                <a:effectLst/>
                <a:uLnTx/>
                <a:uFillTx/>
                <a:latin typeface="Aptos" panose="02110004020202020204"/>
                <a:cs typeface="Arial"/>
                <a:sym typeface="Arial"/>
              </a:rPr>
              <a:t> create </a:t>
            </a:r>
            <a:r>
              <a:rPr kumimoji="0" lang="en-GB" sz="2000" b="0" i="0" u="none" strike="noStrike" kern="0" cap="none" spc="0" normalizeH="0" baseline="0" noProof="0" dirty="0" err="1">
                <a:ln>
                  <a:noFill/>
                </a:ln>
                <a:solidFill>
                  <a:srgbClr val="00B0F0"/>
                </a:solidFill>
                <a:effectLst/>
                <a:uLnTx/>
                <a:uFillTx/>
                <a:latin typeface="Aptos" panose="02110004020202020204"/>
                <a:cs typeface="Arial"/>
                <a:sym typeface="Arial"/>
              </a:rPr>
              <a:t>vite@latest</a:t>
            </a:r>
            <a:r>
              <a:rPr kumimoji="0" lang="en-GB" sz="2000" b="0" i="0" u="none" strike="noStrike" kern="0" cap="none" spc="0" normalizeH="0" baseline="0" noProof="0" dirty="0">
                <a:ln>
                  <a:noFill/>
                </a:ln>
                <a:solidFill>
                  <a:srgbClr val="00B0F0"/>
                </a:solidFill>
                <a:effectLst/>
                <a:uLnTx/>
                <a:uFillTx/>
                <a:latin typeface="Aptos" panose="02110004020202020204"/>
                <a:cs typeface="Arial"/>
                <a:sym typeface="Arial"/>
              </a:rPr>
              <a:t> my-react-app</a:t>
            </a:r>
          </a:p>
          <a:p>
            <a:pPr marL="558900" marR="0" lvl="1"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Replace</a:t>
            </a:r>
            <a:r>
              <a:rPr kumimoji="0" lang="en-GB" sz="2000" b="0" i="1" u="none" strike="noStrike" kern="0" cap="none" spc="0" normalizeH="0" baseline="0" noProof="0" dirty="0">
                <a:ln>
                  <a:noFill/>
                </a:ln>
                <a:solidFill>
                  <a:srgbClr val="000000"/>
                </a:solidFill>
                <a:effectLst/>
                <a:uLnTx/>
                <a:uFillTx/>
                <a:latin typeface="Aptos" panose="02110004020202020204"/>
                <a:cs typeface="Arial"/>
                <a:sym typeface="Arial"/>
              </a:rPr>
              <a:t> my-react-app </a:t>
            </a: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with your preferred project name. This will start an interactive setup.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1" i="0" u="none" strike="noStrike" kern="0" cap="none" spc="0" normalizeH="0" baseline="0" noProof="0" dirty="0">
                <a:ln>
                  <a:noFill/>
                </a:ln>
                <a:solidFill>
                  <a:srgbClr val="000000"/>
                </a:solidFill>
                <a:effectLst/>
                <a:uLnTx/>
                <a:uFillTx/>
                <a:latin typeface="Aptos" panose="02110004020202020204"/>
                <a:cs typeface="Arial"/>
                <a:sym typeface="Arial"/>
              </a:rPr>
              <a:t>Step 3: Select Framework:</a:t>
            </a:r>
            <a:endPar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When prompted, choose:</a:t>
            </a:r>
          </a:p>
          <a:p>
            <a:pPr marL="34290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React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1" i="0" u="none" strike="noStrike" kern="0" cap="none" spc="0" normalizeH="0" baseline="0" noProof="0" dirty="0">
                <a:ln>
                  <a:noFill/>
                </a:ln>
                <a:solidFill>
                  <a:srgbClr val="000000"/>
                </a:solidFill>
                <a:effectLst/>
                <a:uLnTx/>
                <a:uFillTx/>
                <a:latin typeface="Aptos" panose="02110004020202020204"/>
                <a:cs typeface="Arial"/>
                <a:sym typeface="Arial"/>
              </a:rPr>
              <a:t>Step 4: Choose Variant: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Select either:</a:t>
            </a:r>
          </a:p>
          <a:p>
            <a:pPr marL="34290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JavaScript (React)</a:t>
            </a:r>
          </a:p>
          <a:p>
            <a:pPr marL="34290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TypeScript (React + TS) Choose based on your project requirements.</a:t>
            </a:r>
          </a:p>
        </p:txBody>
      </p:sp>
    </p:spTree>
    <p:extLst>
      <p:ext uri="{BB962C8B-B14F-4D97-AF65-F5344CB8AC3E}">
        <p14:creationId xmlns:p14="http://schemas.microsoft.com/office/powerpoint/2010/main" val="2494744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D88791-6CCA-D7B8-6694-6FAA10140EC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CA2759-787E-9720-24D7-DFCB38C20133}"/>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r>
              <a:rPr lang="en-US" sz="3000" kern="1200">
                <a:solidFill>
                  <a:srgbClr val="FFFFFF"/>
                </a:solidFill>
                <a:latin typeface="+mj-lt"/>
                <a:ea typeface="+mj-ea"/>
                <a:cs typeface="+mj-cs"/>
              </a:rPr>
              <a:t>Creating a React Project (Modern Way)</a:t>
            </a:r>
          </a:p>
        </p:txBody>
      </p:sp>
      <p:sp>
        <p:nvSpPr>
          <p:cNvPr id="6" name="TextBox 5">
            <a:extLst>
              <a:ext uri="{FF2B5EF4-FFF2-40B4-BE49-F238E27FC236}">
                <a16:creationId xmlns:a16="http://schemas.microsoft.com/office/drawing/2014/main" id="{1B9AA083-586C-6F7A-21D1-D8CE467DB3B0}"/>
              </a:ext>
            </a:extLst>
          </p:cNvPr>
          <p:cNvSpPr txBox="1"/>
          <p:nvPr/>
        </p:nvSpPr>
        <p:spPr>
          <a:xfrm>
            <a:off x="398761" y="1340662"/>
            <a:ext cx="8446860" cy="3636973"/>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1" i="0" u="none" strike="noStrike" kern="0" cap="none" spc="0" normalizeH="0" baseline="0" noProof="0" dirty="0">
                <a:ln>
                  <a:noFill/>
                </a:ln>
                <a:solidFill>
                  <a:srgbClr val="000000"/>
                </a:solidFill>
                <a:effectLst/>
                <a:uLnTx/>
                <a:uFillTx/>
                <a:latin typeface="Aptos" panose="02110004020202020204"/>
                <a:cs typeface="Arial"/>
                <a:sym typeface="Arial"/>
              </a:rPr>
              <a:t>Step 5: Navigate to Project Folder:</a:t>
            </a:r>
            <a:endPar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endParaRPr>
          </a:p>
          <a:p>
            <a:pPr marL="34290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a:ln>
                  <a:noFill/>
                </a:ln>
                <a:solidFill>
                  <a:srgbClr val="00B0F0"/>
                </a:solidFill>
                <a:effectLst/>
                <a:uLnTx/>
                <a:uFillTx/>
                <a:latin typeface="Aptos" panose="02110004020202020204"/>
                <a:cs typeface="Arial"/>
                <a:sym typeface="Arial"/>
              </a:rPr>
              <a:t>cd my-react-app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1" i="0" u="none" strike="noStrike" kern="0" cap="none" spc="0" normalizeH="0" baseline="0" noProof="0" dirty="0">
                <a:ln>
                  <a:noFill/>
                </a:ln>
                <a:solidFill>
                  <a:srgbClr val="000000"/>
                </a:solidFill>
                <a:effectLst/>
                <a:uLnTx/>
                <a:uFillTx/>
                <a:latin typeface="Aptos" panose="02110004020202020204"/>
                <a:cs typeface="Arial"/>
                <a:sym typeface="Arial"/>
              </a:rPr>
              <a:t>Step 6: Install Dependencies:</a:t>
            </a:r>
            <a:endPar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endParaRPr>
          </a:p>
          <a:p>
            <a:pPr marL="34290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err="1">
                <a:ln>
                  <a:noFill/>
                </a:ln>
                <a:solidFill>
                  <a:srgbClr val="00B0F0"/>
                </a:solidFill>
                <a:effectLst/>
                <a:uLnTx/>
                <a:uFillTx/>
                <a:latin typeface="Aptos" panose="02110004020202020204"/>
                <a:cs typeface="Arial"/>
                <a:sym typeface="Arial"/>
              </a:rPr>
              <a:t>npm</a:t>
            </a:r>
            <a:r>
              <a:rPr kumimoji="0" lang="en-GB" sz="2000" b="0" i="0" u="none" strike="noStrike" kern="0" cap="none" spc="0" normalizeH="0" baseline="0" noProof="0" dirty="0">
                <a:ln>
                  <a:noFill/>
                </a:ln>
                <a:solidFill>
                  <a:srgbClr val="00B0F0"/>
                </a:solidFill>
                <a:effectLst/>
                <a:uLnTx/>
                <a:uFillTx/>
                <a:latin typeface="Aptos" panose="02110004020202020204"/>
                <a:cs typeface="Arial"/>
                <a:sym typeface="Arial"/>
              </a:rPr>
              <a:t> install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This installs all required packages listed in </a:t>
            </a:r>
            <a:r>
              <a:rPr kumimoji="0" lang="en-GB" sz="2000" b="0" i="0" u="none" strike="noStrike" kern="0" cap="none" spc="0" normalizeH="0" baseline="0" noProof="0" dirty="0" err="1">
                <a:ln>
                  <a:noFill/>
                </a:ln>
                <a:solidFill>
                  <a:srgbClr val="000000"/>
                </a:solidFill>
                <a:effectLst/>
                <a:uLnTx/>
                <a:uFillTx/>
                <a:latin typeface="Aptos" panose="02110004020202020204"/>
                <a:cs typeface="Arial"/>
                <a:sym typeface="Arial"/>
              </a:rPr>
              <a:t>package.json</a:t>
            </a: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1" i="0" u="none" strike="noStrike" kern="0" cap="none" spc="0" normalizeH="0" baseline="0" noProof="0" dirty="0">
                <a:ln>
                  <a:noFill/>
                </a:ln>
                <a:solidFill>
                  <a:srgbClr val="000000"/>
                </a:solidFill>
                <a:effectLst/>
                <a:uLnTx/>
                <a:uFillTx/>
                <a:latin typeface="Aptos" panose="02110004020202020204"/>
                <a:cs typeface="Arial"/>
                <a:sym typeface="Arial"/>
              </a:rPr>
              <a:t>Step 7: Start Development Server:</a:t>
            </a:r>
            <a:endPar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endParaRPr>
          </a:p>
          <a:p>
            <a:pPr marL="342900" marR="0" lvl="2"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err="1">
                <a:ln>
                  <a:noFill/>
                </a:ln>
                <a:solidFill>
                  <a:srgbClr val="00B0F0"/>
                </a:solidFill>
                <a:effectLst/>
                <a:uLnTx/>
                <a:uFillTx/>
                <a:latin typeface="Aptos" panose="02110004020202020204"/>
                <a:cs typeface="Arial"/>
                <a:sym typeface="Arial"/>
              </a:rPr>
              <a:t>npm</a:t>
            </a:r>
            <a:r>
              <a:rPr kumimoji="0" lang="en-GB" sz="2000" b="0" i="0" u="none" strike="noStrike" kern="0" cap="none" spc="0" normalizeH="0" baseline="0" noProof="0" dirty="0">
                <a:ln>
                  <a:noFill/>
                </a:ln>
                <a:solidFill>
                  <a:srgbClr val="00B0F0"/>
                </a:solidFill>
                <a:effectLst/>
                <a:uLnTx/>
                <a:uFillTx/>
                <a:latin typeface="Aptos" panose="02110004020202020204"/>
                <a:cs typeface="Arial"/>
                <a:sym typeface="Arial"/>
              </a:rPr>
              <a:t> run dev</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You’ll see output similar to:</a:t>
            </a:r>
          </a:p>
          <a:p>
            <a:pPr marL="34290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a:ln>
                  <a:noFill/>
                </a:ln>
                <a:solidFill>
                  <a:srgbClr val="00B0F0"/>
                </a:solidFill>
                <a:effectLst/>
                <a:uLnTx/>
                <a:uFillTx/>
                <a:latin typeface="Aptos" panose="02110004020202020204"/>
                <a:cs typeface="Arial"/>
                <a:sym typeface="Arial"/>
              </a:rPr>
              <a:t>Local: </a:t>
            </a:r>
            <a:r>
              <a:rPr kumimoji="0" lang="en-GB" sz="2000" b="0" i="0" u="none" strike="noStrike" kern="0" cap="none" spc="0" normalizeH="0" baseline="0" noProof="0" dirty="0">
                <a:ln>
                  <a:noFill/>
                </a:ln>
                <a:solidFill>
                  <a:srgbClr val="00B0F0"/>
                </a:solidFill>
                <a:effectLst/>
                <a:uLnTx/>
                <a:uFillTx/>
                <a:latin typeface="Aptos" panose="02110004020202020204"/>
                <a:cs typeface="Arial"/>
                <a:sym typeface="Arial"/>
                <a:hlinkClick r:id="rId3"/>
              </a:rPr>
              <a:t>http://localhost:5174/</a:t>
            </a:r>
            <a:endParaRPr kumimoji="0" lang="en-GB" sz="2000" b="0" i="0" u="none" strike="noStrike" kern="0" cap="none" spc="0" normalizeH="0" baseline="0" noProof="0" dirty="0">
              <a:ln>
                <a:noFill/>
              </a:ln>
              <a:solidFill>
                <a:srgbClr val="00B0F0"/>
              </a:solidFill>
              <a:effectLst/>
              <a:uLnTx/>
              <a:uFillTx/>
              <a:latin typeface="Aptos" panose="02110004020202020204"/>
              <a:cs typeface="Arial"/>
              <a:sym typeface="Arial"/>
            </a:endParaRPr>
          </a:p>
          <a:p>
            <a:pPr marL="34290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GB" sz="2000" b="0" i="0" u="none" strike="noStrike" kern="0" cap="none" spc="0" normalizeH="0" baseline="0" noProof="0" dirty="0">
                <a:ln>
                  <a:noFill/>
                </a:ln>
                <a:solidFill>
                  <a:srgbClr val="000000"/>
                </a:solidFill>
                <a:effectLst/>
                <a:uLnTx/>
                <a:uFillTx/>
                <a:latin typeface="Aptos" panose="02110004020202020204"/>
                <a:cs typeface="Arial"/>
                <a:sym typeface="Arial"/>
              </a:rPr>
              <a:t>Open this URL in your browser to view your React app running with Vite’s fast Hot Module Replacement (HMR).</a:t>
            </a:r>
          </a:p>
        </p:txBody>
      </p:sp>
      <p:sp>
        <p:nvSpPr>
          <p:cNvPr id="5" name="TextBox 4">
            <a:extLst>
              <a:ext uri="{FF2B5EF4-FFF2-40B4-BE49-F238E27FC236}">
                <a16:creationId xmlns:a16="http://schemas.microsoft.com/office/drawing/2014/main" id="{2248BE9C-1207-7F87-4BE5-F4263312B570}"/>
              </a:ext>
            </a:extLst>
          </p:cNvPr>
          <p:cNvSpPr txBox="1"/>
          <p:nvPr/>
        </p:nvSpPr>
        <p:spPr>
          <a:xfrm>
            <a:off x="298378" y="896183"/>
            <a:ext cx="8547243" cy="307777"/>
          </a:xfrm>
          <a:prstGeom prst="rect">
            <a:avLst/>
          </a:prstGeom>
          <a:noFill/>
        </p:spPr>
        <p:txBody>
          <a:bodyPr wrap="square" rtlCol="0">
            <a:spAutoFit/>
          </a:bodyPr>
          <a:lstStyle/>
          <a:p>
            <a:pPr lvl="3">
              <a:spcAft>
                <a:spcPts val="600"/>
              </a:spcAft>
            </a:pPr>
            <a:r>
              <a:rPr lang="en-US" b="1" dirty="0"/>
              <a:t>	</a:t>
            </a:r>
            <a:endParaRPr lang="en-US" b="1"/>
          </a:p>
        </p:txBody>
      </p:sp>
    </p:spTree>
    <p:extLst>
      <p:ext uri="{BB962C8B-B14F-4D97-AF65-F5344CB8AC3E}">
        <p14:creationId xmlns:p14="http://schemas.microsoft.com/office/powerpoint/2010/main" val="1067922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0F1E8B-7A28-EB48-8FF1-FED478526A26}"/>
              </a:ext>
            </a:extLst>
          </p:cNvPr>
          <p:cNvSpPr txBox="1"/>
          <p:nvPr/>
        </p:nvSpPr>
        <p:spPr>
          <a:xfrm>
            <a:off x="298378" y="840036"/>
            <a:ext cx="8547243" cy="307777"/>
          </a:xfrm>
          <a:prstGeom prst="rect">
            <a:avLst/>
          </a:prstGeom>
          <a:noFill/>
        </p:spPr>
        <p:txBody>
          <a:bodyPr wrap="square" rtlCol="0">
            <a:spAutoFit/>
          </a:bodyPr>
          <a:lstStyle/>
          <a:p>
            <a:pPr lvl="3"/>
            <a:r>
              <a:rPr lang="en-US" b="1"/>
              <a:t>	</a:t>
            </a:r>
            <a:endParaRPr lang="en-US" b="1" dirty="0"/>
          </a:p>
        </p:txBody>
      </p:sp>
      <p:pic>
        <p:nvPicPr>
          <p:cNvPr id="4100" name="Picture 4">
            <a:extLst>
              <a:ext uri="{FF2B5EF4-FFF2-40B4-BE49-F238E27FC236}">
                <a16:creationId xmlns:a16="http://schemas.microsoft.com/office/drawing/2014/main" id="{FF7675C4-3352-0263-5CB0-267106849D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6758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0BC8DE-9AF6-1B6E-9BEE-C9683E6A92A1}"/>
              </a:ext>
            </a:extLst>
          </p:cNvPr>
          <p:cNvPicPr>
            <a:picLocks noChangeAspect="1"/>
          </p:cNvPicPr>
          <p:nvPr/>
        </p:nvPicPr>
        <p:blipFill>
          <a:blip r:embed="rId3"/>
          <a:stretch>
            <a:fillRect/>
          </a:stretch>
        </p:blipFill>
        <p:spPr>
          <a:xfrm>
            <a:off x="-1" y="0"/>
            <a:ext cx="3178931" cy="515237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8D1E3386-AC52-6547-A5DF-FF2440AE4B6B}"/>
              </a:ext>
            </a:extLst>
          </p:cNvPr>
          <p:cNvSpPr>
            <a:spLocks noGrp="1"/>
          </p:cNvSpPr>
          <p:nvPr>
            <p:ph type="title"/>
          </p:nvPr>
        </p:nvSpPr>
        <p:spPr>
          <a:xfrm>
            <a:off x="3355024" y="193592"/>
            <a:ext cx="5579426" cy="649349"/>
          </a:xfrm>
        </p:spPr>
        <p:txBody>
          <a:bodyPr/>
          <a:lstStyle/>
          <a:p>
            <a:pPr algn="ctr"/>
            <a:r>
              <a:rPr lang="en-US" sz="2800" dirty="0">
                <a:solidFill>
                  <a:srgbClr val="000000"/>
                </a:solidFill>
                <a:latin typeface="+mn-lt"/>
              </a:rPr>
              <a:t>React Project folder structure</a:t>
            </a:r>
            <a:endParaRPr lang="x-none" sz="2800" dirty="0">
              <a:solidFill>
                <a:srgbClr val="000000"/>
              </a:solidFill>
              <a:latin typeface="+mn-lt"/>
            </a:endParaRPr>
          </a:p>
        </p:txBody>
      </p:sp>
      <p:cxnSp>
        <p:nvCxnSpPr>
          <p:cNvPr id="7" name="Straight Arrow Connector 6">
            <a:extLst>
              <a:ext uri="{FF2B5EF4-FFF2-40B4-BE49-F238E27FC236}">
                <a16:creationId xmlns:a16="http://schemas.microsoft.com/office/drawing/2014/main" id="{AB27884A-68F0-4DCE-BA5A-FD71B484C5C4}"/>
              </a:ext>
            </a:extLst>
          </p:cNvPr>
          <p:cNvCxnSpPr>
            <a:cxnSpLocks/>
          </p:cNvCxnSpPr>
          <p:nvPr/>
        </p:nvCxnSpPr>
        <p:spPr>
          <a:xfrm flipH="1" flipV="1">
            <a:off x="1367254" y="1490106"/>
            <a:ext cx="2407303" cy="847865"/>
          </a:xfrm>
          <a:prstGeom prst="straightConnector1">
            <a:avLst/>
          </a:prstGeom>
          <a:ln>
            <a:solidFill>
              <a:srgbClr val="00B0F0"/>
            </a:solidFill>
            <a:tailEnd type="triangle"/>
          </a:ln>
        </p:spPr>
        <p:style>
          <a:lnRef idx="3">
            <a:schemeClr val="accent4"/>
          </a:lnRef>
          <a:fillRef idx="0">
            <a:schemeClr val="accent4"/>
          </a:fillRef>
          <a:effectRef idx="2">
            <a:schemeClr val="accent4"/>
          </a:effectRef>
          <a:fontRef idx="minor">
            <a:schemeClr val="tx1"/>
          </a:fontRef>
        </p:style>
      </p:cxnSp>
      <p:cxnSp>
        <p:nvCxnSpPr>
          <p:cNvPr id="8" name="Straight Arrow Connector 7">
            <a:extLst>
              <a:ext uri="{FF2B5EF4-FFF2-40B4-BE49-F238E27FC236}">
                <a16:creationId xmlns:a16="http://schemas.microsoft.com/office/drawing/2014/main" id="{477C4D63-C325-464D-953B-FF5F1A4B2DA8}"/>
              </a:ext>
            </a:extLst>
          </p:cNvPr>
          <p:cNvCxnSpPr>
            <a:cxnSpLocks/>
          </p:cNvCxnSpPr>
          <p:nvPr/>
        </p:nvCxnSpPr>
        <p:spPr>
          <a:xfrm flipH="1" flipV="1">
            <a:off x="1094204" y="1941338"/>
            <a:ext cx="2675795" cy="994784"/>
          </a:xfrm>
          <a:prstGeom prst="straightConnector1">
            <a:avLst/>
          </a:prstGeom>
          <a:ln>
            <a:solidFill>
              <a:srgbClr val="00B0F0"/>
            </a:solidFill>
            <a:tailEnd type="triangle"/>
          </a:ln>
        </p:spPr>
        <p:style>
          <a:lnRef idx="3">
            <a:schemeClr val="accent4"/>
          </a:lnRef>
          <a:fillRef idx="0">
            <a:schemeClr val="accent4"/>
          </a:fillRef>
          <a:effectRef idx="2">
            <a:schemeClr val="accent4"/>
          </a:effectRef>
          <a:fontRef idx="minor">
            <a:schemeClr val="tx1"/>
          </a:fontRef>
        </p:style>
      </p:cxnSp>
      <p:cxnSp>
        <p:nvCxnSpPr>
          <p:cNvPr id="9" name="Straight Arrow Connector 8">
            <a:extLst>
              <a:ext uri="{FF2B5EF4-FFF2-40B4-BE49-F238E27FC236}">
                <a16:creationId xmlns:a16="http://schemas.microsoft.com/office/drawing/2014/main" id="{B3B1C556-6C01-448C-B0B3-719A2B443272}"/>
              </a:ext>
            </a:extLst>
          </p:cNvPr>
          <p:cNvCxnSpPr>
            <a:cxnSpLocks/>
          </p:cNvCxnSpPr>
          <p:nvPr/>
        </p:nvCxnSpPr>
        <p:spPr>
          <a:xfrm flipH="1" flipV="1">
            <a:off x="1762007" y="4467197"/>
            <a:ext cx="2003434" cy="164341"/>
          </a:xfrm>
          <a:prstGeom prst="straightConnector1">
            <a:avLst/>
          </a:prstGeom>
          <a:ln>
            <a:solidFill>
              <a:srgbClr val="00B0F0"/>
            </a:solidFill>
            <a:tailEnd type="triangle"/>
          </a:ln>
        </p:spPr>
        <p:style>
          <a:lnRef idx="3">
            <a:schemeClr val="accent4"/>
          </a:lnRef>
          <a:fillRef idx="0">
            <a:schemeClr val="accent4"/>
          </a:fillRef>
          <a:effectRef idx="2">
            <a:schemeClr val="accent4"/>
          </a:effectRef>
          <a:fontRef idx="minor">
            <a:schemeClr val="tx1"/>
          </a:fontRef>
        </p:style>
      </p:cxnSp>
      <p:sp>
        <p:nvSpPr>
          <p:cNvPr id="12" name="TextBox 11"/>
          <p:cNvSpPr txBox="1"/>
          <p:nvPr/>
        </p:nvSpPr>
        <p:spPr>
          <a:xfrm>
            <a:off x="3774557" y="2048530"/>
            <a:ext cx="5026542" cy="578882"/>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dirty="0">
                <a:solidFill>
                  <a:srgbClr val="000000"/>
                </a:solidFill>
                <a:latin typeface="+mn-lt"/>
              </a:rPr>
              <a:t>This directory contains the public assets of the project, like the index.html file</a:t>
            </a:r>
          </a:p>
        </p:txBody>
      </p:sp>
      <p:sp>
        <p:nvSpPr>
          <p:cNvPr id="13" name="TextBox 12"/>
          <p:cNvSpPr txBox="1"/>
          <p:nvPr/>
        </p:nvSpPr>
        <p:spPr>
          <a:xfrm>
            <a:off x="3765441" y="1327246"/>
            <a:ext cx="5035659" cy="578882"/>
          </a:xfrm>
          <a:prstGeom prst="flowChartAlternateProcess">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dirty="0">
                <a:solidFill>
                  <a:srgbClr val="000000"/>
                </a:solidFill>
              </a:rPr>
              <a:t>This directory contains all the dependencies and packages required for that project.</a:t>
            </a:r>
            <a:endParaRPr lang="en-US" dirty="0">
              <a:solidFill>
                <a:srgbClr val="000000"/>
              </a:solidFill>
              <a:latin typeface="+mn-lt"/>
            </a:endParaRPr>
          </a:p>
        </p:txBody>
      </p:sp>
      <p:cxnSp>
        <p:nvCxnSpPr>
          <p:cNvPr id="14" name="Straight Arrow Connector 13">
            <a:extLst>
              <a:ext uri="{FF2B5EF4-FFF2-40B4-BE49-F238E27FC236}">
                <a16:creationId xmlns:a16="http://schemas.microsoft.com/office/drawing/2014/main" id="{AB27884A-68F0-4DCE-BA5A-FD71B484C5C4}"/>
              </a:ext>
            </a:extLst>
          </p:cNvPr>
          <p:cNvCxnSpPr>
            <a:cxnSpLocks/>
            <a:stCxn id="13" idx="1"/>
          </p:cNvCxnSpPr>
          <p:nvPr/>
        </p:nvCxnSpPr>
        <p:spPr>
          <a:xfrm flipH="1" flipV="1">
            <a:off x="1985545" y="1154795"/>
            <a:ext cx="1779896" cy="461892"/>
          </a:xfrm>
          <a:prstGeom prst="straightConnector1">
            <a:avLst/>
          </a:prstGeom>
          <a:ln>
            <a:solidFill>
              <a:srgbClr val="00B0F0"/>
            </a:solidFill>
            <a:tailEnd type="triangle"/>
          </a:ln>
        </p:spPr>
        <p:style>
          <a:lnRef idx="3">
            <a:schemeClr val="accent4"/>
          </a:lnRef>
          <a:fillRef idx="0">
            <a:schemeClr val="accent4"/>
          </a:fillRef>
          <a:effectRef idx="2">
            <a:schemeClr val="accent4"/>
          </a:effectRef>
          <a:fontRef idx="minor">
            <a:schemeClr val="tx1"/>
          </a:fontRef>
        </p:style>
      </p:cxnSp>
      <p:sp>
        <p:nvSpPr>
          <p:cNvPr id="17" name="TextBox 16"/>
          <p:cNvSpPr txBox="1"/>
          <p:nvPr/>
        </p:nvSpPr>
        <p:spPr>
          <a:xfrm>
            <a:off x="3769999" y="2765862"/>
            <a:ext cx="5031101" cy="340519"/>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dirty="0">
                <a:solidFill>
                  <a:srgbClr val="000000"/>
                </a:solidFill>
                <a:latin typeface="+mn-lt"/>
              </a:rPr>
              <a:t>The source code of your React application resides here.</a:t>
            </a:r>
          </a:p>
        </p:txBody>
      </p:sp>
      <p:sp>
        <p:nvSpPr>
          <p:cNvPr id="18" name="TextBox 17"/>
          <p:cNvSpPr txBox="1"/>
          <p:nvPr/>
        </p:nvSpPr>
        <p:spPr>
          <a:xfrm>
            <a:off x="3797301" y="4374142"/>
            <a:ext cx="5003799" cy="578882"/>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US" dirty="0">
                <a:solidFill>
                  <a:srgbClr val="000000"/>
                </a:solidFill>
                <a:latin typeface="+mn-lt"/>
              </a:rPr>
              <a:t>This file contains metadata about the project and manages project dependencies.</a:t>
            </a:r>
          </a:p>
        </p:txBody>
      </p:sp>
      <p:sp>
        <p:nvSpPr>
          <p:cNvPr id="22" name="TextBox 21">
            <a:extLst>
              <a:ext uri="{FF2B5EF4-FFF2-40B4-BE49-F238E27FC236}">
                <a16:creationId xmlns:a16="http://schemas.microsoft.com/office/drawing/2014/main" id="{80B4F205-6573-0E14-12FB-120DD9350E17}"/>
              </a:ext>
            </a:extLst>
          </p:cNvPr>
          <p:cNvSpPr txBox="1"/>
          <p:nvPr/>
        </p:nvSpPr>
        <p:spPr>
          <a:xfrm>
            <a:off x="3769999" y="3334366"/>
            <a:ext cx="5031100" cy="81724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r>
              <a:rPr lang="en-US" sz="1400" dirty="0">
                <a:solidFill>
                  <a:srgbClr val="000000"/>
                </a:solidFill>
                <a:latin typeface="+mn-lt"/>
              </a:rPr>
              <a:t>This file displays all files and folders that shouldn’t be added to your git repository when using git, as such files and folders should be located only in your local project. </a:t>
            </a:r>
            <a:endParaRPr lang="en-GB" dirty="0">
              <a:solidFill>
                <a:srgbClr val="000000"/>
              </a:solidFill>
            </a:endParaRPr>
          </a:p>
        </p:txBody>
      </p:sp>
      <p:cxnSp>
        <p:nvCxnSpPr>
          <p:cNvPr id="25" name="Straight Arrow Connector 24">
            <a:extLst>
              <a:ext uri="{FF2B5EF4-FFF2-40B4-BE49-F238E27FC236}">
                <a16:creationId xmlns:a16="http://schemas.microsoft.com/office/drawing/2014/main" id="{DEC73676-0152-E8B4-5876-C1610EC9EDF8}"/>
              </a:ext>
            </a:extLst>
          </p:cNvPr>
          <p:cNvCxnSpPr>
            <a:cxnSpLocks/>
          </p:cNvCxnSpPr>
          <p:nvPr/>
        </p:nvCxnSpPr>
        <p:spPr>
          <a:xfrm flipH="1" flipV="1">
            <a:off x="1536700" y="3441700"/>
            <a:ext cx="2228741" cy="164341"/>
          </a:xfrm>
          <a:prstGeom prst="straightConnector1">
            <a:avLst/>
          </a:prstGeom>
          <a:ln>
            <a:solidFill>
              <a:srgbClr val="00B0F0"/>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046761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90F1E8B-7A28-EB48-8FF1-FED478526A26}"/>
              </a:ext>
            </a:extLst>
          </p:cNvPr>
          <p:cNvSpPr txBox="1"/>
          <p:nvPr/>
        </p:nvSpPr>
        <p:spPr>
          <a:xfrm>
            <a:off x="581247" y="1142813"/>
            <a:ext cx="4657060" cy="3312919"/>
          </a:xfrm>
          <a:prstGeom prst="rect">
            <a:avLst/>
          </a:prstGeom>
        </p:spPr>
        <p:txBody>
          <a:bodyPr vert="horz" lIns="91440" tIns="45720" rIns="91440" bIns="45720" rtlCol="0" anchor="t">
            <a:normAutofit/>
          </a:bodyPr>
          <a:lstStyle/>
          <a:p>
            <a:pPr>
              <a:lnSpc>
                <a:spcPct val="150000"/>
              </a:lnSpc>
              <a:spcAft>
                <a:spcPts val="600"/>
              </a:spcAft>
              <a:buFont typeface="Arial" panose="020B0604020202020204" pitchFamily="34" charset="0"/>
              <a:buChar char="•"/>
            </a:pPr>
            <a:r>
              <a:rPr lang="en-US" sz="2400" kern="1200" dirty="0">
                <a:solidFill>
                  <a:schemeClr val="tx1"/>
                </a:solidFill>
                <a:latin typeface="+mn-lt"/>
                <a:ea typeface="+mn-ea"/>
                <a:cs typeface="+mn-cs"/>
              </a:rPr>
              <a:t>All your project-specific </a:t>
            </a:r>
            <a:r>
              <a:rPr lang="en-US" sz="2400" kern="1200" dirty="0">
                <a:solidFill>
                  <a:srgbClr val="00B0F0"/>
                </a:solidFill>
                <a:latin typeface="+mn-lt"/>
                <a:ea typeface="+mn-ea"/>
                <a:cs typeface="+mn-cs"/>
              </a:rPr>
              <a:t>commands</a:t>
            </a:r>
            <a:r>
              <a:rPr lang="en-US" sz="2400" kern="1200" dirty="0">
                <a:solidFill>
                  <a:schemeClr val="tx1"/>
                </a:solidFill>
                <a:latin typeface="+mn-lt"/>
                <a:ea typeface="+mn-ea"/>
                <a:cs typeface="+mn-cs"/>
              </a:rPr>
              <a:t> can be found in your </a:t>
            </a:r>
            <a:r>
              <a:rPr lang="en-US" sz="2400" b="1" kern="1200" dirty="0" err="1">
                <a:solidFill>
                  <a:schemeClr val="tx1"/>
                </a:solidFill>
                <a:latin typeface="+mn-lt"/>
                <a:ea typeface="+mn-ea"/>
                <a:cs typeface="+mn-cs"/>
              </a:rPr>
              <a:t>package.json</a:t>
            </a:r>
            <a:r>
              <a:rPr lang="en-US" sz="2400" kern="1200" dirty="0">
                <a:solidFill>
                  <a:schemeClr val="tx1"/>
                </a:solidFill>
                <a:latin typeface="+mn-lt"/>
                <a:ea typeface="+mn-ea"/>
                <a:cs typeface="+mn-cs"/>
              </a:rPr>
              <a:t> under the </a:t>
            </a:r>
            <a:r>
              <a:rPr lang="en-US" sz="2400" kern="1200" dirty="0">
                <a:solidFill>
                  <a:srgbClr val="00B0F0"/>
                </a:solidFill>
                <a:latin typeface="+mn-lt"/>
                <a:ea typeface="+mn-ea"/>
                <a:cs typeface="+mn-cs"/>
              </a:rPr>
              <a:t>scripts</a:t>
            </a:r>
            <a:r>
              <a:rPr lang="en-US" sz="2400" kern="1200" dirty="0">
                <a:solidFill>
                  <a:schemeClr val="tx1"/>
                </a:solidFill>
                <a:latin typeface="+mn-lt"/>
                <a:ea typeface="+mn-ea"/>
                <a:cs typeface="+mn-cs"/>
              </a:rPr>
              <a:t> property.</a:t>
            </a:r>
            <a:endParaRPr lang="en-US" sz="2400" b="1" kern="1200" dirty="0">
              <a:solidFill>
                <a:schemeClr val="tx1"/>
              </a:solidFill>
              <a:latin typeface="+mn-lt"/>
              <a:ea typeface="+mn-ea"/>
              <a:cs typeface="+mn-cs"/>
            </a:endParaRPr>
          </a:p>
        </p:txBody>
      </p:sp>
      <p:pic>
        <p:nvPicPr>
          <p:cNvPr id="4" name="Picture 3">
            <a:extLst>
              <a:ext uri="{FF2B5EF4-FFF2-40B4-BE49-F238E27FC236}">
                <a16:creationId xmlns:a16="http://schemas.microsoft.com/office/drawing/2014/main" id="{3328E5AD-E294-9C68-B648-209B080E0FC1}"/>
              </a:ext>
            </a:extLst>
          </p:cNvPr>
          <p:cNvPicPr>
            <a:picLocks noChangeAspect="1"/>
          </p:cNvPicPr>
          <p:nvPr/>
        </p:nvPicPr>
        <p:blipFill>
          <a:blip r:embed="rId3"/>
          <a:srcRect l="471" r="48207" b="-2"/>
          <a:stretch>
            <a:fillRect/>
          </a:stretch>
        </p:blipFill>
        <p:spPr>
          <a:xfrm>
            <a:off x="5453763" y="1142813"/>
            <a:ext cx="3346453" cy="3244014"/>
          </a:xfrm>
          <a:prstGeom prst="rect">
            <a:avLst/>
          </a:prstGeom>
          <a:ln>
            <a:noFill/>
          </a:ln>
          <a:effectLst>
            <a:outerShdw blurRad="292100" dist="139700" dir="2700000" algn="tl" rotWithShape="0">
              <a:srgbClr val="333333">
                <a:alpha val="65000"/>
              </a:srgbClr>
            </a:outerShdw>
          </a:effectLst>
        </p:spPr>
      </p:pic>
      <p:sp>
        <p:nvSpPr>
          <p:cNvPr id="27" name="Rectangle 26">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800599"/>
            <a:ext cx="9144000" cy="342580"/>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4800599"/>
            <a:ext cx="6115048" cy="342579"/>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1C2CFCCA-D50D-6E66-B806-4C219F550ABA}"/>
              </a:ext>
            </a:extLst>
          </p:cNvPr>
          <p:cNvSpPr txBox="1">
            <a:spLocks/>
          </p:cNvSpPr>
          <p:nvPr/>
        </p:nvSpPr>
        <p:spPr>
          <a:xfrm>
            <a:off x="279616" y="121242"/>
            <a:ext cx="8520600" cy="6078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buClrTx/>
              <a:buFontTx/>
            </a:pPr>
            <a:r>
              <a:rPr lang="en-US" sz="3600" dirty="0"/>
              <a:t>React Project folder structure</a:t>
            </a:r>
            <a:endParaRPr lang="en-US" dirty="0">
              <a:solidFill>
                <a:srgbClr val="000000"/>
              </a:solidFill>
            </a:endParaRPr>
          </a:p>
        </p:txBody>
      </p:sp>
    </p:spTree>
    <p:extLst>
      <p:ext uri="{BB962C8B-B14F-4D97-AF65-F5344CB8AC3E}">
        <p14:creationId xmlns:p14="http://schemas.microsoft.com/office/powerpoint/2010/main" val="4079546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spcBef>
                <a:spcPct val="0"/>
              </a:spcBef>
            </a:pPr>
            <a:r>
              <a:rPr lang="en-US" sz="3000" kern="1200">
                <a:solidFill>
                  <a:srgbClr val="FFFFFF"/>
                </a:solidFill>
                <a:latin typeface="+mj-lt"/>
                <a:ea typeface="+mj-ea"/>
                <a:cs typeface="+mj-cs"/>
              </a:rPr>
              <a:t>Introduction to JSX</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344512" y="1413959"/>
            <a:ext cx="8106149" cy="3087208"/>
          </a:xfrm>
        </p:spPr>
        <p:txBody>
          <a:bodyPr vert="horz" lIns="91440" tIns="45720" rIns="91440" bIns="45720" rtlCol="0" anchor="ctr">
            <a:normAutofit fontScale="70000" lnSpcReduction="20000"/>
          </a:bodyPr>
          <a:lstStyle/>
          <a:p>
            <a:pPr marL="0" indent="0" defTabSz="914400">
              <a:lnSpc>
                <a:spcPct val="170000"/>
              </a:lnSpc>
              <a:buFont typeface="Arial" panose="020B0604020202020204" pitchFamily="34" charset="0"/>
              <a:buChar char="•"/>
            </a:pPr>
            <a:r>
              <a:rPr lang="en-US" sz="2400" dirty="0">
                <a:solidFill>
                  <a:srgbClr val="00B0F0"/>
                </a:solidFill>
              </a:rPr>
              <a:t>JSX</a:t>
            </a:r>
            <a:r>
              <a:rPr lang="en-US" sz="2400" dirty="0"/>
              <a:t> allows us to write HTML elements in JavaScript and place them in the DOM without any </a:t>
            </a:r>
            <a:r>
              <a:rPr lang="en-US" sz="2400" dirty="0" err="1"/>
              <a:t>createElement</a:t>
            </a:r>
            <a:r>
              <a:rPr lang="en-US" sz="2400" dirty="0"/>
              <a:t>()  and/or </a:t>
            </a:r>
            <a:r>
              <a:rPr lang="en-US" sz="2400" dirty="0" err="1"/>
              <a:t>appendChild</a:t>
            </a:r>
            <a:r>
              <a:rPr lang="en-US" sz="2400" dirty="0"/>
              <a:t>() methods.</a:t>
            </a:r>
          </a:p>
          <a:p>
            <a:pPr marL="457200" lvl="2" indent="0" defTabSz="914400">
              <a:lnSpc>
                <a:spcPct val="170000"/>
              </a:lnSpc>
              <a:buFont typeface="Arial" panose="020B0604020202020204" pitchFamily="34" charset="0"/>
              <a:buChar char="•"/>
            </a:pPr>
            <a:r>
              <a:rPr lang="en-US" sz="2400" dirty="0"/>
              <a:t>JSX stands for JavaScript XML.</a:t>
            </a:r>
          </a:p>
          <a:p>
            <a:pPr marL="457200" lvl="2" indent="0" defTabSz="914400">
              <a:lnSpc>
                <a:spcPct val="170000"/>
              </a:lnSpc>
              <a:buFont typeface="Arial" panose="020B0604020202020204" pitchFamily="34" charset="0"/>
              <a:buChar char="•"/>
            </a:pPr>
            <a:r>
              <a:rPr lang="en-US" sz="2400" dirty="0"/>
              <a:t>JSX converts HTML tags into react elements.</a:t>
            </a:r>
          </a:p>
          <a:p>
            <a:pPr marL="457200" lvl="2" indent="0" defTabSz="914400">
              <a:lnSpc>
                <a:spcPct val="170000"/>
              </a:lnSpc>
              <a:buFont typeface="Arial" panose="020B0604020202020204" pitchFamily="34" charset="0"/>
              <a:buChar char="•"/>
            </a:pPr>
            <a:r>
              <a:rPr lang="en-US" sz="2400" dirty="0"/>
              <a:t>JSX makes it easier to write and add HTML in React.</a:t>
            </a:r>
          </a:p>
          <a:p>
            <a:pPr marL="0" indent="0" defTabSz="914400">
              <a:lnSpc>
                <a:spcPct val="170000"/>
              </a:lnSpc>
              <a:buFont typeface="Arial" panose="020B0604020202020204" pitchFamily="34" charset="0"/>
              <a:buChar char="•"/>
            </a:pPr>
            <a:r>
              <a:rPr lang="en-US" sz="2400" b="1" dirty="0"/>
              <a:t>Example:</a:t>
            </a:r>
          </a:p>
        </p:txBody>
      </p:sp>
      <p:pic>
        <p:nvPicPr>
          <p:cNvPr id="4" name="Picture 3">
            <a:extLst>
              <a:ext uri="{FF2B5EF4-FFF2-40B4-BE49-F238E27FC236}">
                <a16:creationId xmlns:a16="http://schemas.microsoft.com/office/drawing/2014/main" id="{A6A5BE82-A486-E0B6-B359-77A4DFE6901C}"/>
              </a:ext>
            </a:extLst>
          </p:cNvPr>
          <p:cNvPicPr>
            <a:picLocks noChangeAspect="1"/>
          </p:cNvPicPr>
          <p:nvPr/>
        </p:nvPicPr>
        <p:blipFill>
          <a:blip r:embed="rId2"/>
          <a:stretch>
            <a:fillRect/>
          </a:stretch>
        </p:blipFill>
        <p:spPr>
          <a:xfrm>
            <a:off x="1758414" y="4098415"/>
            <a:ext cx="3409009" cy="8055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14263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marL="139700" defTabSz="914400">
              <a:spcBef>
                <a:spcPct val="0"/>
              </a:spcBef>
            </a:pPr>
            <a:r>
              <a:rPr lang="en-US" sz="3000" kern="1200">
                <a:solidFill>
                  <a:srgbClr val="FFFFFF"/>
                </a:solidFill>
                <a:latin typeface="+mj-lt"/>
                <a:ea typeface="+mj-ea"/>
                <a:cs typeface="+mj-cs"/>
              </a:rPr>
              <a:t>Running a React Project (Vite)</a:t>
            </a:r>
          </a:p>
        </p:txBody>
      </p:sp>
      <p:sp>
        <p:nvSpPr>
          <p:cNvPr id="5" name="TextBox 4">
            <a:extLst>
              <a:ext uri="{FF2B5EF4-FFF2-40B4-BE49-F238E27FC236}">
                <a16:creationId xmlns:a16="http://schemas.microsoft.com/office/drawing/2014/main" id="{8A6B20A3-F69E-FDEA-1397-0AC057184DBF}"/>
              </a:ext>
            </a:extLst>
          </p:cNvPr>
          <p:cNvSpPr txBox="1"/>
          <p:nvPr/>
        </p:nvSpPr>
        <p:spPr>
          <a:xfrm>
            <a:off x="344513" y="1413959"/>
            <a:ext cx="8168622" cy="3087208"/>
          </a:xfrm>
          <a:prstGeom prst="rect">
            <a:avLst/>
          </a:prstGeom>
        </p:spPr>
        <p:txBody>
          <a:bodyPr vert="horz" lIns="91440" tIns="45720" rIns="91440" bIns="45720" rtlCol="0" anchor="ctr">
            <a:normAutofit/>
          </a:bodyPr>
          <a:lstStyle/>
          <a:p>
            <a:pPr marL="342900" indent="-228600">
              <a:lnSpc>
                <a:spcPct val="90000"/>
              </a:lnSpc>
              <a:spcAft>
                <a:spcPts val="600"/>
              </a:spcAft>
              <a:buFont typeface="Arial" panose="020B0604020202020204" pitchFamily="34" charset="0"/>
              <a:buChar char="•"/>
            </a:pPr>
            <a:r>
              <a:rPr lang="en-US" sz="2800" kern="1200" dirty="0">
                <a:solidFill>
                  <a:schemeClr val="tx1"/>
                </a:solidFill>
                <a:latin typeface="+mn-lt"/>
                <a:ea typeface="+mn-ea"/>
                <a:cs typeface="+mn-cs"/>
              </a:rPr>
              <a:t>Start the Development Server:</a:t>
            </a:r>
          </a:p>
          <a:p>
            <a:pPr>
              <a:lnSpc>
                <a:spcPct val="90000"/>
              </a:lnSpc>
              <a:spcAft>
                <a:spcPts val="600"/>
              </a:spcAft>
            </a:pPr>
            <a:r>
              <a:rPr lang="en-US" sz="2800" b="1" kern="1200" dirty="0">
                <a:solidFill>
                  <a:srgbClr val="00B0F0"/>
                </a:solidFill>
                <a:latin typeface="+mn-lt"/>
                <a:ea typeface="+mn-ea"/>
                <a:cs typeface="+mn-cs"/>
              </a:rPr>
              <a:t>	</a:t>
            </a:r>
            <a:r>
              <a:rPr lang="en-US" sz="2800" b="1" kern="1200" dirty="0" err="1">
                <a:solidFill>
                  <a:srgbClr val="00B0F0"/>
                </a:solidFill>
                <a:latin typeface="+mn-lt"/>
                <a:ea typeface="+mn-ea"/>
                <a:cs typeface="+mn-cs"/>
              </a:rPr>
              <a:t>npm</a:t>
            </a:r>
            <a:r>
              <a:rPr lang="en-US" sz="2800" b="1" kern="1200" dirty="0">
                <a:solidFill>
                  <a:srgbClr val="00B0F0"/>
                </a:solidFill>
                <a:latin typeface="+mn-lt"/>
                <a:ea typeface="+mn-ea"/>
                <a:cs typeface="+mn-cs"/>
              </a:rPr>
              <a:t> run dev</a:t>
            </a:r>
            <a:endParaRPr lang="en-US" sz="2800" b="1" kern="1200" dirty="0">
              <a:solidFill>
                <a:schemeClr val="tx1"/>
              </a:solidFill>
              <a:latin typeface="+mn-lt"/>
              <a:ea typeface="+mn-ea"/>
              <a:cs typeface="+mn-cs"/>
            </a:endParaRPr>
          </a:p>
          <a:p>
            <a:pPr marL="342900" indent="-228600">
              <a:lnSpc>
                <a:spcPct val="90000"/>
              </a:lnSpc>
              <a:spcAft>
                <a:spcPts val="600"/>
              </a:spcAft>
              <a:buFont typeface="Arial" panose="020B0604020202020204" pitchFamily="34" charset="0"/>
              <a:buChar char="•"/>
            </a:pPr>
            <a:r>
              <a:rPr lang="en-US" sz="2800" kern="1200" dirty="0">
                <a:solidFill>
                  <a:schemeClr val="tx1"/>
                </a:solidFill>
                <a:latin typeface="+mn-lt"/>
                <a:ea typeface="+mn-ea"/>
                <a:cs typeface="+mn-cs"/>
              </a:rPr>
              <a:t>Stop the Development Server:</a:t>
            </a:r>
          </a:p>
          <a:p>
            <a:pPr>
              <a:lnSpc>
                <a:spcPct val="90000"/>
              </a:lnSpc>
              <a:spcAft>
                <a:spcPts val="600"/>
              </a:spcAft>
            </a:pPr>
            <a:r>
              <a:rPr lang="en-US" sz="2800" b="1" kern="1200" dirty="0">
                <a:solidFill>
                  <a:schemeClr val="tx1"/>
                </a:solidFill>
                <a:latin typeface="+mn-lt"/>
                <a:ea typeface="+mn-ea"/>
                <a:cs typeface="+mn-cs"/>
              </a:rPr>
              <a:t>	</a:t>
            </a:r>
            <a:r>
              <a:rPr lang="en-US" sz="2800" b="1" kern="1200" dirty="0">
                <a:solidFill>
                  <a:srgbClr val="00B0F0"/>
                </a:solidFill>
                <a:latin typeface="+mn-lt"/>
                <a:ea typeface="+mn-ea"/>
                <a:cs typeface="+mn-cs"/>
              </a:rPr>
              <a:t>Ctrl + C</a:t>
            </a:r>
          </a:p>
        </p:txBody>
      </p:sp>
      <p:pic>
        <p:nvPicPr>
          <p:cNvPr id="3" name="Picture 2" descr="output1.PNG"/>
          <p:cNvPicPr>
            <a:picLocks noChangeAspect="1"/>
          </p:cNvPicPr>
          <p:nvPr/>
        </p:nvPicPr>
        <p:blipFill rotWithShape="1">
          <a:blip r:embed="rId2"/>
          <a:srcRect l="212" t="598" r="68943" b="39391"/>
          <a:stretch>
            <a:fillRect/>
          </a:stretch>
        </p:blipFill>
        <p:spPr>
          <a:xfrm>
            <a:off x="6216939" y="1801336"/>
            <a:ext cx="2296196" cy="2625248"/>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95288D3B-04F3-6973-2026-B5DEFC768678}"/>
              </a:ext>
            </a:extLst>
          </p:cNvPr>
          <p:cNvSpPr txBox="1"/>
          <p:nvPr/>
        </p:nvSpPr>
        <p:spPr>
          <a:xfrm>
            <a:off x="6563162" y="1418977"/>
            <a:ext cx="1200150" cy="307777"/>
          </a:xfrm>
          <a:prstGeom prst="rect">
            <a:avLst/>
          </a:prstGeom>
          <a:noFill/>
        </p:spPr>
        <p:txBody>
          <a:bodyPr wrap="square">
            <a:spAutoFit/>
          </a:bodyPr>
          <a:lstStyle/>
          <a:p>
            <a:pPr algn="ctr"/>
            <a:r>
              <a:rPr lang="en-GB" b="1" dirty="0"/>
              <a:t>Output</a:t>
            </a:r>
          </a:p>
        </p:txBody>
      </p:sp>
    </p:spTree>
    <p:extLst>
      <p:ext uri="{BB962C8B-B14F-4D97-AF65-F5344CB8AC3E}">
        <p14:creationId xmlns:p14="http://schemas.microsoft.com/office/powerpoint/2010/main" val="814263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spcBef>
                <a:spcPct val="0"/>
              </a:spcBef>
            </a:pPr>
            <a:r>
              <a:rPr lang="en-US" sz="3000" kern="1200">
                <a:solidFill>
                  <a:srgbClr val="FFFFFF"/>
                </a:solidFill>
                <a:latin typeface="+mj-lt"/>
                <a:ea typeface="+mj-ea"/>
                <a:cs typeface="+mj-cs"/>
              </a:rPr>
              <a:t>React Components</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344512" y="1413958"/>
            <a:ext cx="8106149" cy="3391957"/>
          </a:xfrm>
        </p:spPr>
        <p:txBody>
          <a:bodyPr vert="horz" lIns="91440" tIns="45720" rIns="91440" bIns="45720" rtlCol="0" anchor="ctr">
            <a:normAutofit fontScale="92500" lnSpcReduction="10000"/>
          </a:bodyPr>
          <a:lstStyle/>
          <a:p>
            <a:pPr indent="-228600" defTabSz="914400">
              <a:lnSpc>
                <a:spcPct val="150000"/>
              </a:lnSpc>
              <a:spcAft>
                <a:spcPts val="600"/>
              </a:spcAft>
              <a:buFont typeface="Arial" panose="020B0604020202020204" pitchFamily="34" charset="0"/>
              <a:buChar char="•"/>
            </a:pPr>
            <a:r>
              <a:rPr lang="en-US" sz="2000" dirty="0"/>
              <a:t>In React, </a:t>
            </a:r>
            <a:r>
              <a:rPr lang="en-US" sz="2000" dirty="0">
                <a:solidFill>
                  <a:srgbClr val="00B0F0"/>
                </a:solidFill>
              </a:rPr>
              <a:t>components</a:t>
            </a:r>
            <a:r>
              <a:rPr lang="en-US" sz="2000" dirty="0"/>
              <a:t> are the building blocks of a user interface. </a:t>
            </a:r>
          </a:p>
          <a:p>
            <a:pPr indent="-228600" defTabSz="914400">
              <a:lnSpc>
                <a:spcPct val="150000"/>
              </a:lnSpc>
              <a:spcAft>
                <a:spcPts val="600"/>
              </a:spcAft>
              <a:buFont typeface="Arial" panose="020B0604020202020204" pitchFamily="34" charset="0"/>
              <a:buChar char="•"/>
            </a:pPr>
            <a:r>
              <a:rPr lang="en-US" sz="2000" dirty="0"/>
              <a:t>They are </a:t>
            </a:r>
            <a:r>
              <a:rPr lang="en-US" sz="2000" dirty="0">
                <a:solidFill>
                  <a:srgbClr val="00B0F0"/>
                </a:solidFill>
              </a:rPr>
              <a:t>reusable</a:t>
            </a:r>
            <a:r>
              <a:rPr lang="en-US" sz="2000" dirty="0"/>
              <a:t>, </a:t>
            </a:r>
            <a:r>
              <a:rPr lang="en-US" sz="2000" dirty="0">
                <a:solidFill>
                  <a:srgbClr val="00B0F0"/>
                </a:solidFill>
              </a:rPr>
              <a:t>self-contained pieces of code that </a:t>
            </a:r>
            <a:r>
              <a:rPr lang="en-US" sz="2000" dirty="0"/>
              <a:t>can be composed together to create complex UIs. </a:t>
            </a:r>
          </a:p>
          <a:p>
            <a:pPr indent="-228600" defTabSz="914400">
              <a:lnSpc>
                <a:spcPct val="150000"/>
              </a:lnSpc>
              <a:spcAft>
                <a:spcPts val="600"/>
              </a:spcAft>
              <a:buFont typeface="Arial" panose="020B0604020202020204" pitchFamily="34" charset="0"/>
              <a:buChar char="•"/>
            </a:pPr>
            <a:r>
              <a:rPr lang="en-US" sz="2000" dirty="0"/>
              <a:t>There are two main types of components in React: </a:t>
            </a:r>
            <a:r>
              <a:rPr lang="en-US" sz="2000" dirty="0">
                <a:solidFill>
                  <a:srgbClr val="00B0F0"/>
                </a:solidFill>
              </a:rPr>
              <a:t>functional components </a:t>
            </a:r>
            <a:r>
              <a:rPr lang="en-US" sz="2000" dirty="0"/>
              <a:t>and</a:t>
            </a:r>
            <a:r>
              <a:rPr lang="en-US" sz="2000" dirty="0">
                <a:solidFill>
                  <a:srgbClr val="00B0F0"/>
                </a:solidFill>
              </a:rPr>
              <a:t> class components.</a:t>
            </a:r>
          </a:p>
          <a:p>
            <a:pPr indent="-228600" defTabSz="914400">
              <a:lnSpc>
                <a:spcPct val="150000"/>
              </a:lnSpc>
              <a:spcAft>
                <a:spcPts val="600"/>
              </a:spcAft>
              <a:buFont typeface="Arial" panose="020B0604020202020204" pitchFamily="34" charset="0"/>
              <a:buChar char="•"/>
            </a:pPr>
            <a:r>
              <a:rPr lang="en-US" sz="2000" dirty="0"/>
              <a:t>React apps are built using </a:t>
            </a:r>
            <a:r>
              <a:rPr lang="en-US" sz="2000" b="1" dirty="0"/>
              <a:t>functional components</a:t>
            </a:r>
            <a:r>
              <a:rPr lang="en-US" sz="2000" dirty="0"/>
              <a:t>.</a:t>
            </a:r>
          </a:p>
          <a:p>
            <a:pPr indent="-228600" defTabSz="914400">
              <a:lnSpc>
                <a:spcPct val="150000"/>
              </a:lnSpc>
              <a:spcAft>
                <a:spcPts val="600"/>
              </a:spcAft>
              <a:buFont typeface="Arial" panose="020B0604020202020204" pitchFamily="34" charset="0"/>
              <a:buChar char="•"/>
            </a:pPr>
            <a:r>
              <a:rPr lang="en-US" sz="2000" dirty="0"/>
              <a:t>Class components are legacy and rarely used in 2026.</a:t>
            </a:r>
          </a:p>
        </p:txBody>
      </p:sp>
    </p:spTree>
    <p:extLst>
      <p:ext uri="{BB962C8B-B14F-4D97-AF65-F5344CB8AC3E}">
        <p14:creationId xmlns:p14="http://schemas.microsoft.com/office/powerpoint/2010/main" val="1548612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351806" y="121243"/>
            <a:ext cx="8520600" cy="607800"/>
          </a:xfrm>
        </p:spPr>
        <p:txBody>
          <a:bodyPr/>
          <a:lstStyle/>
          <a:p>
            <a:pPr algn="ctr"/>
            <a:r>
              <a:rPr lang="en-US" dirty="0">
                <a:latin typeface="+mj-lt"/>
              </a:rPr>
              <a:t>React Components</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215447" y="780795"/>
            <a:ext cx="8623753" cy="3913525"/>
          </a:xfrm>
        </p:spPr>
        <p:txBody>
          <a:bodyPr/>
          <a:lstStyle/>
          <a:p>
            <a:r>
              <a:rPr lang="en-US" sz="2000" b="1" dirty="0">
                <a:latin typeface="+mn-lt"/>
              </a:rPr>
              <a:t>Functional Components:</a:t>
            </a:r>
          </a:p>
          <a:p>
            <a:pPr>
              <a:buNone/>
            </a:pPr>
            <a:endParaRPr lang="en-US" sz="2000" dirty="0">
              <a:latin typeface="+mn-lt"/>
            </a:endParaRPr>
          </a:p>
          <a:p>
            <a:pPr marL="139700" indent="0">
              <a:buNone/>
            </a:pPr>
            <a:endParaRPr lang="en-US" dirty="0">
              <a:latin typeface="+mn-lt"/>
            </a:endParaRPr>
          </a:p>
        </p:txBody>
      </p:sp>
      <p:pic>
        <p:nvPicPr>
          <p:cNvPr id="10" name="Picture 9">
            <a:extLst>
              <a:ext uri="{FF2B5EF4-FFF2-40B4-BE49-F238E27FC236}">
                <a16:creationId xmlns:a16="http://schemas.microsoft.com/office/drawing/2014/main" id="{E676223A-7AB9-DE70-2A12-E458F3430E3C}"/>
              </a:ext>
            </a:extLst>
          </p:cNvPr>
          <p:cNvPicPr>
            <a:picLocks noChangeAspect="1"/>
          </p:cNvPicPr>
          <p:nvPr/>
        </p:nvPicPr>
        <p:blipFill>
          <a:blip r:embed="rId2"/>
          <a:stretch>
            <a:fillRect/>
          </a:stretch>
        </p:blipFill>
        <p:spPr>
          <a:xfrm>
            <a:off x="604284" y="1509564"/>
            <a:ext cx="7935432" cy="2124371"/>
          </a:xfrm>
          <a:prstGeom prst="rect">
            <a:avLst/>
          </a:prstGeom>
          <a:ln>
            <a:noFill/>
          </a:ln>
          <a:effectLst>
            <a:softEdge rad="112500"/>
          </a:effectLst>
        </p:spPr>
      </p:pic>
    </p:spTree>
    <p:extLst>
      <p:ext uri="{BB962C8B-B14F-4D97-AF65-F5344CB8AC3E}">
        <p14:creationId xmlns:p14="http://schemas.microsoft.com/office/powerpoint/2010/main" val="1548612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351806" y="0"/>
            <a:ext cx="8520600" cy="607800"/>
          </a:xfrm>
        </p:spPr>
        <p:txBody>
          <a:bodyPr/>
          <a:lstStyle/>
          <a:p>
            <a:pPr algn="ctr"/>
            <a:r>
              <a:rPr lang="en-US" dirty="0">
                <a:latin typeface="+mj-lt"/>
              </a:rPr>
              <a:t>React Components</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215447" y="588290"/>
            <a:ext cx="8623753" cy="3913525"/>
          </a:xfrm>
        </p:spPr>
        <p:txBody>
          <a:bodyPr/>
          <a:lstStyle/>
          <a:p>
            <a:r>
              <a:rPr lang="en-US" sz="2000" b="1" dirty="0">
                <a:latin typeface="+mn-lt"/>
              </a:rPr>
              <a:t>Class Components:</a:t>
            </a:r>
          </a:p>
          <a:p>
            <a:pPr>
              <a:buNone/>
            </a:pPr>
            <a:endParaRPr lang="en-US" sz="2000" dirty="0">
              <a:latin typeface="+mn-lt"/>
            </a:endParaRPr>
          </a:p>
          <a:p>
            <a:pPr marL="139700" indent="0">
              <a:buNone/>
            </a:pPr>
            <a:endParaRPr lang="en-US" dirty="0">
              <a:latin typeface="+mn-lt"/>
            </a:endParaRPr>
          </a:p>
        </p:txBody>
      </p:sp>
      <p:pic>
        <p:nvPicPr>
          <p:cNvPr id="6" name="Picture 5">
            <a:extLst>
              <a:ext uri="{FF2B5EF4-FFF2-40B4-BE49-F238E27FC236}">
                <a16:creationId xmlns:a16="http://schemas.microsoft.com/office/drawing/2014/main" id="{9A56350F-1A42-353E-8AE1-2AE3C1A81044}"/>
              </a:ext>
            </a:extLst>
          </p:cNvPr>
          <p:cNvPicPr>
            <a:picLocks noChangeAspect="1"/>
          </p:cNvPicPr>
          <p:nvPr/>
        </p:nvPicPr>
        <p:blipFill>
          <a:blip r:embed="rId2"/>
          <a:stretch>
            <a:fillRect/>
          </a:stretch>
        </p:blipFill>
        <p:spPr>
          <a:xfrm>
            <a:off x="1453196" y="1363791"/>
            <a:ext cx="6148254" cy="313802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48612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351806" y="121243"/>
            <a:ext cx="8520600" cy="607800"/>
          </a:xfrm>
        </p:spPr>
        <p:txBody>
          <a:bodyPr/>
          <a:lstStyle/>
          <a:p>
            <a:pPr algn="ctr"/>
            <a:r>
              <a:rPr lang="en-US">
                <a:latin typeface="+mj-lt"/>
              </a:rPr>
              <a:t>React Components</a:t>
            </a:r>
            <a:endParaRPr lang="en-US" dirty="0">
              <a:latin typeface="+mj-lt"/>
            </a:endParaRP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215447" y="780795"/>
            <a:ext cx="8792195" cy="2749805"/>
          </a:xfrm>
        </p:spPr>
        <p:txBody>
          <a:bodyPr/>
          <a:lstStyle/>
          <a:p>
            <a:pPr indent="0">
              <a:lnSpc>
                <a:spcPct val="100000"/>
              </a:lnSpc>
              <a:spcAft>
                <a:spcPts val="600"/>
              </a:spcAft>
            </a:pPr>
            <a:r>
              <a:rPr lang="en-GB" sz="2000" dirty="0"/>
              <a:t>In </a:t>
            </a:r>
            <a:r>
              <a:rPr lang="en-GB" sz="2000" dirty="0">
                <a:solidFill>
                  <a:srgbClr val="C00000"/>
                </a:solidFill>
              </a:rPr>
              <a:t>older versions </a:t>
            </a:r>
            <a:r>
              <a:rPr lang="en-GB" sz="2000" dirty="0"/>
              <a:t>of React, you had to write:</a:t>
            </a:r>
          </a:p>
          <a:p>
            <a:pPr marL="139700" indent="0">
              <a:lnSpc>
                <a:spcPct val="100000"/>
              </a:lnSpc>
              <a:spcAft>
                <a:spcPts val="600"/>
              </a:spcAft>
              <a:buNone/>
            </a:pPr>
            <a:r>
              <a:rPr lang="en-GB" dirty="0">
                <a:solidFill>
                  <a:srgbClr val="00B0F0"/>
                </a:solidFill>
              </a:rPr>
              <a:t>		</a:t>
            </a:r>
            <a:r>
              <a:rPr lang="en-GB" sz="1600" dirty="0">
                <a:solidFill>
                  <a:srgbClr val="00B0F0"/>
                </a:solidFill>
              </a:rPr>
              <a:t>import React from 'react'</a:t>
            </a:r>
          </a:p>
          <a:p>
            <a:pPr indent="0">
              <a:lnSpc>
                <a:spcPct val="100000"/>
              </a:lnSpc>
              <a:spcAft>
                <a:spcPts val="600"/>
              </a:spcAft>
            </a:pPr>
            <a:r>
              <a:rPr lang="en-GB" sz="2000" dirty="0"/>
              <a:t>This was required because JSX was transformed into:</a:t>
            </a:r>
          </a:p>
          <a:p>
            <a:pPr marL="139700" indent="0">
              <a:lnSpc>
                <a:spcPct val="100000"/>
              </a:lnSpc>
              <a:spcAft>
                <a:spcPts val="600"/>
              </a:spcAft>
              <a:buNone/>
            </a:pPr>
            <a:r>
              <a:rPr lang="en-GB" dirty="0"/>
              <a:t>		</a:t>
            </a:r>
            <a:r>
              <a:rPr lang="en-GB" sz="1600" dirty="0" err="1">
                <a:solidFill>
                  <a:srgbClr val="00B0F0"/>
                </a:solidFill>
              </a:rPr>
              <a:t>React.createElement</a:t>
            </a:r>
            <a:r>
              <a:rPr lang="en-GB" sz="1600" dirty="0">
                <a:solidFill>
                  <a:srgbClr val="00B0F0"/>
                </a:solidFill>
              </a:rPr>
              <a:t>()</a:t>
            </a:r>
            <a:endParaRPr lang="en-GB" sz="2400" dirty="0"/>
          </a:p>
          <a:p>
            <a:pPr indent="0">
              <a:lnSpc>
                <a:spcPct val="100000"/>
              </a:lnSpc>
              <a:spcAft>
                <a:spcPts val="600"/>
              </a:spcAft>
            </a:pPr>
            <a:r>
              <a:rPr lang="en-GB" sz="2000" b="1" dirty="0"/>
              <a:t>Modern React (17+ / 18+ / 2026 Standard):</a:t>
            </a:r>
          </a:p>
          <a:p>
            <a:pPr lvl="1" indent="0">
              <a:lnSpc>
                <a:spcPct val="100000"/>
              </a:lnSpc>
              <a:spcBef>
                <a:spcPts val="0"/>
              </a:spcBef>
              <a:spcAft>
                <a:spcPts val="600"/>
              </a:spcAft>
              <a:buFont typeface="Courier New" panose="02070309020205020404" pitchFamily="49" charset="0"/>
              <a:buChar char="o"/>
            </a:pPr>
            <a:r>
              <a:rPr lang="en-GB" sz="1800" dirty="0"/>
              <a:t>You </a:t>
            </a:r>
            <a:r>
              <a:rPr lang="en-GB" sz="1800" dirty="0">
                <a:solidFill>
                  <a:srgbClr val="00B0F0"/>
                </a:solidFill>
              </a:rPr>
              <a:t>do NOT need to import React </a:t>
            </a:r>
            <a:r>
              <a:rPr lang="en-GB" sz="1800" dirty="0"/>
              <a:t>just to use JSX.</a:t>
            </a:r>
          </a:p>
          <a:p>
            <a:pPr lvl="1" indent="0">
              <a:lnSpc>
                <a:spcPct val="100000"/>
              </a:lnSpc>
              <a:spcBef>
                <a:spcPts val="0"/>
              </a:spcBef>
              <a:spcAft>
                <a:spcPts val="600"/>
              </a:spcAft>
              <a:buFont typeface="Courier New" panose="02070309020205020404" pitchFamily="49" charset="0"/>
              <a:buChar char="o"/>
            </a:pPr>
            <a:r>
              <a:rPr lang="en-GB" sz="1800" dirty="0"/>
              <a:t>Modern build tools (Vite, Next.js, etc.) use the </a:t>
            </a:r>
            <a:r>
              <a:rPr lang="en-GB" sz="1800" b="1" dirty="0"/>
              <a:t>new JSX transform</a:t>
            </a:r>
            <a:r>
              <a:rPr lang="en-GB" sz="1800" dirty="0"/>
              <a:t>, which automatically handles this during compilation.</a:t>
            </a:r>
          </a:p>
        </p:txBody>
      </p:sp>
      <p:sp>
        <p:nvSpPr>
          <p:cNvPr id="5" name="TextBox 4">
            <a:extLst>
              <a:ext uri="{FF2B5EF4-FFF2-40B4-BE49-F238E27FC236}">
                <a16:creationId xmlns:a16="http://schemas.microsoft.com/office/drawing/2014/main" id="{DCC19350-B00B-B8DA-621F-33EBC363EC47}"/>
              </a:ext>
            </a:extLst>
          </p:cNvPr>
          <p:cNvSpPr txBox="1"/>
          <p:nvPr/>
        </p:nvSpPr>
        <p:spPr>
          <a:xfrm>
            <a:off x="311700" y="3834901"/>
            <a:ext cx="8520600" cy="1055608"/>
          </a:xfrm>
          <a:prstGeom prst="flowChartAlternateProcess">
            <a:avLst/>
          </a:prstGeom>
          <a:noFill/>
          <a:ln>
            <a:solidFill>
              <a:srgbClr val="000000"/>
            </a:solidFill>
          </a:ln>
        </p:spPr>
        <p:txBody>
          <a:bodyPr wrap="square">
            <a:spAutoFit/>
          </a:bodyPr>
          <a:lstStyle/>
          <a:p>
            <a:pPr marL="285750" indent="-285750">
              <a:buFont typeface="Arial" panose="020B0604020202020204" pitchFamily="34" charset="0"/>
              <a:buChar char="•"/>
            </a:pPr>
            <a:r>
              <a:rPr lang="en-GB" sz="1400" dirty="0"/>
              <a:t>You only import from React when you need </a:t>
            </a:r>
            <a:r>
              <a:rPr lang="en-GB" sz="1400" dirty="0">
                <a:solidFill>
                  <a:srgbClr val="00B0F0"/>
                </a:solidFill>
              </a:rPr>
              <a:t>specific APIs</a:t>
            </a:r>
            <a:r>
              <a:rPr lang="en-GB" sz="1400" dirty="0"/>
              <a:t>, such as hooks (</a:t>
            </a:r>
            <a:r>
              <a:rPr lang="en-GB" dirty="0"/>
              <a:t>import { </a:t>
            </a:r>
            <a:r>
              <a:rPr lang="en-GB" dirty="0" err="1"/>
              <a:t>useState</a:t>
            </a:r>
            <a:r>
              <a:rPr lang="en-GB" dirty="0"/>
              <a:t> } from 'react’</a:t>
            </a:r>
            <a:r>
              <a:rPr lang="en-GB" sz="1400" dirty="0"/>
              <a:t>). </a:t>
            </a:r>
          </a:p>
          <a:p>
            <a:pPr marL="285750" indent="-285750">
              <a:buFont typeface="Arial" panose="020B0604020202020204" pitchFamily="34" charset="0"/>
              <a:buChar char="•"/>
            </a:pPr>
            <a:r>
              <a:rPr lang="en-GB" sz="1400" dirty="0"/>
              <a:t>In older React versions and when </a:t>
            </a:r>
            <a:r>
              <a:rPr lang="en-GB" sz="1400" dirty="0">
                <a:solidFill>
                  <a:srgbClr val="00B0F0"/>
                </a:solidFill>
              </a:rPr>
              <a:t>using class components</a:t>
            </a:r>
            <a:r>
              <a:rPr lang="en-GB" sz="1400" dirty="0"/>
              <a:t>, developers had to write </a:t>
            </a:r>
            <a:r>
              <a:rPr lang="en-GB" dirty="0"/>
              <a:t>import React, { Component } from 'react'</a:t>
            </a:r>
            <a:endParaRPr lang="en-GB" sz="1400" dirty="0"/>
          </a:p>
        </p:txBody>
      </p:sp>
    </p:spTree>
    <p:extLst>
      <p:ext uri="{BB962C8B-B14F-4D97-AF65-F5344CB8AC3E}">
        <p14:creationId xmlns:p14="http://schemas.microsoft.com/office/powerpoint/2010/main" val="1548612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spcBef>
                <a:spcPct val="0"/>
              </a:spcBef>
            </a:pPr>
            <a:r>
              <a:rPr lang="en-US" sz="3000" kern="1200">
                <a:solidFill>
                  <a:srgbClr val="FFFFFF"/>
                </a:solidFill>
                <a:latin typeface="+mj-lt"/>
                <a:ea typeface="+mj-ea"/>
                <a:cs typeface="+mj-cs"/>
              </a:rPr>
              <a:t>Dynamic Values &amp; lists in JSX</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344512" y="1413959"/>
            <a:ext cx="8106149" cy="3087208"/>
          </a:xfrm>
        </p:spPr>
        <p:txBody>
          <a:bodyPr vert="horz" lIns="91440" tIns="45720" rIns="91440" bIns="45720" rtlCol="0" anchor="ctr">
            <a:normAutofit/>
          </a:bodyPr>
          <a:lstStyle/>
          <a:p>
            <a:pPr indent="-228600" defTabSz="914400">
              <a:spcAft>
                <a:spcPts val="600"/>
              </a:spcAft>
              <a:buFont typeface="Arial" panose="020B0604020202020204" pitchFamily="34" charset="0"/>
              <a:buChar char="•"/>
            </a:pPr>
            <a:r>
              <a:rPr lang="en-US" sz="2400" dirty="0"/>
              <a:t>With JSX you can write expressions, variables inside curly braces</a:t>
            </a:r>
            <a:r>
              <a:rPr lang="en-US" sz="2400" dirty="0">
                <a:solidFill>
                  <a:srgbClr val="00B0F0"/>
                </a:solidFill>
              </a:rPr>
              <a:t> { }.</a:t>
            </a:r>
          </a:p>
          <a:p>
            <a:pPr indent="-228600" defTabSz="914400">
              <a:spcAft>
                <a:spcPts val="600"/>
              </a:spcAft>
              <a:buFont typeface="Arial" panose="020B0604020202020204" pitchFamily="34" charset="0"/>
              <a:buChar char="•"/>
            </a:pPr>
            <a:r>
              <a:rPr lang="en-US" sz="2400" dirty="0"/>
              <a:t>The expression can be a React variable, or property, or any other valid JavaScript expression.</a:t>
            </a:r>
          </a:p>
          <a:p>
            <a:pPr indent="-228600" defTabSz="914400">
              <a:spcAft>
                <a:spcPts val="600"/>
              </a:spcAft>
              <a:buFont typeface="Arial" panose="020B0604020202020204" pitchFamily="34" charset="0"/>
              <a:buChar char="•"/>
            </a:pPr>
            <a:r>
              <a:rPr lang="en-US" sz="2400" dirty="0"/>
              <a:t>JSX will execute the expression and return the result.</a:t>
            </a:r>
          </a:p>
        </p:txBody>
      </p:sp>
    </p:spTree>
    <p:extLst>
      <p:ext uri="{BB962C8B-B14F-4D97-AF65-F5344CB8AC3E}">
        <p14:creationId xmlns:p14="http://schemas.microsoft.com/office/powerpoint/2010/main" val="3970344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524784" y="186028"/>
            <a:ext cx="5297791" cy="869400"/>
          </a:xfrm>
        </p:spPr>
        <p:txBody>
          <a:bodyPr vert="horz" lIns="91440" tIns="45720" rIns="91440" bIns="45720" rtlCol="0" anchor="ctr">
            <a:normAutofit/>
          </a:bodyPr>
          <a:lstStyle/>
          <a:p>
            <a:pPr defTabSz="914400">
              <a:spcBef>
                <a:spcPct val="0"/>
              </a:spcBef>
            </a:pPr>
            <a:r>
              <a:rPr lang="en-US" sz="3000" kern="1200">
                <a:solidFill>
                  <a:srgbClr val="FFFFFF"/>
                </a:solidFill>
                <a:latin typeface="+mj-lt"/>
                <a:ea typeface="+mj-ea"/>
                <a:cs typeface="+mj-cs"/>
              </a:rPr>
              <a:t>Cont…</a:t>
            </a:r>
          </a:p>
        </p:txBody>
      </p:sp>
      <p:pic>
        <p:nvPicPr>
          <p:cNvPr id="4" name="Picture 3">
            <a:extLst>
              <a:ext uri="{FF2B5EF4-FFF2-40B4-BE49-F238E27FC236}">
                <a16:creationId xmlns:a16="http://schemas.microsoft.com/office/drawing/2014/main" id="{C748AB60-7E40-1378-CC7D-9EC6B910FC8F}"/>
              </a:ext>
            </a:extLst>
          </p:cNvPr>
          <p:cNvPicPr>
            <a:picLocks noChangeAspect="1"/>
          </p:cNvPicPr>
          <p:nvPr/>
        </p:nvPicPr>
        <p:blipFill>
          <a:blip r:embed="rId2"/>
          <a:stretch>
            <a:fillRect/>
          </a:stretch>
        </p:blipFill>
        <p:spPr>
          <a:xfrm>
            <a:off x="689302" y="1474719"/>
            <a:ext cx="7765394" cy="3339120"/>
          </a:xfrm>
          <a:prstGeom prst="rect">
            <a:avLst/>
          </a:prstGeom>
        </p:spPr>
      </p:pic>
    </p:spTree>
    <p:extLst>
      <p:ext uri="{BB962C8B-B14F-4D97-AF65-F5344CB8AC3E}">
        <p14:creationId xmlns:p14="http://schemas.microsoft.com/office/powerpoint/2010/main" val="3396883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7501CF-47F8-F065-0A8D-4ABD24579B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1966"/>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159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0732"/>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1C4095-F54C-44E2-5A0D-5577F369F767}"/>
              </a:ext>
            </a:extLst>
          </p:cNvPr>
          <p:cNvSpPr>
            <a:spLocks noGrp="1"/>
          </p:cNvSpPr>
          <p:nvPr>
            <p:ph type="title"/>
          </p:nvPr>
        </p:nvSpPr>
        <p:spPr>
          <a:xfrm>
            <a:off x="524784" y="186028"/>
            <a:ext cx="5297791" cy="869400"/>
          </a:xfrm>
        </p:spPr>
        <p:txBody>
          <a:bodyPr vert="horz" lIns="91440" tIns="45720" rIns="91440" bIns="45720" rtlCol="0" anchor="ctr">
            <a:normAutofit/>
          </a:bodyPr>
          <a:lstStyle/>
          <a:p>
            <a:pPr defTabSz="914400">
              <a:spcBef>
                <a:spcPct val="0"/>
              </a:spcBef>
            </a:pPr>
            <a:r>
              <a:rPr lang="en-US" sz="3000" kern="1200">
                <a:solidFill>
                  <a:srgbClr val="FFFFFF"/>
                </a:solidFill>
                <a:latin typeface="+mj-lt"/>
                <a:ea typeface="+mj-ea"/>
                <a:cs typeface="+mj-cs"/>
              </a:rPr>
              <a:t>Cont…</a:t>
            </a:r>
          </a:p>
        </p:txBody>
      </p:sp>
      <p:pic>
        <p:nvPicPr>
          <p:cNvPr id="5" name="Picture 4">
            <a:extLst>
              <a:ext uri="{FF2B5EF4-FFF2-40B4-BE49-F238E27FC236}">
                <a16:creationId xmlns:a16="http://schemas.microsoft.com/office/drawing/2014/main" id="{47A34DE8-7C59-3175-44F7-EDDA3D428CEB}"/>
              </a:ext>
            </a:extLst>
          </p:cNvPr>
          <p:cNvPicPr>
            <a:picLocks noChangeAspect="1"/>
          </p:cNvPicPr>
          <p:nvPr/>
        </p:nvPicPr>
        <p:blipFill>
          <a:blip r:embed="rId2"/>
          <a:stretch>
            <a:fillRect/>
          </a:stretch>
        </p:blipFill>
        <p:spPr>
          <a:xfrm>
            <a:off x="1298351" y="1474719"/>
            <a:ext cx="6547295" cy="3339120"/>
          </a:xfrm>
          <a:prstGeom prst="rect">
            <a:avLst/>
          </a:prstGeom>
        </p:spPr>
      </p:pic>
    </p:spTree>
    <p:extLst>
      <p:ext uri="{BB962C8B-B14F-4D97-AF65-F5344CB8AC3E}">
        <p14:creationId xmlns:p14="http://schemas.microsoft.com/office/powerpoint/2010/main" val="2008459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spcBef>
                <a:spcPct val="0"/>
              </a:spcBef>
            </a:pPr>
            <a:r>
              <a:rPr lang="en-US" sz="3000" kern="1200">
                <a:solidFill>
                  <a:srgbClr val="FFFFFF"/>
                </a:solidFill>
                <a:latin typeface="+mj-lt"/>
                <a:ea typeface="+mj-ea"/>
                <a:cs typeface="+mj-cs"/>
              </a:rPr>
              <a:t>Cont…</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344512" y="1488558"/>
            <a:ext cx="8551395" cy="3317357"/>
          </a:xfrm>
        </p:spPr>
        <p:txBody>
          <a:bodyPr vert="horz" lIns="91440" tIns="45720" rIns="91440" bIns="45720" rtlCol="0" anchor="ctr">
            <a:normAutofit fontScale="92500" lnSpcReduction="20000"/>
          </a:bodyPr>
          <a:lstStyle/>
          <a:p>
            <a:pPr indent="-228600" defTabSz="914400">
              <a:spcAft>
                <a:spcPts val="600"/>
              </a:spcAft>
              <a:buFont typeface="Arial" panose="020B0604020202020204" pitchFamily="34" charset="0"/>
              <a:buChar char="•"/>
            </a:pPr>
            <a:r>
              <a:rPr lang="en-US" sz="2400" dirty="0"/>
              <a:t>The </a:t>
            </a:r>
            <a:r>
              <a:rPr lang="en-US" sz="2400" b="1" dirty="0">
                <a:solidFill>
                  <a:srgbClr val="00B0F0"/>
                </a:solidFill>
              </a:rPr>
              <a:t>App</a:t>
            </a:r>
            <a:r>
              <a:rPr lang="en-US" sz="2400" dirty="0"/>
              <a:t> component is a simple functional component that renders an h1 element with a title and a p element with some body text. </a:t>
            </a:r>
          </a:p>
          <a:p>
            <a:pPr indent="-228600" defTabSz="914400">
              <a:spcAft>
                <a:spcPts val="600"/>
              </a:spcAft>
              <a:buFont typeface="Arial" panose="020B0604020202020204" pitchFamily="34" charset="0"/>
              <a:buChar char="•"/>
            </a:pPr>
            <a:r>
              <a:rPr lang="en-US" sz="2400" dirty="0">
                <a:solidFill>
                  <a:srgbClr val="00B0F0"/>
                </a:solidFill>
              </a:rPr>
              <a:t>The use of variables within JSX allows you to dynamically display content</a:t>
            </a:r>
            <a:r>
              <a:rPr lang="en-US" sz="2400" dirty="0"/>
              <a:t>.</a:t>
            </a:r>
          </a:p>
          <a:p>
            <a:pPr indent="-228600" defTabSz="914400">
              <a:spcAft>
                <a:spcPts val="600"/>
              </a:spcAft>
              <a:buFont typeface="Arial" panose="020B0604020202020204" pitchFamily="34" charset="0"/>
              <a:buChar char="•"/>
            </a:pPr>
            <a:r>
              <a:rPr lang="en-US" sz="2400" dirty="0"/>
              <a:t>You've defined one variable, </a:t>
            </a:r>
            <a:r>
              <a:rPr lang="en-US" sz="2400" b="1" dirty="0" err="1">
                <a:solidFill>
                  <a:srgbClr val="00B0F0"/>
                </a:solidFill>
              </a:rPr>
              <a:t>developedYear</a:t>
            </a:r>
            <a:r>
              <a:rPr lang="en-US" sz="2400" dirty="0"/>
              <a:t>, using the const keyword.</a:t>
            </a:r>
          </a:p>
          <a:p>
            <a:pPr indent="-228600" defTabSz="914400">
              <a:spcAft>
                <a:spcPts val="600"/>
              </a:spcAft>
              <a:buFont typeface="Arial" panose="020B0604020202020204" pitchFamily="34" charset="0"/>
              <a:buChar char="•"/>
            </a:pPr>
            <a:r>
              <a:rPr lang="en-US" sz="2400" dirty="0"/>
              <a:t>Inside the JSX, you use curly braces {} to embed these variables within the HTML-like structure.</a:t>
            </a:r>
          </a:p>
          <a:p>
            <a:pPr indent="-228600" defTabSz="914400">
              <a:spcAft>
                <a:spcPts val="600"/>
              </a:spcAft>
              <a:buFont typeface="Arial" panose="020B0604020202020204" pitchFamily="34" charset="0"/>
              <a:buChar char="•"/>
            </a:pPr>
            <a:r>
              <a:rPr lang="en-US" sz="2400" dirty="0"/>
              <a:t>The </a:t>
            </a:r>
            <a:r>
              <a:rPr lang="en-US" sz="2400" dirty="0">
                <a:solidFill>
                  <a:srgbClr val="00B0F0"/>
                </a:solidFill>
              </a:rPr>
              <a:t>return</a:t>
            </a:r>
            <a:r>
              <a:rPr lang="en-US" sz="2400" dirty="0"/>
              <a:t> statement returns the JSX code to be rendered by the component.</a:t>
            </a:r>
          </a:p>
        </p:txBody>
      </p:sp>
    </p:spTree>
    <p:extLst>
      <p:ext uri="{BB962C8B-B14F-4D97-AF65-F5344CB8AC3E}">
        <p14:creationId xmlns:p14="http://schemas.microsoft.com/office/powerpoint/2010/main" val="39703440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464100" y="105200"/>
            <a:ext cx="8520600" cy="607800"/>
          </a:xfrm>
        </p:spPr>
        <p:txBody>
          <a:bodyPr/>
          <a:lstStyle/>
          <a:p>
            <a:pPr algn="ctr"/>
            <a:r>
              <a:rPr lang="en-US" dirty="0">
                <a:latin typeface="+mj-lt"/>
              </a:rPr>
              <a:t>Cont…</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247531" y="628396"/>
            <a:ext cx="8520599" cy="3913525"/>
          </a:xfrm>
        </p:spPr>
        <p:txBody>
          <a:bodyPr/>
          <a:lstStyle/>
          <a:p>
            <a:r>
              <a:rPr lang="en-US" sz="2000" dirty="0">
                <a:latin typeface="+mn-lt"/>
              </a:rPr>
              <a:t>When you import and use this App component in your index.js file (as shown in the previous response), it will render an HTML structure with the dynamic content provided by the title and body variables.</a:t>
            </a:r>
            <a:endParaRPr lang="en-US" sz="2000" dirty="0"/>
          </a:p>
          <a:p>
            <a:pPr marL="139700" indent="0">
              <a:buNone/>
            </a:pPr>
            <a:endParaRPr lang="en-US" sz="2000" dirty="0">
              <a:latin typeface="+mn-lt"/>
            </a:endParaRPr>
          </a:p>
        </p:txBody>
      </p:sp>
      <p:pic>
        <p:nvPicPr>
          <p:cNvPr id="6" name="Picture 5">
            <a:extLst>
              <a:ext uri="{FF2B5EF4-FFF2-40B4-BE49-F238E27FC236}">
                <a16:creationId xmlns:a16="http://schemas.microsoft.com/office/drawing/2014/main" id="{6C58E5C5-2E0A-0285-FDD4-B5AB1AE2B22C}"/>
              </a:ext>
            </a:extLst>
          </p:cNvPr>
          <p:cNvPicPr>
            <a:picLocks noChangeAspect="1"/>
          </p:cNvPicPr>
          <p:nvPr/>
        </p:nvPicPr>
        <p:blipFill>
          <a:blip r:embed="rId2"/>
          <a:stretch>
            <a:fillRect/>
          </a:stretch>
        </p:blipFill>
        <p:spPr>
          <a:xfrm>
            <a:off x="1220821" y="2097303"/>
            <a:ext cx="7007157" cy="257267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970344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464100" y="105200"/>
            <a:ext cx="8520600" cy="607800"/>
          </a:xfrm>
        </p:spPr>
        <p:txBody>
          <a:bodyPr/>
          <a:lstStyle/>
          <a:p>
            <a:pPr algn="ctr"/>
            <a:r>
              <a:rPr lang="en-US" dirty="0">
                <a:latin typeface="+mj-lt"/>
              </a:rPr>
              <a:t>Cont…</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247531" y="628396"/>
            <a:ext cx="8520599" cy="3913525"/>
          </a:xfrm>
        </p:spPr>
        <p:txBody>
          <a:bodyPr/>
          <a:lstStyle/>
          <a:p>
            <a:r>
              <a:rPr lang="en-US" sz="1800" b="1" dirty="0">
                <a:solidFill>
                  <a:srgbClr val="00B0F0"/>
                </a:solidFill>
              </a:rPr>
              <a:t>import App from './</a:t>
            </a:r>
            <a:r>
              <a:rPr lang="en-US" sz="1800" b="1" dirty="0" err="1">
                <a:solidFill>
                  <a:srgbClr val="00B0F0"/>
                </a:solidFill>
              </a:rPr>
              <a:t>App.jsx</a:t>
            </a:r>
            <a:r>
              <a:rPr lang="en-US" sz="1800" b="1" dirty="0">
                <a:solidFill>
                  <a:srgbClr val="00B0F0"/>
                </a:solidFill>
              </a:rPr>
              <a:t>';</a:t>
            </a:r>
            <a:r>
              <a:rPr lang="en-US" sz="2800" b="1" dirty="0">
                <a:solidFill>
                  <a:srgbClr val="00B0F0"/>
                </a:solidFill>
              </a:rPr>
              <a:t> </a:t>
            </a:r>
            <a:r>
              <a:rPr lang="en-US" sz="2400" dirty="0"/>
              <a:t>imports the main App component from the same directory.</a:t>
            </a:r>
          </a:p>
          <a:p>
            <a:r>
              <a:rPr lang="en-US" sz="1800" b="1" dirty="0" err="1">
                <a:solidFill>
                  <a:srgbClr val="00B0F0"/>
                </a:solidFill>
              </a:rPr>
              <a:t>createRoot</a:t>
            </a:r>
            <a:r>
              <a:rPr lang="en-US" sz="1800" b="1" dirty="0">
                <a:solidFill>
                  <a:srgbClr val="00B0F0"/>
                </a:solidFill>
              </a:rPr>
              <a:t>()</a:t>
            </a:r>
            <a:r>
              <a:rPr lang="en-US" sz="2800" b="1" dirty="0">
                <a:solidFill>
                  <a:srgbClr val="00B0F0"/>
                </a:solidFill>
              </a:rPr>
              <a:t> </a:t>
            </a:r>
            <a:r>
              <a:rPr lang="en-US" sz="2400" dirty="0"/>
              <a:t>from </a:t>
            </a:r>
            <a:r>
              <a:rPr lang="en-US" sz="1800" b="1" dirty="0">
                <a:solidFill>
                  <a:srgbClr val="00B0F0"/>
                </a:solidFill>
              </a:rPr>
              <a:t>react-</a:t>
            </a:r>
            <a:r>
              <a:rPr lang="en-US" sz="1800" b="1" dirty="0" err="1">
                <a:solidFill>
                  <a:srgbClr val="00B0F0"/>
                </a:solidFill>
              </a:rPr>
              <a:t>dom</a:t>
            </a:r>
            <a:r>
              <a:rPr lang="en-US" sz="1800" b="1" dirty="0">
                <a:solidFill>
                  <a:srgbClr val="00B0F0"/>
                </a:solidFill>
              </a:rPr>
              <a:t>/client</a:t>
            </a:r>
            <a:r>
              <a:rPr lang="en-US" sz="2800" b="1" dirty="0">
                <a:solidFill>
                  <a:srgbClr val="00B0F0"/>
                </a:solidFill>
              </a:rPr>
              <a:t> </a:t>
            </a:r>
            <a:r>
              <a:rPr lang="en-US" sz="2400" dirty="0"/>
              <a:t>is the modern React 18+ API used to render the application. </a:t>
            </a:r>
          </a:p>
          <a:p>
            <a:r>
              <a:rPr lang="en-US" sz="2400" dirty="0"/>
              <a:t>It attaches the </a:t>
            </a:r>
            <a:r>
              <a:rPr lang="en-US" sz="1800" b="1" dirty="0">
                <a:solidFill>
                  <a:srgbClr val="00B0F0"/>
                </a:solidFill>
              </a:rPr>
              <a:t>App</a:t>
            </a:r>
            <a:r>
              <a:rPr lang="en-US" sz="2800" b="1" dirty="0">
                <a:solidFill>
                  <a:srgbClr val="00B0F0"/>
                </a:solidFill>
              </a:rPr>
              <a:t> </a:t>
            </a:r>
            <a:r>
              <a:rPr lang="en-US" sz="2400" dirty="0"/>
              <a:t>component to the DOM element with the id </a:t>
            </a:r>
            <a:r>
              <a:rPr lang="en-US" sz="1800" b="1" dirty="0">
                <a:solidFill>
                  <a:srgbClr val="00B0F0"/>
                </a:solidFill>
              </a:rPr>
              <a:t>"root"</a:t>
            </a:r>
            <a:r>
              <a:rPr lang="en-US" sz="2800" b="1" dirty="0">
                <a:solidFill>
                  <a:srgbClr val="00B0F0"/>
                </a:solidFill>
              </a:rPr>
              <a:t>, </a:t>
            </a:r>
            <a:r>
              <a:rPr lang="en-US" sz="2400" dirty="0"/>
              <a:t>which is where the React application is mounted in the HTML file.</a:t>
            </a:r>
            <a:endParaRPr lang="en-US" sz="2400" dirty="0">
              <a:latin typeface="+mn-lt"/>
            </a:endParaRPr>
          </a:p>
        </p:txBody>
      </p:sp>
      <p:sp>
        <p:nvSpPr>
          <p:cNvPr id="5" name="TextBox 4">
            <a:extLst>
              <a:ext uri="{FF2B5EF4-FFF2-40B4-BE49-F238E27FC236}">
                <a16:creationId xmlns:a16="http://schemas.microsoft.com/office/drawing/2014/main" id="{C30231A8-8720-CECF-78CD-AD35AA341DE5}"/>
              </a:ext>
            </a:extLst>
          </p:cNvPr>
          <p:cNvSpPr txBox="1"/>
          <p:nvPr/>
        </p:nvSpPr>
        <p:spPr>
          <a:xfrm>
            <a:off x="464100" y="3637210"/>
            <a:ext cx="8304030" cy="92333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pPr marL="285750" indent="-285750">
              <a:buFont typeface="Arial" panose="020B0604020202020204" pitchFamily="34" charset="0"/>
              <a:buChar char="•"/>
            </a:pPr>
            <a:r>
              <a:rPr lang="en-US" sz="1800" dirty="0">
                <a:solidFill>
                  <a:schemeClr val="dk2"/>
                </a:solidFill>
                <a:latin typeface="Roboto"/>
                <a:ea typeface="Roboto"/>
                <a:cs typeface="Roboto"/>
                <a:sym typeface="Roboto"/>
              </a:rPr>
              <a:t>The </a:t>
            </a:r>
            <a:r>
              <a:rPr lang="en-US" sz="1800" dirty="0">
                <a:solidFill>
                  <a:srgbClr val="00B0F0"/>
                </a:solidFill>
                <a:latin typeface="Roboto"/>
                <a:ea typeface="Roboto"/>
                <a:cs typeface="Roboto"/>
                <a:sym typeface="Roboto"/>
              </a:rPr>
              <a:t>&lt;</a:t>
            </a:r>
            <a:r>
              <a:rPr lang="en-US" sz="1800" dirty="0" err="1">
                <a:solidFill>
                  <a:srgbClr val="00B0F0"/>
                </a:solidFill>
                <a:latin typeface="Roboto"/>
                <a:ea typeface="Roboto"/>
                <a:cs typeface="Roboto"/>
                <a:sym typeface="Roboto"/>
              </a:rPr>
              <a:t>StrictMode</a:t>
            </a:r>
            <a:r>
              <a:rPr lang="en-US" sz="1800" dirty="0">
                <a:solidFill>
                  <a:srgbClr val="00B0F0"/>
                </a:solidFill>
                <a:latin typeface="Roboto"/>
                <a:ea typeface="Roboto"/>
                <a:cs typeface="Roboto"/>
                <a:sym typeface="Roboto"/>
              </a:rPr>
              <a:t>&gt; </a:t>
            </a:r>
            <a:r>
              <a:rPr lang="en-US" sz="1800" dirty="0">
                <a:solidFill>
                  <a:schemeClr val="dk2"/>
                </a:solidFill>
                <a:latin typeface="Roboto"/>
                <a:ea typeface="Roboto"/>
                <a:cs typeface="Roboto"/>
                <a:sym typeface="Roboto"/>
              </a:rPr>
              <a:t>component is a development tool that helps detect potential problems by highlighting unsafe patterns and running additional checks.</a:t>
            </a:r>
          </a:p>
        </p:txBody>
      </p:sp>
    </p:spTree>
    <p:extLst>
      <p:ext uri="{BB962C8B-B14F-4D97-AF65-F5344CB8AC3E}">
        <p14:creationId xmlns:p14="http://schemas.microsoft.com/office/powerpoint/2010/main" val="39703440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464100" y="105200"/>
            <a:ext cx="8520600" cy="607800"/>
          </a:xfrm>
        </p:spPr>
        <p:txBody>
          <a:bodyPr/>
          <a:lstStyle/>
          <a:p>
            <a:pPr algn="ctr"/>
            <a:r>
              <a:rPr lang="en-US">
                <a:latin typeface="+mj-lt"/>
              </a:rPr>
              <a:t>Cont…</a:t>
            </a:r>
            <a:endParaRPr lang="en-US" dirty="0">
              <a:latin typeface="+mj-lt"/>
            </a:endParaRPr>
          </a:p>
        </p:txBody>
      </p:sp>
      <p:pic>
        <p:nvPicPr>
          <p:cNvPr id="8" name="Picture 7">
            <a:extLst>
              <a:ext uri="{FF2B5EF4-FFF2-40B4-BE49-F238E27FC236}">
                <a16:creationId xmlns:a16="http://schemas.microsoft.com/office/drawing/2014/main" id="{60E55D83-4187-6D3B-3B19-858ADC24B17D}"/>
              </a:ext>
            </a:extLst>
          </p:cNvPr>
          <p:cNvPicPr>
            <a:picLocks noChangeAspect="1"/>
          </p:cNvPicPr>
          <p:nvPr/>
        </p:nvPicPr>
        <p:blipFill>
          <a:blip r:embed="rId2"/>
          <a:stretch>
            <a:fillRect/>
          </a:stretch>
        </p:blipFill>
        <p:spPr>
          <a:xfrm>
            <a:off x="327667" y="773264"/>
            <a:ext cx="4059925" cy="3768657"/>
          </a:xfrm>
          <a:prstGeom prst="rect">
            <a:avLst/>
          </a:prstGeom>
          <a:ln>
            <a:noFill/>
          </a:ln>
          <a:effectLst/>
        </p:spPr>
      </p:pic>
      <p:sp>
        <p:nvSpPr>
          <p:cNvPr id="10" name="TextBox 9">
            <a:extLst>
              <a:ext uri="{FF2B5EF4-FFF2-40B4-BE49-F238E27FC236}">
                <a16:creationId xmlns:a16="http://schemas.microsoft.com/office/drawing/2014/main" id="{A343E999-BE67-D1CB-2C73-37715B08C010}"/>
              </a:ext>
            </a:extLst>
          </p:cNvPr>
          <p:cNvSpPr txBox="1"/>
          <p:nvPr/>
        </p:nvSpPr>
        <p:spPr>
          <a:xfrm>
            <a:off x="4662792" y="1186412"/>
            <a:ext cx="4244333" cy="2677656"/>
          </a:xfrm>
          <a:prstGeom prst="rect">
            <a:avLst/>
          </a:prstGeom>
          <a:noFill/>
        </p:spPr>
        <p:txBody>
          <a:bodyPr wrap="square">
            <a:spAutoFit/>
          </a:bodyPr>
          <a:lstStyle/>
          <a:p>
            <a:pPr marL="342900" indent="-342900">
              <a:buFont typeface="Arial" panose="020B0604020202020204" pitchFamily="34" charset="0"/>
              <a:buChar char="•"/>
            </a:pPr>
            <a:r>
              <a:rPr lang="en-US" sz="2400">
                <a:latin typeface="+mn-lt"/>
              </a:rPr>
              <a:t>We've used curly braces </a:t>
            </a:r>
            <a:r>
              <a:rPr lang="en-US" sz="2400">
                <a:solidFill>
                  <a:srgbClr val="00B0F0"/>
                </a:solidFill>
                <a:latin typeface="+mn-lt"/>
              </a:rPr>
              <a:t>{}</a:t>
            </a:r>
            <a:r>
              <a:rPr lang="en-US" sz="2400">
                <a:latin typeface="+mn-lt"/>
              </a:rPr>
              <a:t> </a:t>
            </a:r>
            <a:r>
              <a:rPr lang="en-US" sz="2400">
                <a:solidFill>
                  <a:srgbClr val="00B0F0"/>
                </a:solidFill>
                <a:latin typeface="+mn-lt"/>
              </a:rPr>
              <a:t>to embed the expression 20 + 20 within the JSX</a:t>
            </a:r>
            <a:r>
              <a:rPr lang="en-US" sz="2400">
                <a:latin typeface="+mn-lt"/>
              </a:rPr>
              <a:t>.</a:t>
            </a:r>
          </a:p>
          <a:p>
            <a:pPr marL="342900" indent="-342900">
              <a:buFont typeface="Arial" panose="020B0604020202020204" pitchFamily="34" charset="0"/>
              <a:buChar char="•"/>
            </a:pPr>
            <a:r>
              <a:rPr lang="en-US" sz="2400">
                <a:latin typeface="+mn-lt"/>
              </a:rPr>
              <a:t>This allows you to perform JavaScript calculations and display the result directly in your React component.</a:t>
            </a:r>
            <a:endParaRPr lang="en-US" sz="2400" dirty="0">
              <a:latin typeface="+mn-lt"/>
            </a:endParaRPr>
          </a:p>
        </p:txBody>
      </p:sp>
    </p:spTree>
    <p:extLst>
      <p:ext uri="{BB962C8B-B14F-4D97-AF65-F5344CB8AC3E}">
        <p14:creationId xmlns:p14="http://schemas.microsoft.com/office/powerpoint/2010/main" val="3970344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311700" y="0"/>
            <a:ext cx="8520600" cy="607800"/>
          </a:xfrm>
        </p:spPr>
        <p:txBody>
          <a:bodyPr/>
          <a:lstStyle/>
          <a:p>
            <a:pPr algn="ctr"/>
            <a:r>
              <a:rPr lang="en-US" dirty="0"/>
              <a:t>lists in JSX</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215445" y="500059"/>
            <a:ext cx="8928555" cy="3913525"/>
          </a:xfrm>
          <a:ln>
            <a:noFill/>
          </a:ln>
          <a:effectLst/>
          <a:scene3d>
            <a:camera prst="orthographicFront">
              <a:rot lat="0" lon="0" rev="0"/>
            </a:camera>
            <a:lightRig rig="contrasting" dir="t">
              <a:rot lat="0" lon="0" rev="1500000"/>
            </a:lightRig>
          </a:scene3d>
          <a:sp3d prstMaterial="metal">
            <a:bevelT w="88900" h="88900"/>
          </a:sp3d>
        </p:spPr>
        <p:txBody>
          <a:bodyPr/>
          <a:lstStyle/>
          <a:p>
            <a:r>
              <a:rPr lang="en-US" sz="2000" dirty="0">
                <a:latin typeface="+mn-lt"/>
              </a:rPr>
              <a:t>First, let’s review how you transform lists in JavaScript.</a:t>
            </a:r>
          </a:p>
          <a:p>
            <a:r>
              <a:rPr lang="en-US" sz="2000" dirty="0">
                <a:latin typeface="+mn-lt"/>
              </a:rPr>
              <a:t>Given the code below, we use the </a:t>
            </a:r>
            <a:r>
              <a:rPr lang="en-US" sz="2000" dirty="0">
                <a:solidFill>
                  <a:srgbClr val="00B0F0"/>
                </a:solidFill>
                <a:latin typeface="+mn-lt"/>
              </a:rPr>
              <a:t>map() </a:t>
            </a:r>
            <a:r>
              <a:rPr lang="en-US" sz="2000" dirty="0">
                <a:latin typeface="+mn-lt"/>
              </a:rPr>
              <a:t>function to take an array of numbers and double their values. </a:t>
            </a:r>
          </a:p>
          <a:p>
            <a:r>
              <a:rPr lang="en-US" sz="2000" dirty="0">
                <a:latin typeface="+mn-lt"/>
              </a:rPr>
              <a:t>We assign the new array returned by map() to the variable squared and log it:</a:t>
            </a:r>
          </a:p>
          <a:p>
            <a:pPr marL="139700" indent="0">
              <a:buNone/>
            </a:pPr>
            <a:endParaRPr lang="en-US" sz="2000" dirty="0">
              <a:latin typeface="+mn-lt"/>
            </a:endParaRPr>
          </a:p>
          <a:p>
            <a:pPr marL="139700" indent="0">
              <a:buNone/>
            </a:pPr>
            <a:endParaRPr lang="en-US" sz="2000" dirty="0">
              <a:latin typeface="+mn-lt"/>
            </a:endParaRPr>
          </a:p>
          <a:p>
            <a:pPr marL="139700" indent="0">
              <a:buNone/>
            </a:pPr>
            <a:endParaRPr lang="en-US" sz="2000" dirty="0">
              <a:latin typeface="+mn-lt"/>
            </a:endParaRPr>
          </a:p>
          <a:p>
            <a:pPr marL="139700" indent="0">
              <a:buNone/>
            </a:pPr>
            <a:endParaRPr lang="en-US" sz="2000" dirty="0">
              <a:latin typeface="+mn-lt"/>
            </a:endParaRPr>
          </a:p>
          <a:p>
            <a:pPr marL="139700" indent="0">
              <a:buNone/>
            </a:pPr>
            <a:endParaRPr lang="en-US" sz="2000" dirty="0">
              <a:latin typeface="+mn-lt"/>
            </a:endParaRPr>
          </a:p>
          <a:p>
            <a:r>
              <a:rPr lang="en-US" sz="2000" dirty="0">
                <a:latin typeface="+mn-lt"/>
              </a:rPr>
              <a:t>In React, transforming arrays into lists of elements is nearly identical.</a:t>
            </a:r>
          </a:p>
          <a:p>
            <a:r>
              <a:rPr lang="en-US" sz="2000" dirty="0">
                <a:latin typeface="+mn-lt"/>
              </a:rPr>
              <a:t>You can build collections of elements and include them in JSX using curly braces </a:t>
            </a:r>
            <a:r>
              <a:rPr lang="en-US" sz="2000" dirty="0">
                <a:solidFill>
                  <a:srgbClr val="00B0F0"/>
                </a:solidFill>
                <a:latin typeface="+mn-lt"/>
              </a:rPr>
              <a:t>{}</a:t>
            </a:r>
            <a:r>
              <a:rPr lang="en-US" sz="2000" dirty="0">
                <a:latin typeface="+mn-lt"/>
              </a:rPr>
              <a:t>.</a:t>
            </a:r>
          </a:p>
        </p:txBody>
      </p:sp>
      <p:pic>
        <p:nvPicPr>
          <p:cNvPr id="5" name="Picture 4" descr="squaredarray.png"/>
          <p:cNvPicPr>
            <a:picLocks noChangeAspect="1"/>
          </p:cNvPicPr>
          <p:nvPr/>
        </p:nvPicPr>
        <p:blipFill>
          <a:blip r:embed="rId2"/>
          <a:srcRect l="6271" t="18693" r="6161" b="17425"/>
          <a:stretch>
            <a:fillRect/>
          </a:stretch>
        </p:blipFill>
        <p:spPr>
          <a:xfrm>
            <a:off x="1058838" y="1818230"/>
            <a:ext cx="5519171" cy="1302276"/>
          </a:xfrm>
          <a:prstGeom prst="rect">
            <a:avLst/>
          </a:prstGeom>
          <a:ln>
            <a:noFill/>
          </a:ln>
          <a:effectLst>
            <a:outerShdw blurRad="190500" algn="tl" rotWithShape="0">
              <a:srgbClr val="000000">
                <a:alpha val="70000"/>
              </a:srgbClr>
            </a:outerShdw>
          </a:effectLst>
        </p:spPr>
      </p:pic>
      <p:pic>
        <p:nvPicPr>
          <p:cNvPr id="6" name="Picture 5" descr="squaredarrayoutput.png"/>
          <p:cNvPicPr>
            <a:picLocks noChangeAspect="1"/>
          </p:cNvPicPr>
          <p:nvPr/>
        </p:nvPicPr>
        <p:blipFill>
          <a:blip r:embed="rId3"/>
          <a:srcRect l="24285" t="44094" r="13900" b="24698"/>
          <a:stretch>
            <a:fillRect/>
          </a:stretch>
        </p:blipFill>
        <p:spPr>
          <a:xfrm>
            <a:off x="6810391" y="2297372"/>
            <a:ext cx="1905399" cy="548756"/>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A871ECF3-3690-F135-00D4-6A615CDC6D45}"/>
              </a:ext>
            </a:extLst>
          </p:cNvPr>
          <p:cNvSpPr txBox="1"/>
          <p:nvPr/>
        </p:nvSpPr>
        <p:spPr>
          <a:xfrm>
            <a:off x="7362088" y="1938773"/>
            <a:ext cx="802005" cy="307777"/>
          </a:xfrm>
          <a:prstGeom prst="rect">
            <a:avLst/>
          </a:prstGeom>
          <a:noFill/>
        </p:spPr>
        <p:txBody>
          <a:bodyPr wrap="square">
            <a:spAutoFit/>
          </a:bodyPr>
          <a:lstStyle/>
          <a:p>
            <a:r>
              <a:rPr lang="en-US" sz="1400" b="1" dirty="0">
                <a:solidFill>
                  <a:schemeClr val="tx1"/>
                </a:solidFill>
                <a:latin typeface="+mn-lt"/>
              </a:rPr>
              <a:t>output</a:t>
            </a:r>
            <a:endParaRPr lang="en-US" b="1" dirty="0">
              <a:solidFill>
                <a:schemeClr val="tx1"/>
              </a:solidFill>
            </a:endParaRPr>
          </a:p>
        </p:txBody>
      </p:sp>
    </p:spTree>
    <p:extLst>
      <p:ext uri="{BB962C8B-B14F-4D97-AF65-F5344CB8AC3E}">
        <p14:creationId xmlns:p14="http://schemas.microsoft.com/office/powerpoint/2010/main" val="3230164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311700" y="59324"/>
            <a:ext cx="8520600" cy="607800"/>
          </a:xfrm>
        </p:spPr>
        <p:txBody>
          <a:bodyPr/>
          <a:lstStyle/>
          <a:p>
            <a:pPr algn="ctr"/>
            <a:r>
              <a:rPr lang="en-US" dirty="0"/>
              <a:t>Cont…</a:t>
            </a:r>
          </a:p>
        </p:txBody>
      </p:sp>
      <p:pic>
        <p:nvPicPr>
          <p:cNvPr id="7" name="Picture 6" descr="listItems.png"/>
          <p:cNvPicPr>
            <a:picLocks noChangeAspect="1"/>
          </p:cNvPicPr>
          <p:nvPr/>
        </p:nvPicPr>
        <p:blipFill>
          <a:blip r:embed="rId2"/>
          <a:srcRect l="4880" t="7739" r="5434" b="8704"/>
          <a:stretch>
            <a:fillRect/>
          </a:stretch>
        </p:blipFill>
        <p:spPr>
          <a:xfrm>
            <a:off x="311700" y="922020"/>
            <a:ext cx="5941081" cy="3534476"/>
          </a:xfrm>
          <a:prstGeom prst="rect">
            <a:avLst/>
          </a:prstGeom>
          <a:ln>
            <a:noFill/>
          </a:ln>
          <a:effectLst/>
        </p:spPr>
      </p:pic>
      <p:sp>
        <p:nvSpPr>
          <p:cNvPr id="5" name="TextBox 4">
            <a:extLst>
              <a:ext uri="{FF2B5EF4-FFF2-40B4-BE49-F238E27FC236}">
                <a16:creationId xmlns:a16="http://schemas.microsoft.com/office/drawing/2014/main" id="{A53B6C3E-3961-5B1C-FF51-405F11048467}"/>
              </a:ext>
            </a:extLst>
          </p:cNvPr>
          <p:cNvSpPr txBox="1"/>
          <p:nvPr/>
        </p:nvSpPr>
        <p:spPr>
          <a:xfrm>
            <a:off x="6391177" y="1556087"/>
            <a:ext cx="2508983" cy="2062103"/>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pPr>
              <a:buFont typeface="Arial" panose="020B0604020202020204" pitchFamily="34" charset="0"/>
              <a:buChar char="•"/>
            </a:pPr>
            <a:r>
              <a:rPr lang="en-US" sz="1600" dirty="0">
                <a:solidFill>
                  <a:schemeClr val="tx1"/>
                </a:solidFill>
              </a:rPr>
              <a:t>W</a:t>
            </a:r>
            <a:r>
              <a:rPr lang="en-US" sz="1600" dirty="0">
                <a:solidFill>
                  <a:schemeClr val="tx1"/>
                </a:solidFill>
                <a:latin typeface="+mn-lt"/>
              </a:rPr>
              <a:t>e loop through the numbers array using the JavaScript </a:t>
            </a:r>
            <a:r>
              <a:rPr lang="en-US" sz="1600" dirty="0">
                <a:solidFill>
                  <a:srgbClr val="00B0F0"/>
                </a:solidFill>
                <a:latin typeface="+mn-lt"/>
              </a:rPr>
              <a:t>map() </a:t>
            </a:r>
            <a:r>
              <a:rPr lang="en-US" sz="1600" dirty="0">
                <a:solidFill>
                  <a:schemeClr val="tx1"/>
                </a:solidFill>
                <a:latin typeface="+mn-lt"/>
              </a:rPr>
              <a:t>function. </a:t>
            </a:r>
          </a:p>
          <a:p>
            <a:pPr>
              <a:buFont typeface="Arial" panose="020B0604020202020204" pitchFamily="34" charset="0"/>
              <a:buChar char="•"/>
            </a:pPr>
            <a:r>
              <a:rPr lang="en-US" sz="1600" dirty="0">
                <a:solidFill>
                  <a:schemeClr val="tx1"/>
                </a:solidFill>
                <a:latin typeface="+mn-lt"/>
              </a:rPr>
              <a:t>We return a &lt;li&gt; element for each item. </a:t>
            </a:r>
          </a:p>
          <a:p>
            <a:pPr>
              <a:buFont typeface="Arial" panose="020B0604020202020204" pitchFamily="34" charset="0"/>
              <a:buChar char="•"/>
            </a:pPr>
            <a:r>
              <a:rPr lang="en-US" sz="1600" dirty="0">
                <a:solidFill>
                  <a:schemeClr val="tx1"/>
                </a:solidFill>
                <a:latin typeface="+mn-lt"/>
              </a:rPr>
              <a:t>Finally, we assign the resulting array of elements to </a:t>
            </a:r>
            <a:r>
              <a:rPr lang="en-US" sz="1600" dirty="0" err="1">
                <a:solidFill>
                  <a:schemeClr val="tx1"/>
                </a:solidFill>
                <a:latin typeface="+mn-lt"/>
              </a:rPr>
              <a:t>listItems</a:t>
            </a:r>
            <a:r>
              <a:rPr lang="en-US" sz="1600" dirty="0">
                <a:solidFill>
                  <a:schemeClr val="tx1"/>
                </a:solidFill>
                <a:latin typeface="+mn-lt"/>
              </a:rPr>
              <a:t>.</a:t>
            </a:r>
          </a:p>
        </p:txBody>
      </p:sp>
    </p:spTree>
    <p:extLst>
      <p:ext uri="{BB962C8B-B14F-4D97-AF65-F5344CB8AC3E}">
        <p14:creationId xmlns:p14="http://schemas.microsoft.com/office/powerpoint/2010/main" val="4215236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spcBef>
                <a:spcPct val="0"/>
              </a:spcBef>
            </a:pPr>
            <a:r>
              <a:rPr lang="en-US" sz="3000" kern="1200">
                <a:solidFill>
                  <a:srgbClr val="FFFFFF"/>
                </a:solidFill>
                <a:latin typeface="+mj-lt"/>
                <a:ea typeface="+mj-ea"/>
                <a:cs typeface="+mj-cs"/>
              </a:rPr>
              <a:t>Cont…</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344512" y="1268819"/>
            <a:ext cx="8106149" cy="3792279"/>
          </a:xfrm>
        </p:spPr>
        <p:txBody>
          <a:bodyPr vert="horz" lIns="91440" tIns="45720" rIns="91440" bIns="45720" rtlCol="0" anchor="ctr">
            <a:normAutofit/>
          </a:bodyPr>
          <a:lstStyle/>
          <a:p>
            <a:pPr indent="-228600" defTabSz="914400">
              <a:spcAft>
                <a:spcPts val="600"/>
              </a:spcAft>
              <a:buFont typeface="Arial" panose="020B0604020202020204" pitchFamily="34" charset="0"/>
              <a:buChar char="•"/>
            </a:pPr>
            <a:r>
              <a:rPr lang="en-US" sz="1800" dirty="0"/>
              <a:t>We've created an array numbers containing [</a:t>
            </a:r>
            <a:r>
              <a:rPr lang="en-US" sz="1800" b="1" dirty="0"/>
              <a:t>1, 2, 3, 4, 5</a:t>
            </a:r>
            <a:r>
              <a:rPr lang="en-US" sz="1800" dirty="0"/>
              <a:t>].</a:t>
            </a:r>
          </a:p>
          <a:p>
            <a:pPr indent="-228600" defTabSz="914400">
              <a:spcAft>
                <a:spcPts val="600"/>
              </a:spcAft>
              <a:buFont typeface="Arial" panose="020B0604020202020204" pitchFamily="34" charset="0"/>
              <a:buChar char="•"/>
            </a:pPr>
            <a:r>
              <a:rPr lang="en-US" sz="1800" dirty="0"/>
              <a:t>We've used the </a:t>
            </a:r>
            <a:r>
              <a:rPr lang="en-US" sz="1800" dirty="0">
                <a:solidFill>
                  <a:srgbClr val="00B0F0"/>
                </a:solidFill>
              </a:rPr>
              <a:t>map</a:t>
            </a:r>
            <a:r>
              <a:rPr lang="en-US" sz="1800" dirty="0"/>
              <a:t> function to iterate over each number in the array and created an array of </a:t>
            </a:r>
            <a:r>
              <a:rPr lang="en-US" sz="1800" b="1" dirty="0"/>
              <a:t>&lt;li&gt; </a:t>
            </a:r>
            <a:r>
              <a:rPr lang="en-US" sz="1800" dirty="0"/>
              <a:t>elements with the squared values.</a:t>
            </a:r>
          </a:p>
          <a:p>
            <a:pPr indent="-228600" defTabSz="914400">
              <a:spcAft>
                <a:spcPts val="600"/>
              </a:spcAft>
              <a:buFont typeface="Arial" panose="020B0604020202020204" pitchFamily="34" charset="0"/>
              <a:buChar char="•"/>
            </a:pPr>
            <a:r>
              <a:rPr lang="en-US" sz="1800" dirty="0"/>
              <a:t>The resulting array of </a:t>
            </a:r>
            <a:r>
              <a:rPr lang="en-US" sz="1800" b="1" dirty="0"/>
              <a:t>&lt;li&gt; </a:t>
            </a:r>
            <a:r>
              <a:rPr lang="en-US" sz="1800" dirty="0"/>
              <a:t>elements is stored in the </a:t>
            </a:r>
            <a:r>
              <a:rPr lang="en-US" sz="1800" b="1" dirty="0" err="1"/>
              <a:t>listItems</a:t>
            </a:r>
            <a:r>
              <a:rPr lang="en-US" sz="1800" dirty="0"/>
              <a:t> variable.</a:t>
            </a:r>
          </a:p>
          <a:p>
            <a:pPr indent="-228600" defTabSz="914400">
              <a:spcAft>
                <a:spcPts val="600"/>
              </a:spcAft>
              <a:buFont typeface="Arial" panose="020B0604020202020204" pitchFamily="34" charset="0"/>
              <a:buChar char="•"/>
            </a:pPr>
            <a:r>
              <a:rPr lang="en-US" sz="1800" dirty="0"/>
              <a:t>Inside the JSX, you've included the </a:t>
            </a:r>
            <a:r>
              <a:rPr lang="en-US" sz="1800" b="1" dirty="0"/>
              <a:t>{</a:t>
            </a:r>
            <a:r>
              <a:rPr lang="en-US" sz="1800" b="1" dirty="0" err="1"/>
              <a:t>listItems</a:t>
            </a:r>
            <a:r>
              <a:rPr lang="en-US" sz="1800" b="1" dirty="0"/>
              <a:t>} </a:t>
            </a:r>
            <a:r>
              <a:rPr lang="en-US" sz="1800" dirty="0"/>
              <a:t>variable, which will render the array of </a:t>
            </a:r>
            <a:r>
              <a:rPr lang="en-US" sz="1800" b="1" dirty="0"/>
              <a:t>&lt;li&gt; </a:t>
            </a:r>
            <a:r>
              <a:rPr lang="en-US" sz="1800" dirty="0"/>
              <a:t>elements within the </a:t>
            </a:r>
            <a:r>
              <a:rPr lang="en-US" sz="1800" b="1" dirty="0"/>
              <a:t>&lt;ul&gt; </a:t>
            </a:r>
            <a:r>
              <a:rPr lang="en-US" sz="1800" dirty="0"/>
              <a:t>element.</a:t>
            </a:r>
          </a:p>
          <a:p>
            <a:pPr indent="-228600" defTabSz="914400">
              <a:spcAft>
                <a:spcPts val="600"/>
              </a:spcAft>
              <a:buFont typeface="Arial" panose="020B0604020202020204" pitchFamily="34" charset="0"/>
              <a:buChar char="•"/>
            </a:pPr>
            <a:r>
              <a:rPr lang="en-US" sz="1800" dirty="0"/>
              <a:t>When you run the previous code, you’ll be given a warning that a key should be provided for list items.</a:t>
            </a:r>
          </a:p>
          <a:p>
            <a:pPr indent="-228600" defTabSz="914400">
              <a:spcAft>
                <a:spcPts val="600"/>
              </a:spcAft>
              <a:buFont typeface="Arial" panose="020B0604020202020204" pitchFamily="34" charset="0"/>
              <a:buChar char="•"/>
            </a:pPr>
            <a:r>
              <a:rPr lang="en-US" sz="1800" dirty="0"/>
              <a:t>A “</a:t>
            </a:r>
            <a:r>
              <a:rPr lang="en-US" sz="1800" b="1" dirty="0">
                <a:solidFill>
                  <a:srgbClr val="00B0F0"/>
                </a:solidFill>
              </a:rPr>
              <a:t>key</a:t>
            </a:r>
            <a:r>
              <a:rPr lang="en-US" sz="1800" dirty="0"/>
              <a:t>” is a special string attribute you need to include when creating lists of elements. We’ll discuss why it’s important in the next section.</a:t>
            </a:r>
          </a:p>
          <a:p>
            <a:pPr indent="-228600" defTabSz="914400">
              <a:spcAft>
                <a:spcPts val="600"/>
              </a:spcAft>
              <a:buFont typeface="Arial" panose="020B0604020202020204" pitchFamily="34" charset="0"/>
              <a:buChar char="•"/>
            </a:pPr>
            <a:r>
              <a:rPr lang="en-US" sz="1800" dirty="0"/>
              <a:t>Let’s assign a key to our list items inside </a:t>
            </a:r>
            <a:r>
              <a:rPr lang="en-US" sz="1800" b="1" dirty="0" err="1"/>
              <a:t>numbers.map</a:t>
            </a:r>
            <a:r>
              <a:rPr lang="en-US" sz="1800" b="1" dirty="0"/>
              <a:t>() </a:t>
            </a:r>
            <a:r>
              <a:rPr lang="en-US" sz="1800" dirty="0"/>
              <a:t>and fix the missing key issue.</a:t>
            </a:r>
          </a:p>
        </p:txBody>
      </p:sp>
    </p:spTree>
    <p:extLst>
      <p:ext uri="{BB962C8B-B14F-4D97-AF65-F5344CB8AC3E}">
        <p14:creationId xmlns:p14="http://schemas.microsoft.com/office/powerpoint/2010/main" val="9328382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193055"/>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193056"/>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193055"/>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19807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1028699" y="220903"/>
            <a:ext cx="7421963" cy="775252"/>
          </a:xfrm>
        </p:spPr>
        <p:txBody>
          <a:bodyPr vert="horz" lIns="91440" tIns="45720" rIns="91440" bIns="45720" rtlCol="0" anchor="ctr">
            <a:normAutofit/>
          </a:bodyPr>
          <a:lstStyle/>
          <a:p>
            <a:pPr defTabSz="914400">
              <a:spcBef>
                <a:spcPct val="0"/>
              </a:spcBef>
            </a:pPr>
            <a:r>
              <a:rPr lang="en-US" sz="3000" kern="1200">
                <a:solidFill>
                  <a:srgbClr val="FFFFFF"/>
                </a:solidFill>
                <a:latin typeface="+mj-lt"/>
                <a:ea typeface="+mj-ea"/>
                <a:cs typeface="+mj-cs"/>
              </a:rPr>
              <a:t>Conditionals in JSX</a:t>
            </a:r>
          </a:p>
        </p:txBody>
      </p:sp>
      <p:sp>
        <p:nvSpPr>
          <p:cNvPr id="3" name="Text Placeholder 2">
            <a:extLst>
              <a:ext uri="{FF2B5EF4-FFF2-40B4-BE49-F238E27FC236}">
                <a16:creationId xmlns:a16="http://schemas.microsoft.com/office/drawing/2014/main" id="{ED179510-5EDB-402C-AED1-6EA913E6BBD0}"/>
              </a:ext>
            </a:extLst>
          </p:cNvPr>
          <p:cNvSpPr>
            <a:spLocks noGrp="1"/>
          </p:cNvSpPr>
          <p:nvPr>
            <p:ph type="body" idx="1"/>
          </p:nvPr>
        </p:nvSpPr>
        <p:spPr>
          <a:xfrm>
            <a:off x="344512" y="1413959"/>
            <a:ext cx="8106149" cy="3051715"/>
          </a:xfrm>
        </p:spPr>
        <p:txBody>
          <a:bodyPr vert="horz" lIns="91440" tIns="45720" rIns="91440" bIns="45720" rtlCol="0" anchor="ctr">
            <a:normAutofit/>
          </a:bodyPr>
          <a:lstStyle/>
          <a:p>
            <a:pPr indent="-228600" defTabSz="914400">
              <a:spcAft>
                <a:spcPts val="600"/>
              </a:spcAft>
              <a:buFont typeface="Arial" panose="020B0604020202020204" pitchFamily="34" charset="0"/>
              <a:buChar char="•"/>
            </a:pPr>
            <a:r>
              <a:rPr lang="en-US" sz="2000"/>
              <a:t>In React, you can create distinct components that encapsulate behavior you need. Then, you can render only some of them, depending on the state of your application.</a:t>
            </a:r>
          </a:p>
          <a:p>
            <a:pPr indent="-228600" defTabSz="914400">
              <a:spcAft>
                <a:spcPts val="600"/>
              </a:spcAft>
              <a:buFont typeface="Arial" panose="020B0604020202020204" pitchFamily="34" charset="0"/>
              <a:buChar char="•"/>
            </a:pPr>
            <a:r>
              <a:rPr lang="en-US" sz="2000"/>
              <a:t>Conditional rendering in React works the same way conditions work in JavaScript. </a:t>
            </a:r>
          </a:p>
          <a:p>
            <a:pPr indent="-228600" defTabSz="914400">
              <a:spcAft>
                <a:spcPts val="600"/>
              </a:spcAft>
              <a:buFont typeface="Arial" panose="020B0604020202020204" pitchFamily="34" charset="0"/>
              <a:buChar char="•"/>
            </a:pPr>
            <a:r>
              <a:rPr lang="en-US" sz="2000"/>
              <a:t>Use JavaScript operators like </a:t>
            </a:r>
            <a:r>
              <a:rPr lang="en-US" sz="2000" b="1">
                <a:solidFill>
                  <a:srgbClr val="00B0F0"/>
                </a:solidFill>
              </a:rPr>
              <a:t>if</a:t>
            </a:r>
            <a:r>
              <a:rPr lang="en-US" sz="2000"/>
              <a:t> or the </a:t>
            </a:r>
            <a:r>
              <a:rPr lang="en-US" sz="2000" b="1">
                <a:solidFill>
                  <a:srgbClr val="00B0F0"/>
                </a:solidFill>
              </a:rPr>
              <a:t>conditional operator</a:t>
            </a:r>
            <a:r>
              <a:rPr lang="en-US" sz="2000"/>
              <a:t> to create elements representing the current state and let React update the UI to match them.</a:t>
            </a:r>
            <a:endParaRPr lang="en-US" sz="2000" dirty="0"/>
          </a:p>
        </p:txBody>
      </p:sp>
      <p:sp>
        <p:nvSpPr>
          <p:cNvPr id="5" name="TextBox 4">
            <a:extLst>
              <a:ext uri="{FF2B5EF4-FFF2-40B4-BE49-F238E27FC236}">
                <a16:creationId xmlns:a16="http://schemas.microsoft.com/office/drawing/2014/main" id="{A38878AE-9DC8-F7D4-88A4-9A1AD4A7867E}"/>
              </a:ext>
            </a:extLst>
          </p:cNvPr>
          <p:cNvSpPr txBox="1"/>
          <p:nvPr/>
        </p:nvSpPr>
        <p:spPr>
          <a:xfrm>
            <a:off x="344511" y="4183933"/>
            <a:ext cx="8106149" cy="523220"/>
          </a:xfrm>
          <a:prstGeom prst="rect">
            <a:avLst/>
          </a:prstGeom>
          <a:noFill/>
        </p:spPr>
        <p:txBody>
          <a:bodyPr wrap="square">
            <a:spAutoFit/>
          </a:bodyPr>
          <a:lstStyle/>
          <a:p>
            <a:r>
              <a:rPr lang="en-US" b="1" dirty="0">
                <a:solidFill>
                  <a:srgbClr val="00B0F0"/>
                </a:solidFill>
              </a:rPr>
              <a:t>Conditional rendering</a:t>
            </a:r>
            <a:r>
              <a:rPr lang="en-US" dirty="0">
                <a:solidFill>
                  <a:srgbClr val="00B0F0"/>
                </a:solidFill>
              </a:rPr>
              <a:t> </a:t>
            </a:r>
            <a:r>
              <a:rPr lang="en-US" dirty="0"/>
              <a:t>in React means </a:t>
            </a:r>
            <a:r>
              <a:rPr lang="en-US" i="1" dirty="0">
                <a:solidFill>
                  <a:srgbClr val="00B0F0"/>
                </a:solidFill>
              </a:rPr>
              <a:t>displaying different UI elements based on a condition </a:t>
            </a:r>
            <a:r>
              <a:rPr lang="en-US" dirty="0"/>
              <a:t>(like state, props, or user actions).</a:t>
            </a:r>
          </a:p>
        </p:txBody>
      </p:sp>
    </p:spTree>
    <p:extLst>
      <p:ext uri="{BB962C8B-B14F-4D97-AF65-F5344CB8AC3E}">
        <p14:creationId xmlns:p14="http://schemas.microsoft.com/office/powerpoint/2010/main" val="19047523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367847" y="32084"/>
            <a:ext cx="8520600" cy="607800"/>
          </a:xfrm>
        </p:spPr>
        <p:txBody>
          <a:bodyPr/>
          <a:lstStyle/>
          <a:p>
            <a:pPr algn="ctr"/>
            <a:r>
              <a:rPr lang="en-US">
                <a:latin typeface="+mj-lt"/>
              </a:rPr>
              <a:t>Using If-Else Statements (Outside JSX)</a:t>
            </a:r>
            <a:endParaRPr lang="en-US" dirty="0">
              <a:latin typeface="+mj-lt"/>
            </a:endParaRPr>
          </a:p>
        </p:txBody>
      </p:sp>
      <p:pic>
        <p:nvPicPr>
          <p:cNvPr id="7" name="Picture 6" descr="renderingifelse.png"/>
          <p:cNvPicPr>
            <a:picLocks noChangeAspect="1"/>
          </p:cNvPicPr>
          <p:nvPr/>
        </p:nvPicPr>
        <p:blipFill>
          <a:blip r:embed="rId2"/>
          <a:srcRect l="6947" t="7173" r="7090" b="8304"/>
          <a:stretch>
            <a:fillRect/>
          </a:stretch>
        </p:blipFill>
        <p:spPr>
          <a:xfrm>
            <a:off x="468952" y="899277"/>
            <a:ext cx="4287346" cy="3879368"/>
          </a:xfrm>
          <a:prstGeom prst="rect">
            <a:avLst/>
          </a:prstGeom>
          <a:ln>
            <a:noFill/>
          </a:ln>
          <a:effectLst>
            <a:outerShdw blurRad="44450" dist="27940" dir="5400000" algn="ctr">
              <a:srgbClr val="000000">
                <a:alpha val="32000"/>
              </a:srgbClr>
            </a:outerShdw>
          </a:effectLst>
        </p:spPr>
      </p:pic>
      <p:sp>
        <p:nvSpPr>
          <p:cNvPr id="4" name="TextBox 3">
            <a:extLst>
              <a:ext uri="{FF2B5EF4-FFF2-40B4-BE49-F238E27FC236}">
                <a16:creationId xmlns:a16="http://schemas.microsoft.com/office/drawing/2014/main" id="{83CC3A28-3848-BB5C-E5D9-84668AC34016}"/>
              </a:ext>
            </a:extLst>
          </p:cNvPr>
          <p:cNvSpPr txBox="1"/>
          <p:nvPr/>
        </p:nvSpPr>
        <p:spPr>
          <a:xfrm>
            <a:off x="4947683" y="1407800"/>
            <a:ext cx="4084852" cy="2862322"/>
          </a:xfrm>
          <a:prstGeom prst="rect">
            <a:avLst/>
          </a:prstGeom>
          <a:noFill/>
        </p:spPr>
        <p:txBody>
          <a:bodyPr wrap="square">
            <a:spAutoFit/>
          </a:bodyPr>
          <a:lstStyle/>
          <a:p>
            <a:r>
              <a:rPr lang="en-US" sz="1800" dirty="0"/>
              <a:t>Conditionals in JSX can be achieved using </a:t>
            </a:r>
            <a:r>
              <a:rPr lang="en-US" sz="1800" dirty="0">
                <a:solidFill>
                  <a:srgbClr val="00B0F0"/>
                </a:solidFill>
              </a:rPr>
              <a:t>JavaScript expressions and statements within curly braces {}. </a:t>
            </a:r>
          </a:p>
          <a:p>
            <a:r>
              <a:rPr lang="en-US" sz="1800" dirty="0">
                <a:latin typeface="+mn-lt"/>
              </a:rPr>
              <a:t>In this example, an </a:t>
            </a:r>
            <a:r>
              <a:rPr lang="en-US" sz="1800" dirty="0">
                <a:solidFill>
                  <a:srgbClr val="00B0F0"/>
                </a:solidFill>
                <a:latin typeface="+mn-lt"/>
              </a:rPr>
              <a:t>if-else</a:t>
            </a:r>
            <a:r>
              <a:rPr lang="en-US" sz="1800" dirty="0">
                <a:latin typeface="+mn-lt"/>
              </a:rPr>
              <a:t> statement is used outside JSX to conditionally assign a value to the message variable.</a:t>
            </a:r>
          </a:p>
          <a:p>
            <a:r>
              <a:rPr lang="en-US" sz="1800" dirty="0">
                <a:latin typeface="+mn-lt"/>
              </a:rPr>
              <a:t>This approach is best when:</a:t>
            </a:r>
          </a:p>
          <a:p>
            <a:pPr marL="285750" lvl="2">
              <a:buFont typeface="Arial" panose="020B0604020202020204" pitchFamily="34" charset="0"/>
              <a:buChar char="•"/>
            </a:pPr>
            <a:r>
              <a:rPr lang="en-US" sz="1800" dirty="0">
                <a:latin typeface="+mn-lt"/>
              </a:rPr>
              <a:t>The logic is complex</a:t>
            </a:r>
          </a:p>
          <a:p>
            <a:pPr marL="285750" lvl="2">
              <a:buFont typeface="Arial" panose="020B0604020202020204" pitchFamily="34" charset="0"/>
              <a:buChar char="•"/>
            </a:pPr>
            <a:r>
              <a:rPr lang="en-US" sz="1800" dirty="0">
                <a:latin typeface="+mn-lt"/>
              </a:rPr>
              <a:t>You need multiple return cases</a:t>
            </a:r>
          </a:p>
          <a:p>
            <a:pPr marL="285750" lvl="2">
              <a:buFont typeface="Arial" panose="020B0604020202020204" pitchFamily="34" charset="0"/>
              <a:buChar char="•"/>
            </a:pPr>
            <a:r>
              <a:rPr lang="en-US" sz="1800" dirty="0">
                <a:latin typeface="+mn-lt"/>
              </a:rPr>
              <a:t>You want clean and readable code</a:t>
            </a:r>
          </a:p>
        </p:txBody>
      </p:sp>
    </p:spTree>
    <p:extLst>
      <p:ext uri="{BB962C8B-B14F-4D97-AF65-F5344CB8AC3E}">
        <p14:creationId xmlns:p14="http://schemas.microsoft.com/office/powerpoint/2010/main" val="19047523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367847" y="153326"/>
            <a:ext cx="8520600" cy="607800"/>
          </a:xfrm>
        </p:spPr>
        <p:txBody>
          <a:bodyPr/>
          <a:lstStyle/>
          <a:p>
            <a:pPr algn="ctr"/>
            <a:r>
              <a:rPr lang="en-US" dirty="0"/>
              <a:t>Using the Ternary Operator</a:t>
            </a:r>
          </a:p>
        </p:txBody>
      </p:sp>
      <p:pic>
        <p:nvPicPr>
          <p:cNvPr id="4" name="Picture 3" descr="conditionalsinjsx.png"/>
          <p:cNvPicPr>
            <a:picLocks noChangeAspect="1"/>
          </p:cNvPicPr>
          <p:nvPr/>
        </p:nvPicPr>
        <p:blipFill>
          <a:blip r:embed="rId2"/>
          <a:srcRect l="4386" t="10622" r="4649" b="11294"/>
          <a:stretch>
            <a:fillRect/>
          </a:stretch>
        </p:blipFill>
        <p:spPr>
          <a:xfrm>
            <a:off x="401053" y="866275"/>
            <a:ext cx="8317831" cy="303195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D65987A4-4870-C0ED-851A-940C895B6397}"/>
              </a:ext>
            </a:extLst>
          </p:cNvPr>
          <p:cNvSpPr txBox="1"/>
          <p:nvPr/>
        </p:nvSpPr>
        <p:spPr>
          <a:xfrm>
            <a:off x="367846" y="4074793"/>
            <a:ext cx="8351037" cy="646331"/>
          </a:xfrm>
          <a:prstGeom prst="rect">
            <a:avLst/>
          </a:prstGeom>
          <a:noFill/>
        </p:spPr>
        <p:txBody>
          <a:bodyPr wrap="square">
            <a:spAutoFit/>
          </a:bodyPr>
          <a:lstStyle/>
          <a:p>
            <a:pPr marL="342900" indent="-342900">
              <a:buFont typeface="Arial" panose="020B0604020202020204" pitchFamily="34" charset="0"/>
              <a:buChar char="•"/>
            </a:pPr>
            <a:r>
              <a:rPr lang="en-US" sz="1800" dirty="0">
                <a:latin typeface="+mn-lt"/>
              </a:rPr>
              <a:t>In this example, the </a:t>
            </a:r>
            <a:r>
              <a:rPr lang="en-US" sz="1800" dirty="0">
                <a:solidFill>
                  <a:srgbClr val="00B0F0"/>
                </a:solidFill>
                <a:latin typeface="+mn-lt"/>
              </a:rPr>
              <a:t>ternary operator (condition ? </a:t>
            </a:r>
            <a:r>
              <a:rPr lang="en-US" sz="1800" dirty="0" err="1">
                <a:solidFill>
                  <a:srgbClr val="00B0F0"/>
                </a:solidFill>
                <a:latin typeface="+mn-lt"/>
              </a:rPr>
              <a:t>trueValue</a:t>
            </a:r>
            <a:r>
              <a:rPr lang="en-US" sz="1800" dirty="0">
                <a:solidFill>
                  <a:srgbClr val="00B0F0"/>
                </a:solidFill>
                <a:latin typeface="+mn-lt"/>
              </a:rPr>
              <a:t> : </a:t>
            </a:r>
            <a:r>
              <a:rPr lang="en-US" sz="1800" dirty="0" err="1">
                <a:solidFill>
                  <a:srgbClr val="00B0F0"/>
                </a:solidFill>
                <a:latin typeface="+mn-lt"/>
              </a:rPr>
              <a:t>falseValue</a:t>
            </a:r>
            <a:r>
              <a:rPr lang="en-US" sz="1800" dirty="0">
                <a:solidFill>
                  <a:srgbClr val="00B0F0"/>
                </a:solidFill>
                <a:latin typeface="+mn-lt"/>
              </a:rPr>
              <a:t>) </a:t>
            </a:r>
            <a:r>
              <a:rPr lang="en-US" sz="1800" dirty="0">
                <a:latin typeface="+mn-lt"/>
              </a:rPr>
              <a:t>is used to conditionally render different JSX based on the value of </a:t>
            </a:r>
            <a:r>
              <a:rPr lang="en-US" sz="1800" dirty="0" err="1">
                <a:latin typeface="+mn-lt"/>
              </a:rPr>
              <a:t>isLoggedIn</a:t>
            </a:r>
            <a:r>
              <a:rPr lang="en-US" sz="1800" dirty="0">
                <a:latin typeface="+mn-lt"/>
              </a:rPr>
              <a:t>.</a:t>
            </a:r>
          </a:p>
        </p:txBody>
      </p:sp>
    </p:spTree>
    <p:extLst>
      <p:ext uri="{BB962C8B-B14F-4D97-AF65-F5344CB8AC3E}">
        <p14:creationId xmlns:p14="http://schemas.microsoft.com/office/powerpoint/2010/main" val="19047523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FFCE-C703-441B-AAAB-6965691D01FF}"/>
              </a:ext>
            </a:extLst>
          </p:cNvPr>
          <p:cNvSpPr>
            <a:spLocks noGrp="1"/>
          </p:cNvSpPr>
          <p:nvPr>
            <p:ph type="title"/>
          </p:nvPr>
        </p:nvSpPr>
        <p:spPr>
          <a:xfrm>
            <a:off x="367847" y="153326"/>
            <a:ext cx="8520600" cy="607800"/>
          </a:xfrm>
        </p:spPr>
        <p:txBody>
          <a:bodyPr/>
          <a:lstStyle/>
          <a:p>
            <a:pPr algn="ctr"/>
            <a:r>
              <a:rPr lang="en-US" dirty="0"/>
              <a:t>Using &amp;&amp; Logical Operator</a:t>
            </a:r>
          </a:p>
        </p:txBody>
      </p:sp>
      <p:pic>
        <p:nvPicPr>
          <p:cNvPr id="7" name="Picture 6" descr="logicaloperatonrendering.png"/>
          <p:cNvPicPr>
            <a:picLocks noChangeAspect="1"/>
          </p:cNvPicPr>
          <p:nvPr/>
        </p:nvPicPr>
        <p:blipFill>
          <a:blip r:embed="rId2"/>
          <a:srcRect l="4799" t="11402" r="5153" b="11657"/>
          <a:stretch>
            <a:fillRect/>
          </a:stretch>
        </p:blipFill>
        <p:spPr>
          <a:xfrm>
            <a:off x="457200" y="753979"/>
            <a:ext cx="8165432" cy="3031958"/>
          </a:xfrm>
          <a:prstGeom prst="rect">
            <a:avLst/>
          </a:prstGeom>
          <a:ln>
            <a:noFill/>
          </a:ln>
          <a:effectLst>
            <a:outerShdw blurRad="44450" dist="27940" dir="5400000" algn="ctr">
              <a:srgbClr val="000000">
                <a:alpha val="32000"/>
              </a:srgbClr>
            </a:outerShdw>
          </a:effectLst>
        </p:spPr>
      </p:pic>
      <p:sp>
        <p:nvSpPr>
          <p:cNvPr id="4" name="TextBox 3">
            <a:extLst>
              <a:ext uri="{FF2B5EF4-FFF2-40B4-BE49-F238E27FC236}">
                <a16:creationId xmlns:a16="http://schemas.microsoft.com/office/drawing/2014/main" id="{346C2B50-8626-4148-E3AA-239A84A34875}"/>
              </a:ext>
            </a:extLst>
          </p:cNvPr>
          <p:cNvSpPr txBox="1"/>
          <p:nvPr/>
        </p:nvSpPr>
        <p:spPr>
          <a:xfrm>
            <a:off x="457200" y="4009400"/>
            <a:ext cx="8165432" cy="64633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mn-lt"/>
              </a:rPr>
              <a:t>Here, the </a:t>
            </a:r>
            <a:r>
              <a:rPr lang="en-US" sz="1800" dirty="0">
                <a:solidFill>
                  <a:srgbClr val="00B0F0"/>
                </a:solidFill>
                <a:latin typeface="+mn-lt"/>
              </a:rPr>
              <a:t>&amp;&amp;</a:t>
            </a:r>
            <a:r>
              <a:rPr lang="en-US" sz="1800" dirty="0">
                <a:latin typeface="+mn-lt"/>
              </a:rPr>
              <a:t> logical operator is used to conditionally render the JSX if </a:t>
            </a:r>
            <a:r>
              <a:rPr lang="en-US" sz="1800" dirty="0" err="1">
                <a:latin typeface="+mn-lt"/>
              </a:rPr>
              <a:t>showContent</a:t>
            </a:r>
            <a:r>
              <a:rPr lang="en-US" sz="1800" dirty="0">
                <a:latin typeface="+mn-lt"/>
              </a:rPr>
              <a:t> is true.</a:t>
            </a:r>
          </a:p>
        </p:txBody>
      </p:sp>
    </p:spTree>
    <p:extLst>
      <p:ext uri="{BB962C8B-B14F-4D97-AF65-F5344CB8AC3E}">
        <p14:creationId xmlns:p14="http://schemas.microsoft.com/office/powerpoint/2010/main" val="19047523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7E6A-EF52-532D-ADFB-AEFD15C8F324}"/>
              </a:ext>
            </a:extLst>
          </p:cNvPr>
          <p:cNvSpPr>
            <a:spLocks noGrp="1"/>
          </p:cNvSpPr>
          <p:nvPr>
            <p:ph type="title"/>
          </p:nvPr>
        </p:nvSpPr>
        <p:spPr>
          <a:xfrm>
            <a:off x="311700" y="68704"/>
            <a:ext cx="8520600" cy="607800"/>
          </a:xfrm>
        </p:spPr>
        <p:txBody>
          <a:bodyPr/>
          <a:lstStyle/>
          <a:p>
            <a:pPr algn="ctr"/>
            <a:r>
              <a:rPr lang="en-US" dirty="0">
                <a:latin typeface="+mj-lt"/>
              </a:rPr>
              <a:t>React</a:t>
            </a:r>
            <a:r>
              <a:rPr lang="en-US" i="0" dirty="0">
                <a:effectLst/>
                <a:latin typeface="+mj-lt"/>
              </a:rPr>
              <a:t> </a:t>
            </a:r>
            <a:r>
              <a:rPr lang="en-US" dirty="0">
                <a:latin typeface="+mj-lt"/>
              </a:rPr>
              <a:t>Props</a:t>
            </a:r>
            <a:endParaRPr lang="x-none" dirty="0">
              <a:latin typeface="+mj-lt"/>
            </a:endParaRPr>
          </a:p>
        </p:txBody>
      </p:sp>
      <p:sp>
        <p:nvSpPr>
          <p:cNvPr id="3" name="TextBox 2">
            <a:extLst>
              <a:ext uri="{FF2B5EF4-FFF2-40B4-BE49-F238E27FC236}">
                <a16:creationId xmlns:a16="http://schemas.microsoft.com/office/drawing/2014/main" id="{91AA1CE1-DF86-50A3-1781-9EFE82D215FD}"/>
              </a:ext>
            </a:extLst>
          </p:cNvPr>
          <p:cNvSpPr txBox="1"/>
          <p:nvPr/>
        </p:nvSpPr>
        <p:spPr>
          <a:xfrm>
            <a:off x="102067" y="670481"/>
            <a:ext cx="8939865" cy="447301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i="0" dirty="0">
                <a:solidFill>
                  <a:srgbClr val="00B0F0"/>
                </a:solidFill>
                <a:effectLst/>
                <a:latin typeface="+mn-lt"/>
              </a:rPr>
              <a:t>Props</a:t>
            </a:r>
            <a:r>
              <a:rPr lang="en-US" sz="2000" b="0" i="0" dirty="0">
                <a:solidFill>
                  <a:srgbClr val="333333"/>
                </a:solidFill>
                <a:effectLst/>
                <a:latin typeface="+mn-lt"/>
              </a:rPr>
              <a:t> stand for "</a:t>
            </a:r>
            <a:r>
              <a:rPr lang="en-US" sz="2000" b="1" i="0" dirty="0">
                <a:solidFill>
                  <a:srgbClr val="333333"/>
                </a:solidFill>
                <a:effectLst/>
                <a:latin typeface="+mn-lt"/>
              </a:rPr>
              <a:t>Properties</a:t>
            </a:r>
            <a:r>
              <a:rPr lang="en-US" sz="2000" b="0" i="0" dirty="0">
                <a:solidFill>
                  <a:srgbClr val="333333"/>
                </a:solidFill>
                <a:effectLst/>
                <a:latin typeface="+mn-lt"/>
              </a:rPr>
              <a:t>." They are </a:t>
            </a:r>
            <a:r>
              <a:rPr lang="en-US" sz="2000" b="1" i="0" dirty="0" err="1">
                <a:solidFill>
                  <a:srgbClr val="333333"/>
                </a:solidFill>
                <a:effectLst/>
                <a:latin typeface="+mn-lt"/>
              </a:rPr>
              <a:t>readonly</a:t>
            </a:r>
            <a:r>
              <a:rPr lang="en-US" sz="2000" b="0" i="0" dirty="0">
                <a:solidFill>
                  <a:srgbClr val="333333"/>
                </a:solidFill>
                <a:effectLst/>
                <a:latin typeface="+mn-lt"/>
              </a:rPr>
              <a:t> components. </a:t>
            </a:r>
          </a:p>
          <a:p>
            <a:pPr marL="342900" indent="-342900">
              <a:lnSpc>
                <a:spcPct val="150000"/>
              </a:lnSpc>
              <a:buFont typeface="Arial" panose="020B0604020202020204" pitchFamily="34" charset="0"/>
              <a:buChar char="•"/>
            </a:pPr>
            <a:r>
              <a:rPr lang="en-US" sz="2000" b="0" i="0" dirty="0">
                <a:solidFill>
                  <a:srgbClr val="333333"/>
                </a:solidFill>
                <a:effectLst/>
                <a:latin typeface="+mn-lt"/>
              </a:rPr>
              <a:t>It is an object which stores the value of attributes of a tag and work like the HTML attributes. </a:t>
            </a:r>
          </a:p>
          <a:p>
            <a:pPr marL="342900" indent="-342900">
              <a:lnSpc>
                <a:spcPct val="150000"/>
              </a:lnSpc>
              <a:buFont typeface="Arial" panose="020B0604020202020204" pitchFamily="34" charset="0"/>
              <a:buChar char="•"/>
            </a:pPr>
            <a:r>
              <a:rPr lang="en-US" sz="2000" b="0" i="0" dirty="0">
                <a:solidFill>
                  <a:srgbClr val="333333"/>
                </a:solidFill>
                <a:effectLst/>
                <a:latin typeface="+mn-lt"/>
              </a:rPr>
              <a:t>It gives a way to </a:t>
            </a:r>
            <a:r>
              <a:rPr lang="en-US" sz="2000" b="0" i="0" dirty="0">
                <a:solidFill>
                  <a:srgbClr val="00B0F0"/>
                </a:solidFill>
                <a:effectLst/>
                <a:latin typeface="+mn-lt"/>
              </a:rPr>
              <a:t>pass data from one component to other components</a:t>
            </a:r>
            <a:r>
              <a:rPr lang="en-US" sz="2000" b="0" i="0" dirty="0">
                <a:solidFill>
                  <a:srgbClr val="333333"/>
                </a:solidFill>
                <a:effectLst/>
                <a:latin typeface="+mn-lt"/>
              </a:rPr>
              <a:t>. </a:t>
            </a:r>
          </a:p>
          <a:p>
            <a:pPr marL="342900" indent="-342900">
              <a:lnSpc>
                <a:spcPct val="150000"/>
              </a:lnSpc>
              <a:buFont typeface="Arial" panose="020B0604020202020204" pitchFamily="34" charset="0"/>
              <a:buChar char="•"/>
            </a:pPr>
            <a:r>
              <a:rPr lang="en-US" sz="2000" b="0" i="0" dirty="0">
                <a:solidFill>
                  <a:srgbClr val="333333"/>
                </a:solidFill>
                <a:effectLst/>
                <a:latin typeface="+mn-lt"/>
              </a:rPr>
              <a:t>Props are passed to the component in the </a:t>
            </a:r>
            <a:r>
              <a:rPr lang="en-US" sz="2000" b="0" i="0" dirty="0">
                <a:solidFill>
                  <a:srgbClr val="00B0F0"/>
                </a:solidFill>
                <a:effectLst/>
                <a:latin typeface="+mn-lt"/>
              </a:rPr>
              <a:t>same way as arguments passed in a function</a:t>
            </a:r>
            <a:r>
              <a:rPr lang="en-US" sz="2000" b="0" i="0" dirty="0">
                <a:solidFill>
                  <a:srgbClr val="333333"/>
                </a:solidFill>
                <a:effectLst/>
                <a:latin typeface="+mn-lt"/>
              </a:rPr>
              <a:t>.</a:t>
            </a:r>
          </a:p>
          <a:p>
            <a:pPr marL="342900" indent="-342900">
              <a:lnSpc>
                <a:spcPct val="150000"/>
              </a:lnSpc>
              <a:buFont typeface="Arial" panose="020B0604020202020204" pitchFamily="34" charset="0"/>
              <a:buChar char="•"/>
            </a:pPr>
            <a:r>
              <a:rPr lang="en-US" sz="1800" dirty="0">
                <a:latin typeface="+mn-lt"/>
              </a:rPr>
              <a:t>Props are a mechanism for passing data from a parent component to a</a:t>
            </a:r>
          </a:p>
          <a:p>
            <a:pPr marL="285750" indent="-285750">
              <a:lnSpc>
                <a:spcPct val="150000"/>
              </a:lnSpc>
            </a:pPr>
            <a:r>
              <a:rPr lang="en-US" sz="1800" dirty="0">
                <a:latin typeface="+mn-lt"/>
              </a:rPr>
              <a:t>child component.</a:t>
            </a:r>
          </a:p>
          <a:p>
            <a:pPr marL="342900" indent="-342900">
              <a:lnSpc>
                <a:spcPct val="150000"/>
              </a:lnSpc>
              <a:buFont typeface="Arial" panose="020B0604020202020204" pitchFamily="34" charset="0"/>
              <a:buChar char="•"/>
            </a:pPr>
            <a:r>
              <a:rPr lang="en-US" sz="1800" dirty="0">
                <a:latin typeface="+mn-lt"/>
              </a:rPr>
              <a:t>Props allow you to customize and configure child components by passing values to them.</a:t>
            </a:r>
          </a:p>
        </p:txBody>
      </p:sp>
    </p:spTree>
    <p:extLst>
      <p:ext uri="{BB962C8B-B14F-4D97-AF65-F5344CB8AC3E}">
        <p14:creationId xmlns:p14="http://schemas.microsoft.com/office/powerpoint/2010/main" val="4205266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7E6A-EF52-532D-ADFB-AEFD15C8F324}"/>
              </a:ext>
            </a:extLst>
          </p:cNvPr>
          <p:cNvSpPr>
            <a:spLocks noGrp="1"/>
          </p:cNvSpPr>
          <p:nvPr>
            <p:ph type="title"/>
          </p:nvPr>
        </p:nvSpPr>
        <p:spPr>
          <a:xfrm>
            <a:off x="223469" y="73116"/>
            <a:ext cx="8832300" cy="607800"/>
          </a:xfrm>
        </p:spPr>
        <p:txBody>
          <a:bodyPr/>
          <a:lstStyle/>
          <a:p>
            <a:pPr algn="ctr"/>
            <a:r>
              <a:rPr lang="en-US" dirty="0">
                <a:latin typeface="+mj-lt"/>
              </a:rPr>
              <a:t>Passing Props from Parent to Child Component</a:t>
            </a:r>
          </a:p>
        </p:txBody>
      </p:sp>
      <p:pic>
        <p:nvPicPr>
          <p:cNvPr id="4" name="Picture 3" descr="parentcomponent.png"/>
          <p:cNvPicPr>
            <a:picLocks noChangeAspect="1"/>
          </p:cNvPicPr>
          <p:nvPr/>
        </p:nvPicPr>
        <p:blipFill>
          <a:blip r:embed="rId2"/>
          <a:srcRect l="6890" t="8577" r="6767" b="8616"/>
          <a:stretch>
            <a:fillRect/>
          </a:stretch>
        </p:blipFill>
        <p:spPr>
          <a:xfrm>
            <a:off x="1752600" y="811205"/>
            <a:ext cx="5638800" cy="4259179"/>
          </a:xfrm>
          <a:prstGeom prst="rect">
            <a:avLst/>
          </a:prstGeom>
          <a:ln>
            <a:noFill/>
          </a:ln>
          <a:effectLst/>
        </p:spPr>
      </p:pic>
    </p:spTree>
    <p:extLst>
      <p:ext uri="{BB962C8B-B14F-4D97-AF65-F5344CB8AC3E}">
        <p14:creationId xmlns:p14="http://schemas.microsoft.com/office/powerpoint/2010/main" val="2922592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7E6A-EF52-532D-ADFB-AEFD15C8F324}"/>
              </a:ext>
            </a:extLst>
          </p:cNvPr>
          <p:cNvSpPr>
            <a:spLocks noGrp="1"/>
          </p:cNvSpPr>
          <p:nvPr>
            <p:ph type="title"/>
          </p:nvPr>
        </p:nvSpPr>
        <p:spPr>
          <a:xfrm>
            <a:off x="223469" y="73116"/>
            <a:ext cx="8832300" cy="607800"/>
          </a:xfrm>
        </p:spPr>
        <p:txBody>
          <a:bodyPr/>
          <a:lstStyle/>
          <a:p>
            <a:pPr algn="ctr"/>
            <a:r>
              <a:rPr lang="en-US" dirty="0">
                <a:latin typeface="+mj-lt"/>
              </a:rPr>
              <a:t>Passing Props from Parent to Child Component</a:t>
            </a:r>
          </a:p>
        </p:txBody>
      </p:sp>
      <p:pic>
        <p:nvPicPr>
          <p:cNvPr id="5" name="Picture 4" descr="childcomponent.png"/>
          <p:cNvPicPr>
            <a:picLocks noChangeAspect="1"/>
          </p:cNvPicPr>
          <p:nvPr/>
        </p:nvPicPr>
        <p:blipFill>
          <a:blip r:embed="rId2"/>
          <a:srcRect l="7811" t="9990" r="8543" b="10215"/>
          <a:stretch>
            <a:fillRect/>
          </a:stretch>
        </p:blipFill>
        <p:spPr>
          <a:xfrm>
            <a:off x="1824789" y="734256"/>
            <a:ext cx="5494421" cy="4272370"/>
          </a:xfrm>
          <a:prstGeom prst="rect">
            <a:avLst/>
          </a:prstGeom>
          <a:ln>
            <a:noFill/>
          </a:ln>
          <a:effectLst/>
        </p:spPr>
      </p:pic>
    </p:spTree>
    <p:extLst>
      <p:ext uri="{BB962C8B-B14F-4D97-AF65-F5344CB8AC3E}">
        <p14:creationId xmlns:p14="http://schemas.microsoft.com/office/powerpoint/2010/main" val="2922592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7E6A-EF52-532D-ADFB-AEFD15C8F324}"/>
              </a:ext>
            </a:extLst>
          </p:cNvPr>
          <p:cNvSpPr>
            <a:spLocks noGrp="1"/>
          </p:cNvSpPr>
          <p:nvPr>
            <p:ph type="title"/>
          </p:nvPr>
        </p:nvSpPr>
        <p:spPr>
          <a:xfrm>
            <a:off x="223469" y="73116"/>
            <a:ext cx="8832300" cy="607800"/>
          </a:xfrm>
        </p:spPr>
        <p:txBody>
          <a:bodyPr/>
          <a:lstStyle/>
          <a:p>
            <a:pPr algn="ctr"/>
            <a:r>
              <a:rPr lang="en-US" dirty="0">
                <a:latin typeface="+mj-lt"/>
              </a:rPr>
              <a:t>Default props</a:t>
            </a:r>
          </a:p>
        </p:txBody>
      </p:sp>
      <p:sp>
        <p:nvSpPr>
          <p:cNvPr id="5" name="TextBox 4">
            <a:extLst>
              <a:ext uri="{FF2B5EF4-FFF2-40B4-BE49-F238E27FC236}">
                <a16:creationId xmlns:a16="http://schemas.microsoft.com/office/drawing/2014/main" id="{EECFC5AD-DD63-2140-7A72-3E2C4CDB0790}"/>
              </a:ext>
            </a:extLst>
          </p:cNvPr>
          <p:cNvSpPr txBox="1"/>
          <p:nvPr/>
        </p:nvSpPr>
        <p:spPr>
          <a:xfrm>
            <a:off x="449579" y="680916"/>
            <a:ext cx="8470951" cy="1323439"/>
          </a:xfrm>
          <a:prstGeom prst="rect">
            <a:avLst/>
          </a:prstGeom>
          <a:noFill/>
        </p:spPr>
        <p:txBody>
          <a:bodyPr wrap="square">
            <a:spAutoFit/>
          </a:bodyPr>
          <a:lstStyle/>
          <a:p>
            <a:pPr marL="342900" indent="-342900">
              <a:buFont typeface="Arial" panose="020B0604020202020204" pitchFamily="34" charset="0"/>
              <a:buChar char="•"/>
            </a:pPr>
            <a:r>
              <a:rPr lang="en-US" sz="2000" dirty="0">
                <a:solidFill>
                  <a:srgbClr val="00B0F0"/>
                </a:solidFill>
              </a:rPr>
              <a:t>Default props </a:t>
            </a:r>
            <a:r>
              <a:rPr lang="en-US" sz="2000" dirty="0"/>
              <a:t>are used to provide fallback values when a prop is not passed to a component.</a:t>
            </a:r>
          </a:p>
          <a:p>
            <a:pPr marL="342900" indent="-342900">
              <a:buFont typeface="Arial" panose="020B0604020202020204" pitchFamily="34" charset="0"/>
              <a:buChar char="•"/>
            </a:pPr>
            <a:r>
              <a:rPr lang="en-US" sz="2000" dirty="0"/>
              <a:t>In 2026, the recommended way is to use </a:t>
            </a:r>
            <a:r>
              <a:rPr lang="en-US" sz="2000" b="1" dirty="0">
                <a:solidFill>
                  <a:srgbClr val="00B0F0"/>
                </a:solidFill>
              </a:rPr>
              <a:t>default parameters</a:t>
            </a:r>
            <a:r>
              <a:rPr lang="en-US" sz="2000" dirty="0">
                <a:solidFill>
                  <a:srgbClr val="00B0F0"/>
                </a:solidFill>
              </a:rPr>
              <a:t> </a:t>
            </a:r>
            <a:r>
              <a:rPr lang="en-US" sz="2000" dirty="0"/>
              <a:t>in function arguments:</a:t>
            </a:r>
          </a:p>
        </p:txBody>
      </p:sp>
      <p:pic>
        <p:nvPicPr>
          <p:cNvPr id="7" name="Picture 6">
            <a:extLst>
              <a:ext uri="{FF2B5EF4-FFF2-40B4-BE49-F238E27FC236}">
                <a16:creationId xmlns:a16="http://schemas.microsoft.com/office/drawing/2014/main" id="{DF45C18B-5FB1-CF9C-50AD-F20083F2ECE7}"/>
              </a:ext>
            </a:extLst>
          </p:cNvPr>
          <p:cNvPicPr>
            <a:picLocks noChangeAspect="1"/>
          </p:cNvPicPr>
          <p:nvPr/>
        </p:nvPicPr>
        <p:blipFill>
          <a:blip r:embed="rId2"/>
          <a:stretch>
            <a:fillRect/>
          </a:stretch>
        </p:blipFill>
        <p:spPr>
          <a:xfrm>
            <a:off x="1179860" y="2084501"/>
            <a:ext cx="6784280" cy="1417962"/>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id="{0CD4AAEC-7C2E-6AF4-0B20-B9E9CF9DEEEF}"/>
              </a:ext>
            </a:extLst>
          </p:cNvPr>
          <p:cNvSpPr txBox="1"/>
          <p:nvPr/>
        </p:nvSpPr>
        <p:spPr>
          <a:xfrm>
            <a:off x="449579" y="3643640"/>
            <a:ext cx="8470950" cy="461665"/>
          </a:xfrm>
          <a:prstGeom prst="rect">
            <a:avLst/>
          </a:prstGeom>
          <a:noFill/>
        </p:spPr>
        <p:txBody>
          <a:bodyPr wrap="square">
            <a:spAutoFit/>
          </a:bodyPr>
          <a:lstStyle/>
          <a:p>
            <a:pPr marL="342900" indent="-342900">
              <a:buFont typeface="Arial" panose="020B0604020202020204" pitchFamily="34" charset="0"/>
              <a:buChar char="•"/>
            </a:pPr>
            <a:r>
              <a:rPr lang="en-US" sz="2000" dirty="0"/>
              <a:t>If </a:t>
            </a:r>
            <a:r>
              <a:rPr lang="en-US" sz="2400" dirty="0">
                <a:solidFill>
                  <a:srgbClr val="00B0F0"/>
                </a:solidFill>
                <a:latin typeface="Courier New" panose="02070309020205020404" pitchFamily="49" charset="0"/>
              </a:rPr>
              <a:t>name</a:t>
            </a:r>
            <a:r>
              <a:rPr lang="en-US" sz="2000" dirty="0"/>
              <a:t> is not provided, it automatically defaults to </a:t>
            </a:r>
            <a:r>
              <a:rPr lang="en-US" sz="2400" dirty="0">
                <a:solidFill>
                  <a:srgbClr val="00B0F0"/>
                </a:solidFill>
                <a:latin typeface="Courier New" panose="02070309020205020404" pitchFamily="49" charset="0"/>
              </a:rPr>
              <a:t>"Guest"</a:t>
            </a:r>
            <a:r>
              <a:rPr lang="en-US" sz="2400" dirty="0">
                <a:solidFill>
                  <a:srgbClr val="00B0F0"/>
                </a:solidFill>
              </a:rPr>
              <a:t>.</a:t>
            </a:r>
            <a:endParaRPr lang="en-US" sz="2000" dirty="0">
              <a:solidFill>
                <a:srgbClr val="00B0F0"/>
              </a:solidFill>
            </a:endParaRPr>
          </a:p>
        </p:txBody>
      </p:sp>
    </p:spTree>
    <p:extLst>
      <p:ext uri="{BB962C8B-B14F-4D97-AF65-F5344CB8AC3E}">
        <p14:creationId xmlns:p14="http://schemas.microsoft.com/office/powerpoint/2010/main" val="29225921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7E6A-EF52-532D-ADFB-AEFD15C8F324}"/>
              </a:ext>
            </a:extLst>
          </p:cNvPr>
          <p:cNvSpPr>
            <a:spLocks noGrp="1"/>
          </p:cNvSpPr>
          <p:nvPr>
            <p:ph type="title"/>
          </p:nvPr>
        </p:nvSpPr>
        <p:spPr>
          <a:xfrm>
            <a:off x="223469" y="73116"/>
            <a:ext cx="8832300" cy="607800"/>
          </a:xfrm>
        </p:spPr>
        <p:txBody>
          <a:bodyPr/>
          <a:lstStyle/>
          <a:p>
            <a:pPr algn="ctr"/>
            <a:r>
              <a:rPr lang="en-US" dirty="0" err="1">
                <a:latin typeface="+mj-lt"/>
              </a:rPr>
              <a:t>Destructuring</a:t>
            </a:r>
            <a:r>
              <a:rPr lang="en-US" dirty="0">
                <a:latin typeface="+mj-lt"/>
              </a:rPr>
              <a:t> Props</a:t>
            </a:r>
          </a:p>
        </p:txBody>
      </p:sp>
      <p:sp>
        <p:nvSpPr>
          <p:cNvPr id="4" name="TextBox 3">
            <a:extLst>
              <a:ext uri="{FF2B5EF4-FFF2-40B4-BE49-F238E27FC236}">
                <a16:creationId xmlns:a16="http://schemas.microsoft.com/office/drawing/2014/main" id="{36FB6647-E0EE-CC64-6DF5-C1C03E56DAD9}"/>
              </a:ext>
            </a:extLst>
          </p:cNvPr>
          <p:cNvSpPr txBox="1"/>
          <p:nvPr/>
        </p:nvSpPr>
        <p:spPr>
          <a:xfrm>
            <a:off x="330910" y="680916"/>
            <a:ext cx="8617417" cy="646331"/>
          </a:xfrm>
          <a:prstGeom prst="rect">
            <a:avLst/>
          </a:prstGeom>
          <a:noFill/>
        </p:spPr>
        <p:txBody>
          <a:bodyPr wrap="square">
            <a:spAutoFit/>
          </a:bodyPr>
          <a:lstStyle/>
          <a:p>
            <a:pPr marL="285750" indent="-285750">
              <a:buFont typeface="Arial" panose="020B0604020202020204" pitchFamily="34" charset="0"/>
              <a:buChar char="•"/>
            </a:pPr>
            <a:r>
              <a:rPr lang="en-US" sz="1800" dirty="0" err="1">
                <a:solidFill>
                  <a:srgbClr val="00B0F0"/>
                </a:solidFill>
              </a:rPr>
              <a:t>Destructuring</a:t>
            </a:r>
            <a:r>
              <a:rPr lang="en-US" sz="1800" dirty="0">
                <a:solidFill>
                  <a:srgbClr val="00B0F0"/>
                </a:solidFill>
              </a:rPr>
              <a:t> props </a:t>
            </a:r>
            <a:r>
              <a:rPr lang="en-US" sz="1800" dirty="0"/>
              <a:t>is a modern JavaScript technique used to extract values directly from the </a:t>
            </a:r>
            <a:r>
              <a:rPr lang="en-US" sz="1800" dirty="0">
                <a:solidFill>
                  <a:srgbClr val="00B0F0"/>
                </a:solidFill>
                <a:latin typeface="Courier New" panose="02070309020205020404" pitchFamily="49" charset="0"/>
              </a:rPr>
              <a:t>props</a:t>
            </a:r>
            <a:r>
              <a:rPr lang="en-US" sz="1800" dirty="0"/>
              <a:t> object for cleaner and more readable code.</a:t>
            </a:r>
          </a:p>
        </p:txBody>
      </p:sp>
      <p:graphicFrame>
        <p:nvGraphicFramePr>
          <p:cNvPr id="8" name="Table 7">
            <a:extLst>
              <a:ext uri="{FF2B5EF4-FFF2-40B4-BE49-F238E27FC236}">
                <a16:creationId xmlns:a16="http://schemas.microsoft.com/office/drawing/2014/main" id="{F84A2D61-2FC2-9EE9-19C2-7FE1F33FAB1C}"/>
              </a:ext>
            </a:extLst>
          </p:cNvPr>
          <p:cNvGraphicFramePr>
            <a:graphicFrameLocks noGrp="1"/>
          </p:cNvGraphicFramePr>
          <p:nvPr>
            <p:extLst>
              <p:ext uri="{D42A27DB-BD31-4B8C-83A1-F6EECF244321}">
                <p14:modId xmlns:p14="http://schemas.microsoft.com/office/powerpoint/2010/main" val="2311471006"/>
              </p:ext>
            </p:extLst>
          </p:nvPr>
        </p:nvGraphicFramePr>
        <p:xfrm>
          <a:off x="419100" y="1384995"/>
          <a:ext cx="8206838" cy="1854391"/>
        </p:xfrm>
        <a:graphic>
          <a:graphicData uri="http://schemas.openxmlformats.org/drawingml/2006/table">
            <a:tbl>
              <a:tblPr firstRow="1" bandRow="1">
                <a:tableStyleId>{5940675A-B579-460E-94D1-54222C63F5DA}</a:tableStyleId>
              </a:tblPr>
              <a:tblGrid>
                <a:gridCol w="4103419">
                  <a:extLst>
                    <a:ext uri="{9D8B030D-6E8A-4147-A177-3AD203B41FA5}">
                      <a16:colId xmlns:a16="http://schemas.microsoft.com/office/drawing/2014/main" val="3551226197"/>
                    </a:ext>
                  </a:extLst>
                </a:gridCol>
                <a:gridCol w="4103419">
                  <a:extLst>
                    <a:ext uri="{9D8B030D-6E8A-4147-A177-3AD203B41FA5}">
                      <a16:colId xmlns:a16="http://schemas.microsoft.com/office/drawing/2014/main" val="3022286992"/>
                    </a:ext>
                  </a:extLst>
                </a:gridCol>
              </a:tblGrid>
              <a:tr h="420504">
                <a:tc>
                  <a:txBody>
                    <a:bodyPr/>
                    <a:lstStyle/>
                    <a:p>
                      <a:pPr algn="ctr"/>
                      <a:r>
                        <a:rPr lang="en-US" b="1" dirty="0">
                          <a:solidFill>
                            <a:srgbClr val="000000"/>
                          </a:solidFill>
                        </a:rPr>
                        <a:t>Without </a:t>
                      </a:r>
                      <a:r>
                        <a:rPr lang="en-US" b="1" dirty="0" err="1">
                          <a:solidFill>
                            <a:srgbClr val="000000"/>
                          </a:solidFill>
                        </a:rPr>
                        <a:t>Destructuring</a:t>
                      </a:r>
                      <a:endParaRPr lang="en-US" b="1" dirty="0">
                        <a:solidFill>
                          <a:srgbClr val="000000"/>
                        </a:solidFill>
                      </a:endParaRPr>
                    </a:p>
                  </a:txBody>
                  <a:tcPr/>
                </a:tc>
                <a:tc>
                  <a:txBody>
                    <a:bodyPr/>
                    <a:lstStyle/>
                    <a:p>
                      <a:pPr algn="ctr"/>
                      <a:r>
                        <a:rPr lang="en-US" b="1" dirty="0">
                          <a:solidFill>
                            <a:srgbClr val="000000"/>
                          </a:solidFill>
                        </a:rPr>
                        <a:t>With </a:t>
                      </a:r>
                      <a:r>
                        <a:rPr lang="en-US" b="1" dirty="0" err="1">
                          <a:solidFill>
                            <a:srgbClr val="000000"/>
                          </a:solidFill>
                        </a:rPr>
                        <a:t>Destructuring</a:t>
                      </a:r>
                      <a:r>
                        <a:rPr lang="en-US" b="1" dirty="0">
                          <a:solidFill>
                            <a:srgbClr val="000000"/>
                          </a:solidFill>
                        </a:rPr>
                        <a:t> (Recommended)</a:t>
                      </a:r>
                    </a:p>
                  </a:txBody>
                  <a:tcPr/>
                </a:tc>
                <a:extLst>
                  <a:ext uri="{0D108BD9-81ED-4DB2-BD59-A6C34878D82A}">
                    <a16:rowId xmlns:a16="http://schemas.microsoft.com/office/drawing/2014/main" val="3114875028"/>
                  </a:ext>
                </a:extLst>
              </a:tr>
              <a:tr h="1433887">
                <a:tc>
                  <a:txBody>
                    <a:bodyPr/>
                    <a:lstStyle/>
                    <a:p>
                      <a:endParaRPr lang="en-US" b="1" dirty="0">
                        <a:solidFill>
                          <a:srgbClr val="000000"/>
                        </a:solidFill>
                      </a:endParaRPr>
                    </a:p>
                  </a:txBody>
                  <a:tcPr/>
                </a:tc>
                <a:tc>
                  <a:txBody>
                    <a:bodyPr/>
                    <a:lstStyle/>
                    <a:p>
                      <a:endParaRPr lang="en-US" b="1" dirty="0">
                        <a:solidFill>
                          <a:srgbClr val="000000"/>
                        </a:solidFill>
                      </a:endParaRPr>
                    </a:p>
                  </a:txBody>
                  <a:tcPr/>
                </a:tc>
                <a:extLst>
                  <a:ext uri="{0D108BD9-81ED-4DB2-BD59-A6C34878D82A}">
                    <a16:rowId xmlns:a16="http://schemas.microsoft.com/office/drawing/2014/main" val="481377747"/>
                  </a:ext>
                </a:extLst>
              </a:tr>
            </a:tbl>
          </a:graphicData>
        </a:graphic>
      </p:graphicFrame>
      <p:pic>
        <p:nvPicPr>
          <p:cNvPr id="11" name="Picture 10">
            <a:extLst>
              <a:ext uri="{FF2B5EF4-FFF2-40B4-BE49-F238E27FC236}">
                <a16:creationId xmlns:a16="http://schemas.microsoft.com/office/drawing/2014/main" id="{303F5747-2876-E57D-5F9E-EE4224DE9D2C}"/>
              </a:ext>
            </a:extLst>
          </p:cNvPr>
          <p:cNvPicPr>
            <a:picLocks noChangeAspect="1"/>
          </p:cNvPicPr>
          <p:nvPr/>
        </p:nvPicPr>
        <p:blipFill>
          <a:blip r:embed="rId2"/>
          <a:stretch>
            <a:fillRect/>
          </a:stretch>
        </p:blipFill>
        <p:spPr>
          <a:xfrm>
            <a:off x="518062" y="1926662"/>
            <a:ext cx="3859103" cy="1143099"/>
          </a:xfrm>
          <a:prstGeom prst="rect">
            <a:avLst/>
          </a:prstGeom>
          <a:ln>
            <a:noFill/>
          </a:ln>
          <a:effectLst>
            <a:outerShdw blurRad="190500" algn="tl" rotWithShape="0">
              <a:srgbClr val="000000">
                <a:alpha val="70000"/>
              </a:srgbClr>
            </a:outerShdw>
          </a:effectLst>
        </p:spPr>
      </p:pic>
      <p:pic>
        <p:nvPicPr>
          <p:cNvPr id="13" name="Picture 12">
            <a:extLst>
              <a:ext uri="{FF2B5EF4-FFF2-40B4-BE49-F238E27FC236}">
                <a16:creationId xmlns:a16="http://schemas.microsoft.com/office/drawing/2014/main" id="{7D513253-605D-D1F4-6CEA-769B4E7F87DE}"/>
              </a:ext>
            </a:extLst>
          </p:cNvPr>
          <p:cNvPicPr>
            <a:picLocks noChangeAspect="1"/>
          </p:cNvPicPr>
          <p:nvPr/>
        </p:nvPicPr>
        <p:blipFill>
          <a:blip r:embed="rId3"/>
          <a:stretch>
            <a:fillRect/>
          </a:stretch>
        </p:blipFill>
        <p:spPr>
          <a:xfrm>
            <a:off x="4639619" y="1926661"/>
            <a:ext cx="3810265" cy="1185513"/>
          </a:xfrm>
          <a:prstGeom prst="rect">
            <a:avLst/>
          </a:prstGeom>
          <a:ln>
            <a:noFill/>
          </a:ln>
          <a:effectLst>
            <a:outerShdw blurRad="190500" algn="tl" rotWithShape="0">
              <a:srgbClr val="000000">
                <a:alpha val="70000"/>
              </a:srgbClr>
            </a:outerShdw>
          </a:effectLst>
        </p:spPr>
      </p:pic>
      <p:sp>
        <p:nvSpPr>
          <p:cNvPr id="15" name="TextBox 14">
            <a:extLst>
              <a:ext uri="{FF2B5EF4-FFF2-40B4-BE49-F238E27FC236}">
                <a16:creationId xmlns:a16="http://schemas.microsoft.com/office/drawing/2014/main" id="{9F56B6EE-A1E1-D359-E286-599F67D5E30D}"/>
              </a:ext>
            </a:extLst>
          </p:cNvPr>
          <p:cNvSpPr txBox="1"/>
          <p:nvPr/>
        </p:nvSpPr>
        <p:spPr>
          <a:xfrm>
            <a:off x="419100" y="3425351"/>
            <a:ext cx="8305096" cy="1569660"/>
          </a:xfrm>
          <a:prstGeom prst="rect">
            <a:avLst/>
          </a:prstGeom>
          <a:noFill/>
        </p:spPr>
        <p:txBody>
          <a:bodyPr wrap="square">
            <a:spAutoFit/>
          </a:bodyPr>
          <a:lstStyle/>
          <a:p>
            <a:pPr>
              <a:buNone/>
            </a:pPr>
            <a:r>
              <a:rPr lang="en-US" sz="1600" b="1" dirty="0">
                <a:solidFill>
                  <a:schemeClr val="tx1"/>
                </a:solidFill>
              </a:rPr>
              <a:t>Why Use </a:t>
            </a:r>
            <a:r>
              <a:rPr lang="en-US" sz="1600" b="1" dirty="0" err="1">
                <a:solidFill>
                  <a:schemeClr val="tx1"/>
                </a:solidFill>
              </a:rPr>
              <a:t>Destructuring</a:t>
            </a:r>
            <a:r>
              <a:rPr lang="en-US" sz="1600" b="1" dirty="0">
                <a:solidFill>
                  <a:schemeClr val="tx1"/>
                </a:solidFill>
              </a:rPr>
              <a:t>?</a:t>
            </a:r>
          </a:p>
          <a:p>
            <a:pPr marL="457200" lvl="1">
              <a:buFont typeface="Arial" panose="020B0604020202020204" pitchFamily="34" charset="0"/>
              <a:buChar char="•"/>
            </a:pPr>
            <a:r>
              <a:rPr lang="en-US" sz="1600" dirty="0"/>
              <a:t>Cleaner syntax.</a:t>
            </a:r>
          </a:p>
          <a:p>
            <a:pPr marL="457200" lvl="1">
              <a:buFont typeface="Arial" panose="020B0604020202020204" pitchFamily="34" charset="0"/>
              <a:buChar char="•"/>
            </a:pPr>
            <a:r>
              <a:rPr lang="en-US" sz="1600" dirty="0"/>
              <a:t>Less repetitive code.</a:t>
            </a:r>
          </a:p>
          <a:p>
            <a:pPr marL="457200" lvl="1">
              <a:buFont typeface="Arial" panose="020B0604020202020204" pitchFamily="34" charset="0"/>
              <a:buChar char="•"/>
            </a:pPr>
            <a:r>
              <a:rPr lang="en-US" sz="1600" dirty="0"/>
              <a:t>Easier to read and maintain.</a:t>
            </a:r>
          </a:p>
          <a:p>
            <a:pPr marL="457200" lvl="1">
              <a:buFont typeface="Arial" panose="020B0604020202020204" pitchFamily="34" charset="0"/>
              <a:buChar char="•"/>
            </a:pPr>
            <a:r>
              <a:rPr lang="en-US" sz="1600" dirty="0"/>
              <a:t>Standard practice in modern React.</a:t>
            </a:r>
          </a:p>
          <a:p>
            <a:pPr marL="285750" indent="-285750">
              <a:buFont typeface="Arial" panose="020B0604020202020204" pitchFamily="34" charset="0"/>
              <a:buChar char="•"/>
            </a:pPr>
            <a:r>
              <a:rPr lang="en-US" sz="1600" dirty="0"/>
              <a:t>In 2026, </a:t>
            </a:r>
            <a:r>
              <a:rPr lang="en-US" sz="1600" dirty="0" err="1"/>
              <a:t>destructuring</a:t>
            </a:r>
            <a:r>
              <a:rPr lang="en-US" sz="1600" dirty="0"/>
              <a:t> props in the function parameter is the recommended approach.</a:t>
            </a:r>
          </a:p>
        </p:txBody>
      </p:sp>
    </p:spTree>
    <p:extLst>
      <p:ext uri="{BB962C8B-B14F-4D97-AF65-F5344CB8AC3E}">
        <p14:creationId xmlns:p14="http://schemas.microsoft.com/office/powerpoint/2010/main" val="29225921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6" name="Google Shape;86;p13"/>
          <p:cNvSpPr txBox="1">
            <a:spLocks noGrp="1"/>
          </p:cNvSpPr>
          <p:nvPr>
            <p:ph type="subTitle" idx="1"/>
          </p:nvPr>
        </p:nvSpPr>
        <p:spPr>
          <a:xfrm>
            <a:off x="1935363" y="1607420"/>
            <a:ext cx="5353978" cy="10876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9600" dirty="0"/>
              <a:t>		</a:t>
            </a:r>
            <a:r>
              <a:rPr lang="en-US" sz="9600" b="1" dirty="0"/>
              <a:t>END</a:t>
            </a:r>
            <a:endParaRPr sz="9600" b="1" dirty="0"/>
          </a:p>
        </p:txBody>
      </p:sp>
    </p:spTree>
    <p:extLst>
      <p:ext uri="{BB962C8B-B14F-4D97-AF65-F5344CB8AC3E}">
        <p14:creationId xmlns:p14="http://schemas.microsoft.com/office/powerpoint/2010/main" val="2639392430"/>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Retrospect">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8084</TotalTime>
  <Words>2653</Words>
  <Application>Microsoft Office PowerPoint</Application>
  <PresentationFormat>On-screen Show (16:9)</PresentationFormat>
  <Paragraphs>283</Paragraphs>
  <Slides>49</Slides>
  <Notes>13</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49</vt:i4>
      </vt:variant>
    </vt:vector>
  </HeadingPairs>
  <TitlesOfParts>
    <vt:vector size="64" baseType="lpstr">
      <vt:lpstr>Arial</vt:lpstr>
      <vt:lpstr>Aptos Display</vt:lpstr>
      <vt:lpstr>Roboto</vt:lpstr>
      <vt:lpstr>Aptos (Body)</vt:lpstr>
      <vt:lpstr>Calisto MT</vt:lpstr>
      <vt:lpstr>Cascadia Mono SemiBold</vt:lpstr>
      <vt:lpstr>Wingdings</vt:lpstr>
      <vt:lpstr>Courier New</vt:lpstr>
      <vt:lpstr>Aptos</vt:lpstr>
      <vt:lpstr>Univers Condensed</vt:lpstr>
      <vt:lpstr>Calibri</vt:lpstr>
      <vt:lpstr>Calibri Light</vt:lpstr>
      <vt:lpstr>ChronicleVTI</vt:lpstr>
      <vt:lpstr>Office Theme</vt:lpstr>
      <vt:lpstr>1_Retrospect</vt:lpstr>
      <vt:lpstr>CHAPTER 2:</vt:lpstr>
      <vt:lpstr>Outline</vt:lpstr>
      <vt:lpstr>Web Development</vt:lpstr>
      <vt:lpstr>Web Development</vt:lpstr>
      <vt:lpstr>Web Development</vt:lpstr>
      <vt:lpstr>Frontend Development (Client-Side)</vt:lpstr>
      <vt:lpstr>Backend Development</vt:lpstr>
      <vt:lpstr>Web Development</vt:lpstr>
      <vt:lpstr> React js</vt:lpstr>
      <vt:lpstr>Why React?</vt:lpstr>
      <vt:lpstr>Single Page Application (SPA)</vt:lpstr>
      <vt:lpstr>Prerequisites Before Learning React</vt:lpstr>
      <vt:lpstr>Modern Development Environment (2026 Standard)</vt:lpstr>
      <vt:lpstr>Node and  Package Manager (NPM)</vt:lpstr>
      <vt:lpstr>Node and NPM</vt:lpstr>
      <vt:lpstr>Dependency or Packages</vt:lpstr>
      <vt:lpstr>Package manager</vt:lpstr>
      <vt:lpstr>Creating a React Project (Modern Way)</vt:lpstr>
      <vt:lpstr>Creating a React Project (Modern Way)</vt:lpstr>
      <vt:lpstr>Creating a React Project (Modern Way)</vt:lpstr>
      <vt:lpstr>PowerPoint Presentation</vt:lpstr>
      <vt:lpstr>React Project folder structure</vt:lpstr>
      <vt:lpstr>PowerPoint Presentation</vt:lpstr>
      <vt:lpstr>Introduction to JSX</vt:lpstr>
      <vt:lpstr>Running a React Project (Vite)</vt:lpstr>
      <vt:lpstr>React Components</vt:lpstr>
      <vt:lpstr>React Components</vt:lpstr>
      <vt:lpstr>React Components</vt:lpstr>
      <vt:lpstr>React Components</vt:lpstr>
      <vt:lpstr>Dynamic Values &amp; lists in JSX</vt:lpstr>
      <vt:lpstr>Cont…</vt:lpstr>
      <vt:lpstr>Cont…</vt:lpstr>
      <vt:lpstr>Cont…</vt:lpstr>
      <vt:lpstr>Cont…</vt:lpstr>
      <vt:lpstr>Cont…</vt:lpstr>
      <vt:lpstr>Cont…</vt:lpstr>
      <vt:lpstr>lists in JSX</vt:lpstr>
      <vt:lpstr>Cont…</vt:lpstr>
      <vt:lpstr>Cont…</vt:lpstr>
      <vt:lpstr>Conditionals in JSX</vt:lpstr>
      <vt:lpstr>Using If-Else Statements (Outside JSX)</vt:lpstr>
      <vt:lpstr>Using the Ternary Operator</vt:lpstr>
      <vt:lpstr>Using &amp;&amp; Logical Operator</vt:lpstr>
      <vt:lpstr>React Props</vt:lpstr>
      <vt:lpstr>Passing Props from Parent to Child Component</vt:lpstr>
      <vt:lpstr>Passing Props from Parent to Child Component</vt:lpstr>
      <vt:lpstr>Default props</vt:lpstr>
      <vt:lpstr>Destructuring Props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Development using React js</dc:title>
  <dc:creator>F</dc:creator>
  <cp:lastModifiedBy>Mohamed Abdullahi</cp:lastModifiedBy>
  <cp:revision>420</cp:revision>
  <dcterms:modified xsi:type="dcterms:W3CDTF">2026-03-01T07:41:07Z</dcterms:modified>
</cp:coreProperties>
</file>