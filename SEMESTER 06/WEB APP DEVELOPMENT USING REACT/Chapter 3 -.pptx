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72" r:id="rId2"/>
    <p:sldMasterId id="2147483697" r:id="rId3"/>
  </p:sldMasterIdLst>
  <p:notesMasterIdLst>
    <p:notesMasterId r:id="rId32"/>
  </p:notesMasterIdLst>
  <p:sldIdLst>
    <p:sldId id="294" r:id="rId4"/>
    <p:sldId id="408" r:id="rId5"/>
    <p:sldId id="414" r:id="rId6"/>
    <p:sldId id="415" r:id="rId7"/>
    <p:sldId id="310" r:id="rId8"/>
    <p:sldId id="403" r:id="rId9"/>
    <p:sldId id="309" r:id="rId10"/>
    <p:sldId id="296" r:id="rId11"/>
    <p:sldId id="297" r:id="rId12"/>
    <p:sldId id="307" r:id="rId13"/>
    <p:sldId id="308" r:id="rId14"/>
    <p:sldId id="314" r:id="rId15"/>
    <p:sldId id="405" r:id="rId16"/>
    <p:sldId id="406" r:id="rId17"/>
    <p:sldId id="325" r:id="rId18"/>
    <p:sldId id="416" r:id="rId19"/>
    <p:sldId id="417" r:id="rId20"/>
    <p:sldId id="411" r:id="rId21"/>
    <p:sldId id="424" r:id="rId22"/>
    <p:sldId id="332" r:id="rId23"/>
    <p:sldId id="418" r:id="rId24"/>
    <p:sldId id="419" r:id="rId25"/>
    <p:sldId id="420" r:id="rId26"/>
    <p:sldId id="421" r:id="rId27"/>
    <p:sldId id="422" r:id="rId28"/>
    <p:sldId id="423" r:id="rId29"/>
    <p:sldId id="425" r:id="rId30"/>
    <p:sldId id="324" r:id="rId31"/>
  </p:sldIdLst>
  <p:sldSz cx="9144000" cy="5143500" type="screen16x9"/>
  <p:notesSz cx="6858000" cy="9144000"/>
  <p:embeddedFontLst>
    <p:embeddedFont>
      <p:font typeface="Calisto MT" panose="02040603050505030304" pitchFamily="18" charset="0"/>
      <p:regular r:id="rId33"/>
      <p:bold r:id="rId34"/>
      <p:italic r:id="rId35"/>
      <p:boldItalic r:id="rId36"/>
    </p:embeddedFont>
    <p:embeddedFont>
      <p:font typeface="Cascadia Mono SemiBold" panose="020B0609020000020004" pitchFamily="49" charset="0"/>
      <p:bold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Univers Condensed" panose="020B0506020202050204" pitchFamily="3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861"/>
    <a:srgbClr val="092836"/>
    <a:srgbClr val="20202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8" autoAdjust="0"/>
    <p:restoredTop sz="96247" autoAdjust="0"/>
  </p:normalViewPr>
  <p:slideViewPr>
    <p:cSldViewPr snapToGrid="0">
      <p:cViewPr varScale="1">
        <p:scale>
          <a:sx n="98" d="100"/>
          <a:sy n="98" d="100"/>
        </p:scale>
        <p:origin x="252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7.fntdata"/><Relationship Id="rId21" Type="http://schemas.openxmlformats.org/officeDocument/2006/relationships/slide" Target="slides/slide18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4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6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Characteristics of React</a:t>
            </a:r>
          </a:p>
          <a:p>
            <a:pPr marL="139700" indent="0">
              <a:buNone/>
            </a:pPr>
            <a:r>
              <a:rPr lang="en-US" b="1" dirty="0"/>
              <a:t>1. Declarative</a:t>
            </a:r>
          </a:p>
          <a:p>
            <a:r>
              <a:rPr lang="en-US" dirty="0"/>
              <a:t>React allows developers to describe </a:t>
            </a:r>
            <a:r>
              <a:rPr lang="en-US" i="1" dirty="0"/>
              <a:t>what</a:t>
            </a:r>
            <a:r>
              <a:rPr lang="en-US" dirty="0"/>
              <a:t> the UI should look like for a given state, and it efficiently updates the DOM when the state changes.</a:t>
            </a:r>
          </a:p>
          <a:p>
            <a:pPr marL="139700" indent="0">
              <a:buNone/>
            </a:pPr>
            <a:r>
              <a:rPr lang="en-US" b="1" dirty="0"/>
              <a:t>2. Component-Based</a:t>
            </a:r>
          </a:p>
          <a:p>
            <a:r>
              <a:rPr lang="en-US" dirty="0"/>
              <a:t>Applications are built using reusable, independent pieces called </a:t>
            </a:r>
            <a:r>
              <a:rPr lang="en-US" b="1" dirty="0"/>
              <a:t>components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component manages its own logic and UI.</a:t>
            </a:r>
          </a:p>
          <a:p>
            <a:pPr marL="139700" indent="0">
              <a:buNone/>
            </a:pPr>
            <a:r>
              <a:rPr lang="en-US" b="1" dirty="0"/>
              <a:t>3. Efficient</a:t>
            </a:r>
          </a:p>
          <a:p>
            <a:r>
              <a:rPr lang="en-US" dirty="0"/>
              <a:t>React uses a </a:t>
            </a:r>
            <a:r>
              <a:rPr lang="en-US" b="1" dirty="0"/>
              <a:t>Virtual DOM</a:t>
            </a:r>
            <a:r>
              <a:rPr lang="en-US" dirty="0"/>
              <a:t> to minimize direct DOM manipulation, improving performance.</a:t>
            </a:r>
          </a:p>
          <a:p>
            <a:pPr marL="139700" indent="0">
              <a:buNone/>
            </a:pPr>
            <a:r>
              <a:rPr lang="en-US" b="1" dirty="0"/>
              <a:t>4. Flexible</a:t>
            </a:r>
          </a:p>
          <a:p>
            <a:r>
              <a:rPr lang="en-US" dirty="0"/>
              <a:t>React focuses only on the </a:t>
            </a:r>
            <a:r>
              <a:rPr lang="en-US" b="1" dirty="0"/>
              <a:t>view layer</a:t>
            </a:r>
            <a:r>
              <a:rPr lang="en-US" dirty="0"/>
              <a:t>. It can be combined with other libraries for routing, state management, APIs, etc.</a:t>
            </a:r>
          </a:p>
          <a:p>
            <a:pPr marL="139700" indent="0">
              <a:buNone/>
            </a:pPr>
            <a:r>
              <a:rPr lang="en-US" b="1" dirty="0"/>
              <a:t>5. Supports SPA and More</a:t>
            </a:r>
          </a:p>
          <a:p>
            <a:r>
              <a:rPr lang="en-US" dirty="0"/>
              <a:t>React is commonly used to build </a:t>
            </a:r>
            <a:r>
              <a:rPr lang="en-US" b="1" dirty="0"/>
              <a:t>Single Page Applications (SPAs)</a:t>
            </a:r>
            <a:r>
              <a:rPr lang="en-US" dirty="0"/>
              <a:t>, but it can also be used for:</a:t>
            </a:r>
          </a:p>
          <a:p>
            <a:pPr lvl="1"/>
            <a:r>
              <a:rPr lang="en-US" dirty="0"/>
              <a:t>Multi-page applications</a:t>
            </a:r>
          </a:p>
          <a:p>
            <a:pPr lvl="1"/>
            <a:r>
              <a:rPr lang="en-US" dirty="0"/>
              <a:t>Server-side rendering (SSR)</a:t>
            </a:r>
          </a:p>
          <a:p>
            <a:pPr lvl="1"/>
            <a:r>
              <a:rPr lang="en-US" dirty="0"/>
              <a:t>Static site generation (SSG)</a:t>
            </a:r>
          </a:p>
          <a:p>
            <a:pPr lvl="1"/>
            <a:r>
              <a:rPr lang="en-US" dirty="0"/>
              <a:t>Mobile apps (via React Native)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86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28E7-BABA-8663-A934-C32CF225A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BBAFC-9797-0D1B-1F0D-DF0794CB6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328DF-17CB-0905-828E-D6998037E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09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842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1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497E-A235-8663-7954-3CE14AFD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E7F8D-B773-8DAE-1C4E-13506CFEC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893C3-8F76-8B06-433C-AA447CC12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000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C707-34E1-DBFE-15D8-6B9A9391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50291-3109-86CD-1097-F7426ACC8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5D14D-1E25-BC4A-03E5-C878F535F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74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D84D-82E8-EE02-BE54-36FB0D10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161D2-C152-9F37-5EF2-31263F90E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35087-B80D-4F0E-74EE-0ADB7A7AE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72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75C4-DBC3-BEE0-4B6C-776F28BF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820CA-EC66-B364-2D54-E7D6A0518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3ADC7-5960-3D6C-3735-B1092A737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98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0BA7-5906-5BC1-30C2-E65DB8C9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A9A5E-84C7-30B4-85C7-B999BFCAC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6DFC3-8620-A7F3-35BC-FFC4FC37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056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76DA-32FC-B49D-A61E-4F8209E4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1A4D0-EDF1-66C9-C902-2A5C966BD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49C4A-7182-AAE2-4F7C-3BBCFA7AC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63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BCC2-DECD-138E-B6CE-EF3046EF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24B46-5E94-9362-2FEC-27E3F97C1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5C9B2-4AE8-DC9E-AB0B-5AF2AAD6E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76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5590-B1CD-7852-E326-7E08F91A2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D5E01-7C2D-BA34-933E-E4EA55EF6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21DC7-15C1-8A68-EB61-D8E2DF8C8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21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93A0-469C-E90F-4A37-1522382A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DDB9C-1658-4456-9C1B-16BF070C4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65185-B029-32C4-8D1D-78E9BA2F7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48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48D6-76C4-1BD6-7CAC-252B7BA5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D34CE-6EA8-4D53-18A7-40117F273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794AD-9A24-DDA2-0B31-74CC183F4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73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36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66" y="667365"/>
            <a:ext cx="7492181" cy="2698955"/>
          </a:xfrm>
        </p:spPr>
        <p:txBody>
          <a:bodyPr anchor="t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66" y="3366319"/>
            <a:ext cx="5243832" cy="977081"/>
          </a:xfrm>
        </p:spPr>
        <p:txBody>
          <a:bodyPr anchor="b"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84A0-546A-4C7B-9611-1A11DA73FA05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1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EFDA8-3096-471A-B9F4-7A12D9DB07BB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4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282304"/>
            <a:ext cx="797405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3442098"/>
            <a:ext cx="797405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FB31E-CFE6-45A7-AFF2-2DF0D0F4523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1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85800"/>
            <a:ext cx="8018449" cy="9806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66" y="1666494"/>
            <a:ext cx="3909060" cy="280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6008" y="1666494"/>
            <a:ext cx="3909060" cy="280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46763-B066-4660-91E8-6C28CF14B302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9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5" y="696861"/>
            <a:ext cx="8017002" cy="598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066" y="1317404"/>
            <a:ext cx="3909060" cy="492919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066" y="1832027"/>
            <a:ext cx="3909060" cy="2639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008" y="1317404"/>
            <a:ext cx="3909060" cy="492919"/>
          </a:xfrm>
        </p:spPr>
        <p:txBody>
          <a:bodyPr anchor="b">
            <a:norm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6008" y="1832027"/>
            <a:ext cx="3909060" cy="2639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61764-14DE-4119-9949-B1A1BB785561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F7A7-23C2-411F-AFAC-901759BB1ED4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6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24812-C686-45D7-ACDD-BC46D53CF1AE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3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802386"/>
            <a:ext cx="3070199" cy="98755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02386"/>
            <a:ext cx="4629150" cy="359340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1913382"/>
            <a:ext cx="3070199" cy="248945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61E0-6E45-45F8-816F-548DB32ED598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7" y="800101"/>
            <a:ext cx="3077573" cy="98814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00100"/>
            <a:ext cx="4629150" cy="35956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8067" y="1914525"/>
            <a:ext cx="3077573" cy="248721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2E4D-2B89-417D-9032-9EE86077BCBE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9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DEA53-6EE2-4DE8-B4D1-9A9F3CB187D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9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748480"/>
            <a:ext cx="1761782" cy="37387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6696" y="748480"/>
            <a:ext cx="6355046" cy="37387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C98F2-D83F-43C2-9E87-8CC32260F24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C71A-4949-248C-75B6-7A545421C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776FE-EF9C-1A3C-A697-0965D46F1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0780-A504-30B0-2719-054295E6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B26C7-CD17-E830-46EB-E9EDC35D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3B03-9770-889F-D567-744BEAB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986079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555B-C033-6744-14C6-22B7EDDE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F66A5-FFD5-7FAE-4555-41B6C6C9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6800E-84F4-91C5-232F-7874CB1D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4A7F3-C726-1858-CD00-44C6DAC8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FBD7A-7174-1FB4-D940-5D9D8D9C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13814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2B1C-E2CB-BBAE-CBEC-C898A083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24144-FE63-1126-EE5A-733C3919F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2D4B5-4D50-CB8B-8CD3-BF1A9CD2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5E964-72A2-695E-E5F9-1C3879D8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6B62F-CBD3-B303-0C38-F104179B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25375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5326-2A1D-364A-F0B6-97067D31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0C5C-026C-C280-D141-94EF5700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5D989-1F73-93DE-071D-561AAE8EB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9ED11-485D-0205-348A-ED88A0AB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8D20E-E104-CB8B-5D0B-EF7A3112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B590C-C1F3-A60A-27D0-E2722D4C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57571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912-A73B-9436-D897-3348B6AC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7FE14-E52B-3925-B212-80DE8EBF6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0C989-F6E0-5823-FBB5-2C9FB4407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A2BB8-3043-C606-8EC5-23204CFC4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FD4EB-F935-13DA-8CB8-D506280C3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C6759-F8D2-9520-65B5-DBB9B8F1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B202B-693B-CF98-B20B-4B79F81A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76119-DF08-A2CD-834F-52B3F6E6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22171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B07B-856A-3B42-94B2-749E229D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E7B6C-2B2C-49B7-E9EB-206A4F03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30809-65CE-7553-B6EB-16885372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49DA-C613-5335-FB37-FB7E651D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071574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00E1F-3524-C431-B0B2-362F9FBB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75FA8-B46C-7072-4DF8-956C4AF8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BBA34-0629-553B-C5EE-0A771206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3926536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1A15-0DD8-8D35-2799-91CAF48E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48CC-123E-090C-0A29-0DA5F617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DFCB-7EE0-4007-F768-DE9598E57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2F95E-2A53-A44B-AB1C-2793C8F7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64926-E7EC-5528-8F62-1ACED700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FBB07-380E-76E1-115F-0E2F27A6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853129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9D91-54E1-5247-3A17-DB3F3F31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901CC-B779-302E-9DDA-491497510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DD622-D394-8AE1-67B9-8DD09F77F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7EC30-EE49-B715-9CD6-0419BDF4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A0EBC-C41F-960B-5044-3790A8A1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82DD8-9D04-F75D-1A68-579F0E2C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788065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7699-0689-DBD5-A03C-871407BF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6C77A-44A5-4033-17C2-CC35A9AB7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AB2E2-440D-755A-1CF9-A93139BB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75B0B-FC2F-2F82-98B7-3296F1CB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0EAA-0DEE-E5E4-2E49-D411FEFD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668633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C02F7-73C3-1B97-6582-E898FED4A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B9807-1C19-0AFA-E2AC-8B24A8799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FE359-63CD-530C-208F-5AE4C63D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D2FF-06CA-683F-7B47-F2D16613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5E769-6DA1-C2D8-FB11-AD84EE0C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000286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432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FACC-67A5-4704-9F3A-04096A278879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622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61C0-2D4F-4141-BB40-E6226F1A5B68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46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764CF-3B60-4133-8738-B6C1634DF45C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817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6FA-3A73-48F4-8072-0E8E1A291667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0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507EE-8086-467A-BD33-72860FA4E460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92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23A8E-85E0-492D-AB8A-0953E0BDC53D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935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8E7C3-1B20-40CB-B323-45DE390E564A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5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C26CB1B9-B6B8-4AE2-963F-837E4CDFBC60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7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5C3AEC-44A0-46DB-8B8A-408600457E88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541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E1E0-DF5C-4819-941A-5492E0B0277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92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EFA9-E19B-49B5-B51B-E7A682F5BDBE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Jamhuriya university of science &amp; technology - copyright@2025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7EEB-C9A5-40EC-A412-F38B288EA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685800"/>
            <a:ext cx="8018449" cy="9806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1666494"/>
            <a:ext cx="8018449" cy="2804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fld id="{AE9C2830-3C5C-4D55-BDE7-40DDE5A9DE71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067" y="4767263"/>
            <a:ext cx="34047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4767263"/>
            <a:ext cx="5042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542925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4607086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4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cap="all" spc="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60B2C-7246-6EAB-B3C9-BC54C5B6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2F70B-F0C1-4C81-429E-035581435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257C-15F7-466E-E07D-5419B013A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CC819-10AE-4A7A-91A7-FD6C26A7F15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4D38-860E-B71A-BCF4-160E19716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4B57-1403-4EE2-0DAA-E595A2B15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590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AE9C2830-3C5C-4D55-BDE7-40DDE5A9DE71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Web Development using React js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867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3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8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ABFC-EB3B-C76B-9A3B-81D8F5AB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16" y="3951308"/>
            <a:ext cx="7585234" cy="478959"/>
          </a:xfrm>
        </p:spPr>
        <p:txBody>
          <a:bodyPr/>
          <a:lstStyle/>
          <a:p>
            <a:r>
              <a:rPr lang="en-US" b="1" cap="all" spc="113" dirty="0">
                <a:ea typeface="Cascadia Mono SemiBold" panose="020B0609020000020004" pitchFamily="49" charset="0"/>
                <a:cs typeface="Segoe UI" panose="020B0502040204020203" pitchFamily="34" charset="0"/>
              </a:rPr>
              <a:t>CHAPTER 3:</a:t>
            </a:r>
            <a:endParaRPr lang="en-US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E890C8A-5872-808A-1E58-7F798720C2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4165" b="14165"/>
          <a:stretch/>
        </p:blipFill>
        <p:spPr>
          <a:xfrm>
            <a:off x="12" y="0"/>
            <a:ext cx="9143989" cy="374185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29B45-4A68-E411-86D1-334A4ED6F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900" y="4430268"/>
            <a:ext cx="7977329" cy="478958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/>
              <a:t>STYLING IN REACT WITH CSS AND BUILDING REUSABLE COMPONENTS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C6C6A84-A556-FBBB-0061-8237F80A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878">
              <a:buClrTx/>
            </a:pPr>
            <a:r>
              <a:rPr lang="en-US" kern="1200">
                <a:solidFill>
                  <a:srgbClr val="DDDDDD"/>
                </a:solidFill>
                <a:latin typeface="Calibri" panose="020F0502020204030204"/>
                <a:ea typeface="+mn-ea"/>
              </a:rPr>
              <a:t>Jamhuriya university of science &amp; technology - copyright@2025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40E3-A07F-030B-C0AD-9AC6B273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878">
              <a:buClrTx/>
            </a:pPr>
            <a:fld id="{84EF7EEB-C9A5-40EC-A412-F38B288EA657}" type="slidenum">
              <a:rPr lang="en-US" kern="1200">
                <a:solidFill>
                  <a:srgbClr val="DDDDDD"/>
                </a:solidFill>
                <a:latin typeface="Calibri" panose="020F0502020204030204"/>
                <a:ea typeface="+mn-ea"/>
              </a:rPr>
              <a:pPr defTabSz="342878">
                <a:buClrTx/>
              </a:pPr>
              <a:t>1</a:t>
            </a:fld>
            <a:endParaRPr lang="en-US" kern="1200">
              <a:solidFill>
                <a:srgbClr val="DDDDDD"/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10761D2-EB64-2ED4-B3D5-EAB39E3E3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030" y="2738768"/>
            <a:ext cx="2080958" cy="1616639"/>
          </a:xfrm>
          <a:prstGeom prst="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265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2AE47-B027-36EE-88C8-B7B089D9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492" y="685800"/>
            <a:ext cx="4677156" cy="980694"/>
          </a:xfrm>
        </p:spPr>
        <p:txBody>
          <a:bodyPr>
            <a:normAutofit/>
          </a:bodyPr>
          <a:lstStyle/>
          <a:p>
            <a:r>
              <a:rPr lang="en-US"/>
              <a:t>Outline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6559C2-ACF9-27CD-FBB2-79480209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6" r="6716"/>
          <a:stretch/>
        </p:blipFill>
        <p:spPr>
          <a:xfrm>
            <a:off x="20" y="10"/>
            <a:ext cx="3497560" cy="51434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10153" y="541782"/>
            <a:ext cx="122872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7F27-4144-C194-6039-A8EE19B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492" y="1342417"/>
            <a:ext cx="4677156" cy="327987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INTRODUCTION TO STYLING IN REACT.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STYLED COMPONENTS.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REACT INLINE STYLING.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CSS FILES.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CSS MODULES.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SPLITTING COMPONENT AND BUILDING REUSABLE 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Aptos (Body)"/>
              </a:rPr>
              <a:t>CREATING FLEXIBLE COMPONENTS WITH STYLED COMPONENT.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347CA-D078-1B93-936B-25B61EB4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7086" y="4767262"/>
            <a:ext cx="1912173" cy="2738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A6EFDA8-3096-471A-B9F4-7A12D9DB07BB}" type="datetime1">
              <a:rPr lang="en-US" smtClean="0"/>
              <a:pPr>
                <a:spcAft>
                  <a:spcPts val="600"/>
                </a:spcAft>
              </a:pPr>
              <a:t>3/8/2026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69CD9-856D-91C2-4261-6B628689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9259" y="4767262"/>
            <a:ext cx="504265" cy="2738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z="12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3171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AC1FE-7F4A-E2A8-1B7C-5D2969CB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809657-BB74-8F75-EE20-C01C42399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C9A6E-F9F5-3C01-D63F-99ED9BEFE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4ED359-4CA4-1A40-ED5A-BD0A341CD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96464E-1AF5-4456-5432-A8E9FDDF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5470AF-75AF-A43F-7D70-A515A7FF1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632C0-F5BA-CD66-D52A-CE8C285A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b="1">
                <a:solidFill>
                  <a:srgbClr val="FFFFFF"/>
                </a:solidFill>
              </a:rPr>
              <a:t>Introduction to Styling in React</a:t>
            </a:r>
            <a:endParaRPr lang="en-US" sz="3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77A77-59C3-C78B-5448-C4A47C15A8B1}"/>
              </a:ext>
            </a:extLst>
          </p:cNvPr>
          <p:cNvSpPr txBox="1"/>
          <p:nvPr/>
        </p:nvSpPr>
        <p:spPr>
          <a:xfrm>
            <a:off x="259404" y="1413958"/>
            <a:ext cx="8579795" cy="3425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  <a:latin typeface="+mn-lt"/>
              </a:rPr>
              <a:t>Styling</a:t>
            </a:r>
            <a:r>
              <a:rPr lang="en-US" sz="2800" dirty="0">
                <a:latin typeface="+mn-lt"/>
              </a:rPr>
              <a:t> is an essential part of modern web development.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While React is primarily responsible for building user interfaces and managing application logic, styling is used to control the </a:t>
            </a:r>
            <a:r>
              <a:rPr lang="en-US" sz="2800" b="1" dirty="0">
                <a:latin typeface="+mn-lt"/>
              </a:rPr>
              <a:t>visual appearance of components</a:t>
            </a:r>
            <a:r>
              <a:rPr lang="en-US" sz="2800" dirty="0">
                <a:latin typeface="+mn-lt"/>
              </a:rPr>
              <a:t>, including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colors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layout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spacing</a:t>
            </a:r>
            <a:r>
              <a:rPr lang="en-US" sz="2800" dirty="0">
                <a:latin typeface="+mn-lt"/>
              </a:rPr>
              <a:t>, and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typography</a:t>
            </a:r>
            <a:r>
              <a:rPr lang="en-US" sz="2800" dirty="0">
                <a:latin typeface="+mn-lt"/>
              </a:rPr>
              <a:t>.</a:t>
            </a:r>
            <a:endParaRPr lang="en-US" sz="2800" kern="12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050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A71D3-8835-2579-9270-29E4BAD6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5C47-9185-D505-1524-9456CB6A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853527"/>
            <a:ext cx="4487857" cy="37438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/>
            <a:r>
              <a:rPr lang="en-US" sz="2400" b="1"/>
              <a:t>Introduction to Styling in React</a:t>
            </a:r>
            <a:endParaRPr lang="en-US" sz="2400" b="1" dirty="0"/>
          </a:p>
        </p:txBody>
      </p:sp>
      <p:pic>
        <p:nvPicPr>
          <p:cNvPr id="20" name="Picture 19" descr="Color chart with labels">
            <a:extLst>
              <a:ext uri="{FF2B5EF4-FFF2-40B4-BE49-F238E27FC236}">
                <a16:creationId xmlns:a16="http://schemas.microsoft.com/office/drawing/2014/main" id="{91D88B9B-3C4D-E684-31BF-8C146A57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16" r="19747"/>
          <a:stretch>
            <a:fillRect/>
          </a:stretch>
        </p:blipFill>
        <p:spPr>
          <a:xfrm>
            <a:off x="20" y="10"/>
            <a:ext cx="3863363" cy="514349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653359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3F1ABD-6444-F3C0-D217-BA7D1753AC88}"/>
              </a:ext>
            </a:extLst>
          </p:cNvPr>
          <p:cNvSpPr txBox="1"/>
          <p:nvPr/>
        </p:nvSpPr>
        <p:spPr>
          <a:xfrm>
            <a:off x="4401417" y="1428076"/>
            <a:ext cx="4487857" cy="3490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traditional web development, styling is typically applied using </a:t>
            </a:r>
            <a:r>
              <a: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 files</a:t>
            </a: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React, developers have several different options for styling components depending on the complexity and needs of the application.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styling approaches in React include:</a:t>
            </a:r>
          </a:p>
          <a:p>
            <a:pPr marL="628650" lvl="4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800" kern="120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Inline Styling</a:t>
            </a:r>
          </a:p>
          <a:p>
            <a:pPr marL="628650" lvl="4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800" kern="120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External CSS Files</a:t>
            </a:r>
          </a:p>
          <a:p>
            <a:pPr marL="628650" lvl="4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800" kern="120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CSS Modules</a:t>
            </a:r>
          </a:p>
          <a:p>
            <a:pPr marL="628650" lvl="4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800" kern="120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Styled Components</a:t>
            </a:r>
            <a:endParaRPr lang="en-US" sz="1800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22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React Inline Styling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 txBox="1">
            <a:spLocks/>
          </p:cNvSpPr>
          <p:nvPr/>
        </p:nvSpPr>
        <p:spPr>
          <a:xfrm>
            <a:off x="278861" y="1413959"/>
            <a:ext cx="8638160" cy="274656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457200" lvl="2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rPr>
              <a:t>Inline styling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in React allows developers to apply styles directly within JSX using JavaScript objects.</a:t>
            </a:r>
          </a:p>
          <a:p>
            <a:pPr marL="457200" lvl="2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Unlike traditional HTML, where styles are written as strings, React requires inline styles to be written as </a:t>
            </a:r>
            <a:r>
              <a:rPr lang="en-US" sz="2400" kern="1200" dirty="0">
                <a:solidFill>
                  <a:srgbClr val="00B0F0"/>
                </a:solidFill>
                <a:latin typeface="+mn-lt"/>
                <a:ea typeface="+mn-ea"/>
                <a:cs typeface="+mn-cs"/>
                <a:sym typeface="Arial"/>
              </a:rPr>
              <a:t>JavaScript objects using camelCase property names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2416B-3520-A3D1-660B-2E683CBAA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03" y="186258"/>
            <a:ext cx="606849" cy="60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6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FFEA0-F5C5-F366-040E-E526BBB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FFD2D-77E4-5943-CE4D-6405DB68A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Example: Inline Styling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269A2-A7C7-17F4-6FBA-CE0A30EAF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03" y="186258"/>
            <a:ext cx="606849" cy="606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B7E73F-88A7-FC2F-A434-AEA15F4DDB45}"/>
              </a:ext>
            </a:extLst>
          </p:cNvPr>
          <p:cNvSpPr txBox="1"/>
          <p:nvPr/>
        </p:nvSpPr>
        <p:spPr>
          <a:xfrm>
            <a:off x="5681441" y="1823288"/>
            <a:ext cx="3111278" cy="2677656"/>
          </a:xfrm>
          <a:prstGeom prst="rect">
            <a:avLst/>
          </a:prstGeom>
          <a:noFill/>
          <a:ln>
            <a:solidFill>
              <a:srgbClr val="134861"/>
            </a:solidFill>
          </a:ln>
        </p:spPr>
        <p:txBody>
          <a:bodyPr wrap="square">
            <a:spAutoFit/>
          </a:bodyPr>
          <a:lstStyle/>
          <a:p>
            <a:r>
              <a:rPr lang="en-US" b="1" u="sng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headingStyle</a:t>
            </a:r>
            <a:r>
              <a:rPr lang="en-US" dirty="0"/>
              <a:t> is a JavaScript object containing CSS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style</a:t>
            </a:r>
            <a:r>
              <a:rPr lang="en-US" dirty="0"/>
              <a:t> attribute receives the object using </a:t>
            </a:r>
            <a:r>
              <a:rPr lang="en-US" dirty="0">
                <a:solidFill>
                  <a:srgbClr val="00B0F0"/>
                </a:solidFill>
              </a:rPr>
              <a:t>{}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CSS properties use </a:t>
            </a:r>
            <a:r>
              <a:rPr lang="en-US" dirty="0">
                <a:solidFill>
                  <a:srgbClr val="00B0F0"/>
                </a:solidFill>
              </a:rPr>
              <a:t>camelCase</a:t>
            </a:r>
            <a:r>
              <a:rPr lang="en-US" dirty="0"/>
              <a:t> instead of </a:t>
            </a:r>
            <a:r>
              <a:rPr lang="en-US" dirty="0">
                <a:solidFill>
                  <a:srgbClr val="C00000"/>
                </a:solidFill>
              </a:rPr>
              <a:t>hyphenated names </a:t>
            </a:r>
            <a:r>
              <a:rPr lang="en-US" dirty="0"/>
              <a:t> (This means that properties such as </a:t>
            </a:r>
            <a:r>
              <a:rPr lang="en-US" dirty="0">
                <a:solidFill>
                  <a:srgbClr val="C00000"/>
                </a:solidFill>
              </a:rPr>
              <a:t>font-size</a:t>
            </a:r>
            <a:r>
              <a:rPr lang="en-US" dirty="0"/>
              <a:t> in CSS are written as </a:t>
            </a:r>
            <a:r>
              <a:rPr lang="en-US" dirty="0" err="1">
                <a:solidFill>
                  <a:srgbClr val="00B0F0"/>
                </a:solidFill>
              </a:rPr>
              <a:t>fontSize</a:t>
            </a:r>
            <a:r>
              <a:rPr lang="en-US" dirty="0"/>
              <a:t> in React, and </a:t>
            </a:r>
            <a:r>
              <a:rPr lang="en-US" dirty="0">
                <a:solidFill>
                  <a:srgbClr val="C00000"/>
                </a:solidFill>
              </a:rPr>
              <a:t>background-color</a:t>
            </a:r>
            <a:r>
              <a:rPr lang="en-US" dirty="0"/>
              <a:t> becomes </a:t>
            </a:r>
            <a:r>
              <a:rPr lang="en-US" dirty="0" err="1">
                <a:solidFill>
                  <a:srgbClr val="00B0F0"/>
                </a:solidFill>
              </a:rPr>
              <a:t>backgroundColor</a:t>
            </a:r>
            <a:r>
              <a:rPr lang="en-US" dirty="0"/>
              <a:t>).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DC327-7503-4DB5-7477-8E1467858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27" y="2120113"/>
            <a:ext cx="5001616" cy="2084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82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Advantages and Limitations of Inline Styles in React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 txBox="1">
            <a:spLocks/>
          </p:cNvSpPr>
          <p:nvPr/>
        </p:nvSpPr>
        <p:spPr>
          <a:xfrm>
            <a:off x="344512" y="1413958"/>
            <a:ext cx="8106150" cy="271115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lvl="2" indent="-2286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Advantages:</a:t>
            </a:r>
          </a:p>
          <a:p>
            <a:pPr marL="685800" lvl="4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Useful for dynamic styling.</a:t>
            </a:r>
          </a:p>
          <a:p>
            <a:pPr marL="685800" lvl="4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 to apply quickly.</a:t>
            </a:r>
          </a:p>
          <a:p>
            <a:pPr marL="685800" lvl="4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Works well for small components.</a:t>
            </a:r>
          </a:p>
          <a:p>
            <a:pPr marL="342900" lvl="2" indent="-2286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b="1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Limitations:</a:t>
            </a:r>
          </a:p>
          <a:p>
            <a:pPr marL="685800" lvl="2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 to maintain in large projects.</a:t>
            </a:r>
          </a:p>
          <a:p>
            <a:pPr marL="685800" lvl="2" indent="-342900"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Cannot use advanced CSS features like media queries.</a:t>
            </a:r>
          </a:p>
        </p:txBody>
      </p:sp>
    </p:spTree>
    <p:extLst>
      <p:ext uri="{BB962C8B-B14F-4D97-AF65-F5344CB8AC3E}">
        <p14:creationId xmlns:p14="http://schemas.microsoft.com/office/powerpoint/2010/main" val="425282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Styling with CSS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344513" y="1464415"/>
            <a:ext cx="8106149" cy="3080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Another common way to style React components is by using </a:t>
            </a:r>
            <a:r>
              <a:rPr lang="en-US" sz="2400" dirty="0">
                <a:solidFill>
                  <a:srgbClr val="00B0F0"/>
                </a:solidFill>
                <a:latin typeface="+mn-lt"/>
              </a:rPr>
              <a:t>external CSS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This approach is like traditional web development and is useful for applying global styles across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5032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Component with External CSS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6361C-7784-B40E-EA24-FA5FA34E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87" y="1413958"/>
            <a:ext cx="6000278" cy="1804962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D4D5AA-3FE8-BB40-6A4B-E9588E4F8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87" y="3319879"/>
            <a:ext cx="3349650" cy="1707943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10CF494-9408-1552-2CE2-433EDE168EA3}"/>
              </a:ext>
            </a:extLst>
          </p:cNvPr>
          <p:cNvSpPr txBox="1"/>
          <p:nvPr/>
        </p:nvSpPr>
        <p:spPr>
          <a:xfrm>
            <a:off x="4415640" y="3586996"/>
            <a:ext cx="4630783" cy="954107"/>
          </a:xfrm>
          <a:prstGeom prst="wedgeRectCallout">
            <a:avLst/>
          </a:prstGeom>
          <a:noFill/>
          <a:ln>
            <a:solidFill>
              <a:srgbClr val="13486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>
                <a:solidFill>
                  <a:srgbClr val="00B0F0"/>
                </a:solidFill>
                <a:latin typeface="Courier New" panose="02070309020205020404" pitchFamily="49" charset="0"/>
              </a:rPr>
              <a:t>className</a:t>
            </a:r>
            <a:r>
              <a:rPr lang="en-US" dirty="0"/>
              <a:t> attribute is used instead of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class</a:t>
            </a:r>
            <a:r>
              <a:rPr lang="en-US" dirty="0"/>
              <a:t>.</a:t>
            </a:r>
            <a:r>
              <a:rPr lang="en-GB" dirty="0"/>
              <a:t> This is because </a:t>
            </a:r>
            <a:r>
              <a:rPr lang="en-GB" dirty="0">
                <a:solidFill>
                  <a:srgbClr val="00B0F0"/>
                </a:solidFill>
              </a:rPr>
              <a:t>class is a reserved keyword in JavaScript</a:t>
            </a:r>
            <a:r>
              <a:rPr lang="en-GB" dirty="0"/>
              <a:t>, and since JSX is based on JavaScript syntax, React uses </a:t>
            </a:r>
            <a:r>
              <a:rPr lang="en-GB" dirty="0" err="1"/>
              <a:t>className</a:t>
            </a:r>
            <a:r>
              <a:rPr lang="en-GB" dirty="0"/>
              <a:t> to avoid conflicts.</a:t>
            </a:r>
            <a:r>
              <a:rPr lang="en-US" dirty="0"/>
              <a:t>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D10D00-7DF4-2729-9B8D-9FA5DEF2946D}"/>
              </a:ext>
            </a:extLst>
          </p:cNvPr>
          <p:cNvCxnSpPr>
            <a:cxnSpLocks/>
          </p:cNvCxnSpPr>
          <p:nvPr/>
        </p:nvCxnSpPr>
        <p:spPr>
          <a:xfrm>
            <a:off x="2718652" y="2571750"/>
            <a:ext cx="2816843" cy="1107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2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77" y="220903"/>
            <a:ext cx="8048585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344512" y="1413959"/>
            <a:ext cx="8523855" cy="3508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1" kern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EDDAF-34BD-14D2-10C5-A78DFE4F2D84}"/>
              </a:ext>
            </a:extLst>
          </p:cNvPr>
          <p:cNvSpPr txBox="1"/>
          <p:nvPr/>
        </p:nvSpPr>
        <p:spPr>
          <a:xfrm>
            <a:off x="275633" y="1528091"/>
            <a:ext cx="81258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B0F0"/>
                </a:solidFill>
                <a:latin typeface="+mn-lt"/>
              </a:rPr>
              <a:t>CSS Modules </a:t>
            </a:r>
            <a:r>
              <a:rPr lang="en-GB" sz="2400" dirty="0">
                <a:latin typeface="+mn-lt"/>
              </a:rPr>
              <a:t>solve the problem of style conflicts by scoping CSS locally to a component.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When using CSS Modules, each class name is automatically transformed into a </a:t>
            </a:r>
            <a:r>
              <a:rPr lang="en-GB" sz="2400" i="1" dirty="0">
                <a:latin typeface="+mn-lt"/>
              </a:rPr>
              <a:t>unique identifier</a:t>
            </a:r>
            <a:r>
              <a:rPr lang="en-GB" sz="2400" dirty="0">
                <a:latin typeface="+mn-lt"/>
              </a:rPr>
              <a:t>, preventing naming collisions.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+mn-lt"/>
              </a:rPr>
              <a:t>Advantages of CSS modules:</a:t>
            </a:r>
          </a:p>
          <a:p>
            <a:pPr marL="685800" lvl="1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+mn-lt"/>
              </a:rPr>
              <a:t>Prevents </a:t>
            </a:r>
            <a:r>
              <a:rPr lang="en-GB" sz="2400" i="1" dirty="0">
                <a:latin typeface="+mn-lt"/>
              </a:rPr>
              <a:t>CSS conflicts</a:t>
            </a:r>
            <a:r>
              <a:rPr lang="en-GB" sz="2400" dirty="0">
                <a:latin typeface="+mn-lt"/>
              </a:rPr>
              <a:t>.</a:t>
            </a:r>
          </a:p>
          <a:p>
            <a:pPr marL="685800" lvl="1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+mn-lt"/>
              </a:rPr>
              <a:t>Encourages </a:t>
            </a:r>
            <a:r>
              <a:rPr lang="en-GB" sz="2400" i="1" dirty="0">
                <a:latin typeface="+mn-lt"/>
              </a:rPr>
              <a:t>modular</a:t>
            </a:r>
            <a:r>
              <a:rPr lang="en-GB" sz="2400" dirty="0">
                <a:latin typeface="+mn-lt"/>
              </a:rPr>
              <a:t> design.</a:t>
            </a:r>
          </a:p>
          <a:p>
            <a:pPr marL="685800" lvl="1" indent="-342900">
              <a:buFont typeface="Wingdings" panose="05000000000000000000" pitchFamily="2" charset="2"/>
              <a:buChar char="§"/>
            </a:pPr>
            <a:r>
              <a:rPr lang="en-GB" sz="2400" dirty="0">
                <a:latin typeface="+mn-lt"/>
              </a:rPr>
              <a:t>Ideal for medium to large projects.</a:t>
            </a:r>
          </a:p>
        </p:txBody>
      </p:sp>
    </p:spTree>
    <p:extLst>
      <p:ext uri="{BB962C8B-B14F-4D97-AF65-F5344CB8AC3E}">
        <p14:creationId xmlns:p14="http://schemas.microsoft.com/office/powerpoint/2010/main" val="3474554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181777" y="1516911"/>
            <a:ext cx="4359538" cy="489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lvl="6" algn="just">
              <a:lnSpc>
                <a:spcPct val="90000"/>
              </a:lnSpc>
              <a:spcAft>
                <a:spcPts val="600"/>
              </a:spcAft>
            </a:pPr>
            <a:r>
              <a:rPr lang="en-GB" sz="1800" b="1" dirty="0"/>
              <a:t>Step 1: </a:t>
            </a:r>
            <a:r>
              <a:rPr lang="en-GB" sz="1800" dirty="0"/>
              <a:t>Create CSS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spcAft>
                <a:spcPts val="600"/>
              </a:spcAft>
            </a:pPr>
            <a:r>
              <a:rPr lang="en-US" b="1" dirty="0"/>
              <a:t>	</a:t>
            </a: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DFDE8-2BEE-1A2B-01C6-E96DF386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7" y="2100143"/>
            <a:ext cx="3470722" cy="1524394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460A90-1F73-3F51-02D4-ADEA34027A05}"/>
              </a:ext>
            </a:extLst>
          </p:cNvPr>
          <p:cNvSpPr txBox="1"/>
          <p:nvPr/>
        </p:nvSpPr>
        <p:spPr>
          <a:xfrm>
            <a:off x="3881164" y="1579466"/>
            <a:ext cx="5042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Step 2: </a:t>
            </a:r>
            <a:r>
              <a:rPr lang="en-GB" sz="1800" dirty="0"/>
              <a:t>Use CSS Module in React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0C60C-5481-239E-F497-45D0FEC20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076" y="2069325"/>
            <a:ext cx="5042786" cy="1555212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5C7579-ED17-A07A-D69E-649E2C42BF6D}"/>
              </a:ext>
            </a:extLst>
          </p:cNvPr>
          <p:cNvSpPr txBox="1"/>
          <p:nvPr/>
        </p:nvSpPr>
        <p:spPr>
          <a:xfrm>
            <a:off x="180217" y="3938346"/>
            <a:ext cx="810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/>
              <a:t>The CSS file is imported as an object (</a:t>
            </a:r>
            <a:r>
              <a:rPr lang="en-GB" b="1" dirty="0"/>
              <a:t>styles</a:t>
            </a:r>
            <a:r>
              <a:rPr lang="en-GB" dirty="0"/>
              <a:t>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/>
              <a:t>Each class is accessed using </a:t>
            </a:r>
            <a:r>
              <a:rPr lang="en-GB" b="1" dirty="0" err="1"/>
              <a:t>styles.className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55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E3386-AC52-6547-A5DF-FF2440AE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Styled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344513" y="1493103"/>
            <a:ext cx="8239506" cy="3429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Styled Components </a:t>
            </a:r>
            <a:r>
              <a:rPr lang="en-GB" sz="2400" kern="1200" dirty="0">
                <a:latin typeface="+mn-lt"/>
                <a:ea typeface="+mn-ea"/>
                <a:cs typeface="+mn-cs"/>
              </a:rPr>
              <a:t>is a popular React library that allows developers to write CSS directly inside JavaScript using tagged template literals.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kern="1200" dirty="0">
                <a:latin typeface="+mn-lt"/>
                <a:ea typeface="+mn-ea"/>
                <a:cs typeface="+mn-cs"/>
              </a:rPr>
              <a:t>This method creates scoped and reusable styled components.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1" kern="1200" dirty="0">
                <a:latin typeface="+mn-lt"/>
                <a:ea typeface="+mn-ea"/>
                <a:cs typeface="+mn-cs"/>
              </a:rPr>
              <a:t>Installing Styled Components:</a:t>
            </a:r>
          </a:p>
          <a:p>
            <a:pPr marL="685800" lvl="1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 err="1">
                <a:solidFill>
                  <a:srgbClr val="C00000"/>
                </a:solidFill>
              </a:rPr>
              <a:t>npm</a:t>
            </a:r>
            <a:r>
              <a:rPr lang="en-GB" sz="2400" dirty="0"/>
              <a:t> install styled-components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F1E8B-7A28-EB48-8FF1-FED478526A26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spcAft>
                <a:spcPts val="600"/>
              </a:spcAft>
            </a:pPr>
            <a:r>
              <a:rPr lang="en-US" b="1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5498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D4D91-3615-ACFB-399A-83ED164B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51171-DD1E-5E3F-F11D-289C76FF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Styled Button Component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707C3-0683-90B4-790A-B432C04CF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5" y="1301194"/>
            <a:ext cx="3563313" cy="3729147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3D2CA7-DACA-9261-79AD-A8497EA026F3}"/>
              </a:ext>
            </a:extLst>
          </p:cNvPr>
          <p:cNvSpPr txBox="1"/>
          <p:nvPr/>
        </p:nvSpPr>
        <p:spPr>
          <a:xfrm>
            <a:off x="5075637" y="1287554"/>
            <a:ext cx="2675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Using the Styled Component: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7EEC19-EB05-0D33-009E-0516C3FFC1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81715" y="1684811"/>
            <a:ext cx="3005782" cy="1812136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47C39F-8283-2D63-A2BF-C51B8CBDA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646" y="3740033"/>
            <a:ext cx="2251920" cy="1192822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B46B2F-15CA-651C-A0E8-E710ECF13276}"/>
              </a:ext>
            </a:extLst>
          </p:cNvPr>
          <p:cNvSpPr txBox="1"/>
          <p:nvPr/>
        </p:nvSpPr>
        <p:spPr>
          <a:xfrm>
            <a:off x="4571998" y="4182555"/>
            <a:ext cx="852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b="1" dirty="0"/>
              <a:t>Output: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380EB7-419A-3BD2-A69E-B633880FE724}"/>
              </a:ext>
            </a:extLst>
          </p:cNvPr>
          <p:cNvCxnSpPr>
            <a:cxnSpLocks/>
          </p:cNvCxnSpPr>
          <p:nvPr/>
        </p:nvCxnSpPr>
        <p:spPr>
          <a:xfrm>
            <a:off x="3937662" y="2477530"/>
            <a:ext cx="1635235" cy="94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744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88791-6CCA-D7B8-6694-6FAA1014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A2759-787E-9720-24D7-DFCB38C2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GB" sz="3200">
                <a:solidFill>
                  <a:schemeClr val="bg1"/>
                </a:solidFill>
              </a:rPr>
              <a:t>Advantages of </a:t>
            </a:r>
            <a:r>
              <a:rPr lang="en-US" sz="3000">
                <a:solidFill>
                  <a:schemeClr val="bg1"/>
                </a:solidFill>
              </a:rPr>
              <a:t>Styled Components</a:t>
            </a: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AA083-586C-6F7A-21D1-D8CE467DB3B0}"/>
              </a:ext>
            </a:extLst>
          </p:cNvPr>
          <p:cNvSpPr txBox="1"/>
          <p:nvPr/>
        </p:nvSpPr>
        <p:spPr>
          <a:xfrm>
            <a:off x="398761" y="1340662"/>
            <a:ext cx="8446860" cy="3636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8BE9C-1207-7F87-4BE5-F4263312B570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spcAft>
                <a:spcPts val="600"/>
              </a:spcAft>
            </a:pPr>
            <a:r>
              <a:rPr lang="en-US" b="1" dirty="0"/>
              <a:t>	</a:t>
            </a:r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054CD-FF9D-2FFF-1DC6-5770E9207E2D}"/>
              </a:ext>
            </a:extLst>
          </p:cNvPr>
          <p:cNvSpPr txBox="1"/>
          <p:nvPr/>
        </p:nvSpPr>
        <p:spPr>
          <a:xfrm>
            <a:off x="344509" y="1671435"/>
            <a:ext cx="7977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CSS is </a:t>
            </a:r>
            <a:r>
              <a:rPr lang="en-GB" sz="2400" i="1" dirty="0">
                <a:latin typeface="+mn-lt"/>
              </a:rPr>
              <a:t>scoped</a:t>
            </a:r>
            <a:r>
              <a:rPr lang="en-GB" sz="2400" dirty="0">
                <a:latin typeface="+mn-lt"/>
              </a:rPr>
              <a:t> to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Supports </a:t>
            </a:r>
            <a:r>
              <a:rPr lang="en-GB" sz="2400" i="1" dirty="0">
                <a:latin typeface="+mn-lt"/>
              </a:rPr>
              <a:t>dynamic</a:t>
            </a:r>
            <a:r>
              <a:rPr lang="en-GB" sz="2400" dirty="0">
                <a:latin typeface="+mn-lt"/>
              </a:rPr>
              <a:t> styling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Helps create </a:t>
            </a:r>
            <a:r>
              <a:rPr lang="en-GB" sz="2400" i="1" dirty="0">
                <a:latin typeface="+mn-lt"/>
              </a:rPr>
              <a:t>reusable</a:t>
            </a:r>
            <a:r>
              <a:rPr lang="en-GB" sz="2400" dirty="0">
                <a:latin typeface="+mn-lt"/>
              </a:rPr>
              <a:t> UI components</a:t>
            </a:r>
          </a:p>
        </p:txBody>
      </p:sp>
    </p:spTree>
    <p:extLst>
      <p:ext uri="{BB962C8B-B14F-4D97-AF65-F5344CB8AC3E}">
        <p14:creationId xmlns:p14="http://schemas.microsoft.com/office/powerpoint/2010/main" val="1067922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BFFCE-C703-441B-AAAB-6965691D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31553"/>
            <a:ext cx="8184992" cy="7752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spcBef>
                <a:spcPct val="0"/>
              </a:spcBef>
            </a:pPr>
            <a:r>
              <a:rPr lang="en-GB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Splitting Components and Building Reusable Components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79510-5EDB-402C-AED1-6EA913E6B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509" y="1420787"/>
            <a:ext cx="8509107" cy="36269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170000"/>
              </a:lnSpc>
            </a:pPr>
            <a:r>
              <a:rPr lang="en-GB" sz="1800" dirty="0">
                <a:solidFill>
                  <a:srgbClr val="000000"/>
                </a:solidFill>
              </a:rPr>
              <a:t>One of the most important principles in React development is </a:t>
            </a:r>
            <a:r>
              <a:rPr lang="en-GB" sz="1800" dirty="0">
                <a:solidFill>
                  <a:srgbClr val="00B0F0"/>
                </a:solidFill>
              </a:rPr>
              <a:t>component reuse</a:t>
            </a:r>
            <a:r>
              <a:rPr lang="en-GB" sz="1800" dirty="0">
                <a:solidFill>
                  <a:srgbClr val="000000"/>
                </a:solidFill>
              </a:rPr>
              <a:t>.</a:t>
            </a:r>
          </a:p>
          <a:p>
            <a:pPr marL="342900" indent="-342900" defTabSz="914400">
              <a:lnSpc>
                <a:spcPct val="170000"/>
              </a:lnSpc>
            </a:pPr>
            <a:r>
              <a:rPr lang="en-GB" sz="1800" dirty="0">
                <a:solidFill>
                  <a:srgbClr val="000000"/>
                </a:solidFill>
              </a:rPr>
              <a:t>Rather than creating large, monolithic components that contain many responsibilities, developers are encouraged to divide the user interface into </a:t>
            </a:r>
            <a:r>
              <a:rPr lang="en-GB" sz="1800" dirty="0">
                <a:solidFill>
                  <a:srgbClr val="00B0F0"/>
                </a:solidFill>
              </a:rPr>
              <a:t>smaller</a:t>
            </a:r>
            <a:r>
              <a:rPr lang="en-GB" sz="1800" dirty="0">
                <a:solidFill>
                  <a:srgbClr val="000000"/>
                </a:solidFill>
              </a:rPr>
              <a:t>, </a:t>
            </a:r>
            <a:r>
              <a:rPr lang="en-GB" sz="1800" dirty="0">
                <a:solidFill>
                  <a:srgbClr val="00B0F0"/>
                </a:solidFill>
              </a:rPr>
              <a:t>modular</a:t>
            </a:r>
            <a:r>
              <a:rPr lang="en-GB" sz="1800" dirty="0">
                <a:solidFill>
                  <a:srgbClr val="000000"/>
                </a:solidFill>
              </a:rPr>
              <a:t>, and </a:t>
            </a:r>
            <a:r>
              <a:rPr lang="en-GB" sz="1800" dirty="0">
                <a:solidFill>
                  <a:srgbClr val="00B0F0"/>
                </a:solidFill>
              </a:rPr>
              <a:t>reusable</a:t>
            </a:r>
            <a:r>
              <a:rPr lang="en-GB" sz="1800" dirty="0">
                <a:solidFill>
                  <a:srgbClr val="000000"/>
                </a:solidFill>
              </a:rPr>
              <a:t> components. </a:t>
            </a:r>
          </a:p>
          <a:p>
            <a:pPr marL="342900" indent="-342900" defTabSz="914400">
              <a:lnSpc>
                <a:spcPct val="170000"/>
              </a:lnSpc>
            </a:pPr>
            <a:r>
              <a:rPr lang="en-GB" sz="1800" dirty="0">
                <a:solidFill>
                  <a:srgbClr val="000000"/>
                </a:solidFill>
              </a:rPr>
              <a:t>This approach improves code readability, maintainability, and scalability. </a:t>
            </a:r>
          </a:p>
          <a:p>
            <a:pPr marL="342900" indent="-342900" defTabSz="914400">
              <a:lnSpc>
                <a:spcPct val="170000"/>
              </a:lnSpc>
            </a:pPr>
            <a:r>
              <a:rPr lang="en-GB" sz="1800" dirty="0">
                <a:solidFill>
                  <a:srgbClr val="000000"/>
                </a:solidFill>
              </a:rPr>
              <a:t>Each component is designed to perform a specific task and can be reused in multiple parts of the application</a:t>
            </a:r>
            <a:endParaRPr lang="en-US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26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730D9-58A5-D820-7751-D4614B94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FBDB14-D8AA-4214-0AF7-33F538147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46DD65-5337-2976-2E17-BDCFF49F8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35954-6C54-890A-7B5E-B2EB3C612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66E6DF-3798-8844-F749-6EFF1D971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2248C-F1E5-7DD1-C4B7-EB7897E9C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19063-7F76-98E4-7EC7-A714741C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15" y="220903"/>
            <a:ext cx="8197348" cy="7752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spcBef>
                <a:spcPct val="0"/>
              </a:spcBef>
            </a:pPr>
            <a:r>
              <a:rPr lang="en-GB" sz="3000" dirty="0">
                <a:solidFill>
                  <a:srgbClr val="FFFFFF"/>
                </a:solidFill>
              </a:rPr>
              <a:t>Splitting Components and Building Reusable Components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84CAE-5D06-F2F2-7D3B-ACB24B716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" y="1893974"/>
            <a:ext cx="3804142" cy="1961033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61148C-C2C6-C6B8-70A0-B826EBEC8D3E}"/>
              </a:ext>
            </a:extLst>
          </p:cNvPr>
          <p:cNvSpPr txBox="1"/>
          <p:nvPr/>
        </p:nvSpPr>
        <p:spPr>
          <a:xfrm>
            <a:off x="253315" y="1538166"/>
            <a:ext cx="3804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Example: Reusable Button Component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7BDB31-F9F3-1124-239E-AD0268FB221B}"/>
              </a:ext>
            </a:extLst>
          </p:cNvPr>
          <p:cNvSpPr txBox="1"/>
          <p:nvPr/>
        </p:nvSpPr>
        <p:spPr>
          <a:xfrm>
            <a:off x="4971536" y="1893974"/>
            <a:ext cx="3089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Using the Button Component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CB0D7E-675E-397F-90D0-1C352F0F6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36" y="2255820"/>
            <a:ext cx="3089173" cy="941821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A7DC46-3ED2-9737-9577-3A208F22341F}"/>
              </a:ext>
            </a:extLst>
          </p:cNvPr>
          <p:cNvSpPr txBox="1"/>
          <p:nvPr/>
        </p:nvSpPr>
        <p:spPr>
          <a:xfrm>
            <a:off x="4971535" y="3327309"/>
            <a:ext cx="30891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same component can be reused with different values.</a:t>
            </a:r>
          </a:p>
        </p:txBody>
      </p:sp>
    </p:spTree>
    <p:extLst>
      <p:ext uri="{BB962C8B-B14F-4D97-AF65-F5344CB8AC3E}">
        <p14:creationId xmlns:p14="http://schemas.microsoft.com/office/powerpoint/2010/main" val="3833801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518EB-396D-35FC-7EDD-9FA8A554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93B30E-00B3-3C3F-2D24-E88F84E9E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D2081-9B72-AF92-1702-D7456ACB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133F8-CBD9-1DCC-329D-76F1C639B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8C06BA-CEC6-F6FB-EDA4-8260C4C4F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FBCDD-3CFE-1868-6913-022ADD23A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BBB1C-3A08-2086-7D2E-42E548FF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Reusable Card Component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90FB0-B232-9A3F-9212-36B89CD9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4512" y="1628176"/>
            <a:ext cx="4013526" cy="2936212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0FFA2D-4221-68FA-E288-3D8FA6248EE4}"/>
              </a:ext>
            </a:extLst>
          </p:cNvPr>
          <p:cNvSpPr txBox="1"/>
          <p:nvPr/>
        </p:nvSpPr>
        <p:spPr>
          <a:xfrm>
            <a:off x="4739680" y="1260069"/>
            <a:ext cx="3403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Using the Card Component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34528-7E10-6BD5-EE36-5275A92DB401}"/>
              </a:ext>
            </a:extLst>
          </p:cNvPr>
          <p:cNvSpPr txBox="1"/>
          <p:nvPr/>
        </p:nvSpPr>
        <p:spPr>
          <a:xfrm>
            <a:off x="668130" y="1260069"/>
            <a:ext cx="2229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Card Component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D7F1FF-3C29-4ACF-B86C-7FFB40F66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80" y="1628176"/>
            <a:ext cx="3867677" cy="2996542"/>
          </a:xfrm>
          <a:prstGeom prst="rect">
            <a:avLst/>
          </a:prstGeom>
          <a:effectLst>
            <a:glow rad="228600">
              <a:srgbClr val="134861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63246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51435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379913"/>
            <a:ext cx="6118095" cy="37632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047384" y="-24848"/>
            <a:ext cx="51434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5EEAF-4CCB-546A-708D-B5EBE06C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844" y="294635"/>
            <a:ext cx="4001058" cy="4553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88726-11AA-D285-BE3F-83A8DE57A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25230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9241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11FD2-41F1-E38E-B318-C4517226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7994E4-19C6-0F98-F664-94B87A1DB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D5CE8-EC83-25A0-C133-799BF1DD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60A52-DCE3-3F95-E2DA-CD056CE69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855F8D-5897-E5FD-92D9-4CE372B1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A43054-5894-E439-D3CF-213AF2417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36904-8C84-D26A-079D-80326275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Tips for Styling React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81389-AEF3-C1D1-7B17-03B6311CE843}"/>
              </a:ext>
            </a:extLst>
          </p:cNvPr>
          <p:cNvSpPr txBox="1"/>
          <p:nvPr/>
        </p:nvSpPr>
        <p:spPr>
          <a:xfrm>
            <a:off x="344513" y="1413959"/>
            <a:ext cx="8501108" cy="3599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Use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Descriptive Class Names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: Choose class names that describe the purpose of the element (e.g., .custom-button instead of .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btn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Avoid Inline Styles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: While React allows inline styles, it’s better to use CSS files for maintainability.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Leverage CSS Modules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: If you want to avoid class name conflicts, consider using CSS Modules, which scope styles to individual components.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32BE8-12A1-C0C8-1AA5-F0374F07346E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40341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BFFCE-C703-441B-AAAB-6965691D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Images to Your React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79510-5EDB-402C-AED1-6EA913E6B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512" y="1413959"/>
            <a:ext cx="8604935" cy="361848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571500" indent="-342900" defTabSz="914400">
              <a:spcAft>
                <a:spcPts val="600"/>
              </a:spcAft>
            </a:pPr>
            <a:r>
              <a:rPr lang="en-US" sz="2000" dirty="0"/>
              <a:t>Images play an important role in creating visually engaging user interfaces. </a:t>
            </a:r>
          </a:p>
          <a:p>
            <a:pPr marL="571500" indent="-342900" defTabSz="914400">
              <a:spcAft>
                <a:spcPts val="600"/>
              </a:spcAft>
            </a:pPr>
            <a:r>
              <a:rPr lang="en-US" sz="2000" dirty="0"/>
              <a:t>In React applications, images can be displayed inside components just like in regular HTML. </a:t>
            </a:r>
          </a:p>
          <a:p>
            <a:pPr marL="571500" indent="-342900" defTabSz="914400">
              <a:spcAft>
                <a:spcPts val="600"/>
              </a:spcAft>
            </a:pPr>
            <a:r>
              <a:rPr lang="en-US" sz="2000" dirty="0"/>
              <a:t>However, React projects usually use a </a:t>
            </a:r>
            <a:r>
              <a:rPr lang="en-US" sz="2000" dirty="0">
                <a:solidFill>
                  <a:srgbClr val="00B0F0"/>
                </a:solidFill>
              </a:rPr>
              <a:t>module-based structure</a:t>
            </a:r>
            <a:r>
              <a:rPr lang="en-US" sz="2000" dirty="0"/>
              <a:t>, so images must be handled slightly differently than in traditional HTML pages.</a:t>
            </a:r>
          </a:p>
          <a:p>
            <a:pPr marL="571500" indent="-342900" defTabSz="914400"/>
            <a:r>
              <a:rPr lang="en-US" sz="2000" dirty="0"/>
              <a:t>There are two common ways to add images in a React application:</a:t>
            </a:r>
          </a:p>
          <a:p>
            <a:pPr marL="1143000" lvl="1" indent="-457200" defTabSz="914400">
              <a:buFont typeface="+mj-lt"/>
              <a:buAutoNum type="arabicPeriod"/>
            </a:pPr>
            <a:r>
              <a:rPr lang="en-US" sz="2000" dirty="0">
                <a:solidFill>
                  <a:srgbClr val="00B0F0"/>
                </a:solidFill>
              </a:rPr>
              <a:t>Importing images from the project files.</a:t>
            </a:r>
          </a:p>
          <a:p>
            <a:pPr marL="1143000" lvl="1" indent="-457200" defTabSz="914400">
              <a:buFont typeface="+mj-lt"/>
              <a:buAutoNum type="arabicPeriod"/>
            </a:pPr>
            <a:r>
              <a:rPr lang="en-US" sz="2000" dirty="0">
                <a:solidFill>
                  <a:srgbClr val="00B0F0"/>
                </a:solidFill>
              </a:rPr>
              <a:t>Using images from an external URL.</a:t>
            </a:r>
          </a:p>
        </p:txBody>
      </p:sp>
    </p:spTree>
    <p:extLst>
      <p:ext uri="{BB962C8B-B14F-4D97-AF65-F5344CB8AC3E}">
        <p14:creationId xmlns:p14="http://schemas.microsoft.com/office/powerpoint/2010/main" val="1904752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71F93-D55C-4BE5-7661-718F8C98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E418DC0-4BF3-7744-FA2A-0E3C0F57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0FC62-B36E-A4B7-8509-C97600F9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98117E-30BC-B6E3-D920-19FD1BB2D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1A4E67-C0F2-D703-0FF1-695149B49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BFC961-3764-7282-F7DD-875386CE5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A4CE18-C777-8702-C997-98F7F995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Importing Images from the Project Folder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571DA-C356-37C6-1E16-DC1DB163C1AE}"/>
              </a:ext>
            </a:extLst>
          </p:cNvPr>
          <p:cNvSpPr txBox="1"/>
          <p:nvPr/>
        </p:nvSpPr>
        <p:spPr>
          <a:xfrm>
            <a:off x="344513" y="1493103"/>
            <a:ext cx="8239506" cy="3429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latin typeface="+mn-lt"/>
              </a:rPr>
              <a:t>The most common approach in React is to </a:t>
            </a:r>
            <a:r>
              <a:rPr lang="en-US" sz="2800" b="1" dirty="0">
                <a:latin typeface="+mn-lt"/>
              </a:rPr>
              <a:t>import images directly into a component file</a:t>
            </a:r>
            <a:r>
              <a:rPr lang="en-US" sz="2800" dirty="0">
                <a:latin typeface="+mn-lt"/>
              </a:rPr>
              <a:t>. This ensures that the image is processed correctly by the build tool (such as </a:t>
            </a:r>
            <a:r>
              <a:rPr lang="en-US" sz="2800" b="1" dirty="0">
                <a:latin typeface="+mn-lt"/>
              </a:rPr>
              <a:t>Vite</a:t>
            </a:r>
            <a:r>
              <a:rPr lang="en-US" sz="2800" dirty="0">
                <a:latin typeface="+mn-lt"/>
              </a:rPr>
              <a:t>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314F4-9357-85ED-8871-C12E4FD2028B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1002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9BAD8-0633-7ABE-19EF-D766C3EB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EAB92EA-222D-2522-058D-4FD3E071F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A7F2FA-5148-D84A-E6BA-73E616BDB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03E781-9AAE-C0AE-3BF6-3BBD0A3D0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16DCF9-8A91-E073-CA49-2EBE6CE2E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D8E5CD-A6F6-C7C6-9A11-973DE2CAB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3206D-29BB-6D7A-AB6F-2A7F7308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Example: Importing an Image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9636D-A4BB-6560-6636-4A3E2875F0EC}"/>
              </a:ext>
            </a:extLst>
          </p:cNvPr>
          <p:cNvSpPr txBox="1"/>
          <p:nvPr/>
        </p:nvSpPr>
        <p:spPr>
          <a:xfrm>
            <a:off x="344512" y="1493104"/>
            <a:ext cx="8397411" cy="484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+mn-lt"/>
              </a:rPr>
              <a:t>Suppose the image is stored inside the project folder:</a:t>
            </a:r>
            <a:endParaRPr lang="en-US" sz="2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30FEE-DE9C-A112-D8C0-212F58D4B101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2E102-9604-2218-1C9A-BA0255333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7" y="2112787"/>
            <a:ext cx="5505855" cy="2895884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228880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CB36A-B620-693F-B868-A20B1892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6828A58-8E3E-663F-F486-90F0E6CB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EE24D3-4EA8-3B9C-EEA1-C68DDFBC5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3A978F-09A8-F4F1-FDBD-B8A72E398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7A8D2-D488-8CDF-8BDF-6AC0D74FA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9F007-757A-0CA9-F54B-BDA82723B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385F82-A249-FBC6-F96C-EB6FF689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Images from a Public URL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800D3-A4BE-2578-A675-BD48B7618DD5}"/>
              </a:ext>
            </a:extLst>
          </p:cNvPr>
          <p:cNvSpPr txBox="1"/>
          <p:nvPr/>
        </p:nvSpPr>
        <p:spPr>
          <a:xfrm>
            <a:off x="344513" y="1493104"/>
            <a:ext cx="8239506" cy="2754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n-lt"/>
              </a:rPr>
              <a:t>Another method is to use an image that is hosted </a:t>
            </a:r>
            <a:r>
              <a:rPr lang="en-US" sz="2800" i="1" dirty="0">
                <a:latin typeface="+mn-lt"/>
              </a:rPr>
              <a:t>online</a:t>
            </a:r>
            <a:r>
              <a:rPr lang="en-US" sz="2800" dirty="0">
                <a:latin typeface="+mn-lt"/>
              </a:rPr>
              <a:t>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n-lt"/>
              </a:rPr>
              <a:t>In this case, the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image URL </a:t>
            </a:r>
            <a:r>
              <a:rPr lang="en-US" sz="2800" dirty="0">
                <a:latin typeface="+mn-lt"/>
              </a:rPr>
              <a:t>can be used directly in the </a:t>
            </a:r>
            <a:r>
              <a:rPr lang="en-US" sz="2800" b="1" dirty="0" err="1">
                <a:solidFill>
                  <a:srgbClr val="00B0F0"/>
                </a:solidFill>
                <a:latin typeface="+mn-lt"/>
              </a:rPr>
              <a:t>src</a:t>
            </a:r>
            <a:r>
              <a:rPr lang="en-US" sz="2800" dirty="0">
                <a:latin typeface="+mn-lt"/>
              </a:rPr>
              <a:t> attribute.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01A9A-A9AD-10B0-6D27-D65BD65738FD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64392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0634B-D52F-2143-054C-E7E1F7251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9C2EBB-5A7C-C2C1-57F1-51B414B26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F51778-50D3-51DA-049C-0C9B9DCD6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C2FC29-AAE8-0276-844F-79409027D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DB1907-3672-DF3E-B316-63529C1CC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50156B-1F75-F83B-289B-DADA36299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441EE-E8C9-ECB1-52C5-3F336BD3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000">
                <a:solidFill>
                  <a:srgbClr val="FFFFFF"/>
                </a:solidFill>
              </a:rPr>
              <a:t>Using Images from a Public URL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7FE82-3FD9-B78D-E61C-5E37F4B84AD7}"/>
              </a:ext>
            </a:extLst>
          </p:cNvPr>
          <p:cNvSpPr txBox="1"/>
          <p:nvPr/>
        </p:nvSpPr>
        <p:spPr>
          <a:xfrm>
            <a:off x="344513" y="1493104"/>
            <a:ext cx="8239506" cy="2754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A250E-49D3-D9C0-5C8B-44A51D279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81" y="1301986"/>
            <a:ext cx="5162145" cy="3727563"/>
          </a:xfrm>
          <a:prstGeom prst="rect">
            <a:avLst/>
          </a:prstGeom>
          <a:effectLst>
            <a:glow rad="101600">
              <a:srgbClr val="134861">
                <a:alpha val="6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286718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E0D7E-79D3-34DA-3F5C-7856EC09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04603C-603A-8F73-6A40-DED071B9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2072D0-9BDE-B7DE-9C5D-71BA1DA5C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4915BE-2E16-B5F5-73C8-BA3FB5615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4464F0-28ED-3674-A42E-D01108C50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CEBE7-1BA3-DAFE-3CE2-809BEADC1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45424-EC3C-73B8-7C30-7A7644F4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454979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the Public Folder (Alternative Method)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B45E4-3E30-831F-7BD2-4C954FA794F2}"/>
              </a:ext>
            </a:extLst>
          </p:cNvPr>
          <p:cNvSpPr txBox="1"/>
          <p:nvPr/>
        </p:nvSpPr>
        <p:spPr>
          <a:xfrm>
            <a:off x="344509" y="1413959"/>
            <a:ext cx="8501112" cy="3599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React projects created with </a:t>
            </a:r>
            <a:r>
              <a:rPr lang="en-US" sz="2800" b="1" dirty="0">
                <a:latin typeface="+mn-lt"/>
              </a:rPr>
              <a:t>Vite</a:t>
            </a:r>
            <a:r>
              <a:rPr lang="en-US" sz="2800" dirty="0">
                <a:latin typeface="+mn-lt"/>
              </a:rPr>
              <a:t> include a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+mn-lt"/>
              </a:rPr>
              <a:t>folder</a:t>
            </a:r>
            <a:r>
              <a:rPr lang="en-US" sz="2800" dirty="0">
                <a:latin typeface="+mn-lt"/>
              </a:rPr>
              <a:t> where static assets can be stored.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Example structure:</a:t>
            </a:r>
          </a:p>
          <a:p>
            <a:pPr lvl="2"/>
            <a:r>
              <a:rPr lang="en-US" sz="2800" b="1" dirty="0">
                <a:latin typeface="Courier New" panose="02070309020205020404" pitchFamily="49" charset="0"/>
              </a:rPr>
              <a:t>public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 └── images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      └── logo.png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 image can be used as follows:</a:t>
            </a:r>
          </a:p>
          <a:p>
            <a:pPr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"/images/logo.png"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2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048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68728-C902-CBF3-FB6F-E249E6B7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D88B57-0BA7-7B0A-7551-F61006E32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D4A5D-1F74-2328-3732-071FD457B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38CBA-17E4-2216-04C9-2021E058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9A3908-460F-8DE0-0066-B84188149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78698-1915-C4FA-3B81-95811A2AB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694EC-5C89-CD3E-4AAA-893BADA1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the Public Folder (Alternative Method)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E4BEE-89E0-3A37-1702-995A06279D3E}"/>
              </a:ext>
            </a:extLst>
          </p:cNvPr>
          <p:cNvSpPr txBox="1"/>
          <p:nvPr/>
        </p:nvSpPr>
        <p:spPr>
          <a:xfrm>
            <a:off x="344513" y="1413959"/>
            <a:ext cx="8501108" cy="3599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 public folder is useful for:</a:t>
            </a:r>
          </a:p>
          <a:p>
            <a:pPr marL="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logos</a:t>
            </a:r>
          </a:p>
          <a:p>
            <a:pPr marL="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static images</a:t>
            </a:r>
          </a:p>
          <a:p>
            <a:pPr marL="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favicon</a:t>
            </a:r>
          </a:p>
          <a:p>
            <a:pPr marL="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images that do not need to be processed by the build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6B215-9C5C-1DC4-641E-8DAE16A77247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08469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F80D7-21AA-AD81-2A2F-B16D9ACE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DA6FAE1-0A5D-3224-A2E3-BD48C9A6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F8E42-C1E1-221E-E138-5918B7DC5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20D58B-9F06-9838-6620-7C1FA8FD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D042D8-794C-8209-0D97-C981D82F1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037F3C-173D-E923-D6F8-BDD726BD0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65BC3-F8CE-5175-D29A-68A5F889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9" y="220903"/>
            <a:ext cx="810615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Best Practices for Using Images in React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20CFE-69F1-B123-B881-D08E65EC3C9F}"/>
              </a:ext>
            </a:extLst>
          </p:cNvPr>
          <p:cNvSpPr txBox="1"/>
          <p:nvPr/>
        </p:nvSpPr>
        <p:spPr>
          <a:xfrm>
            <a:off x="344513" y="1413959"/>
            <a:ext cx="8501108" cy="3203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To maintain clean and efficient React applications, follow these recommendations:</a:t>
            </a:r>
          </a:p>
          <a:p>
            <a:pPr marL="9144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Store images in 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assets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 folder inside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src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.</a:t>
            </a:r>
          </a:p>
          <a:p>
            <a:pPr marL="9144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Use the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import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 method for most images.</a:t>
            </a:r>
          </a:p>
          <a:p>
            <a:pPr marL="9144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Always include 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alt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 attribute for accessibility.</a:t>
            </a:r>
          </a:p>
          <a:p>
            <a:pPr marL="9144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Avoid using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very large images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cs typeface="Arial"/>
                <a:sym typeface="Arial"/>
              </a:rPr>
              <a:t>to improve performance.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AAAB-87F4-84DE-29CD-EE202B096EE5}"/>
              </a:ext>
            </a:extLst>
          </p:cNvPr>
          <p:cNvSpPr txBox="1"/>
          <p:nvPr/>
        </p:nvSpPr>
        <p:spPr>
          <a:xfrm>
            <a:off x="298378" y="896183"/>
            <a:ext cx="854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44027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759570" y="3656692"/>
            <a:ext cx="5624855" cy="1093693"/>
          </a:xfrm>
          <a:prstGeom prst="rect">
            <a:avLst/>
          </a:prstGeom>
        </p:spPr>
        <p:txBody>
          <a:bodyPr spcFirstLastPara="1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solidFill>
                  <a:srgbClr val="092836"/>
                </a:solidFill>
              </a:rPr>
              <a:t>		</a:t>
            </a:r>
            <a:r>
              <a:rPr lang="en-US" sz="9600" b="1" dirty="0">
                <a:solidFill>
                  <a:srgbClr val="092836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393924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Retrospec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9924</TotalTime>
  <Words>1221</Words>
  <Application>Microsoft Office PowerPoint</Application>
  <PresentationFormat>On-screen Show (16:9)</PresentationFormat>
  <Paragraphs>144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Calibri</vt:lpstr>
      <vt:lpstr>Calibri Light</vt:lpstr>
      <vt:lpstr>Aptos Display</vt:lpstr>
      <vt:lpstr>Arial</vt:lpstr>
      <vt:lpstr>Cascadia Mono SemiBold</vt:lpstr>
      <vt:lpstr>Univers Condensed</vt:lpstr>
      <vt:lpstr>Calisto MT</vt:lpstr>
      <vt:lpstr>Consolas</vt:lpstr>
      <vt:lpstr>Aptos (Body)</vt:lpstr>
      <vt:lpstr>Wingdings</vt:lpstr>
      <vt:lpstr>Courier New</vt:lpstr>
      <vt:lpstr>Aptos</vt:lpstr>
      <vt:lpstr>ChronicleVTI</vt:lpstr>
      <vt:lpstr>Office Theme</vt:lpstr>
      <vt:lpstr>1_Retrospect</vt:lpstr>
      <vt:lpstr>CHAPTER 3:</vt:lpstr>
      <vt:lpstr>Outline</vt:lpstr>
      <vt:lpstr>Introduction to Styling in React</vt:lpstr>
      <vt:lpstr>Introduction to Styling in React</vt:lpstr>
      <vt:lpstr>React Inline Styling</vt:lpstr>
      <vt:lpstr>Example: Inline Styling</vt:lpstr>
      <vt:lpstr>Advantages and Limitations of Inline Styles in React</vt:lpstr>
      <vt:lpstr>Styling with CSS Files</vt:lpstr>
      <vt:lpstr>Example: Component with External CSS</vt:lpstr>
      <vt:lpstr>CSS Modules</vt:lpstr>
      <vt:lpstr>CSS Modules</vt:lpstr>
      <vt:lpstr>Styled Components</vt:lpstr>
      <vt:lpstr>Example: Styled Button Component</vt:lpstr>
      <vt:lpstr>Advantages of Styled Components</vt:lpstr>
      <vt:lpstr>Splitting Components and Building Reusable Components</vt:lpstr>
      <vt:lpstr>Splitting Components and Building Reusable Components</vt:lpstr>
      <vt:lpstr>Example: Reusable Card Component</vt:lpstr>
      <vt:lpstr>PowerPoint Presentation</vt:lpstr>
      <vt:lpstr>Tips for Styling React Components</vt:lpstr>
      <vt:lpstr>Adding Images to Your React Application</vt:lpstr>
      <vt:lpstr>Importing Images from the Project Folder</vt:lpstr>
      <vt:lpstr>Example: Importing an Image</vt:lpstr>
      <vt:lpstr>Using Images from a Public URL</vt:lpstr>
      <vt:lpstr>Using Images from a Public URL</vt:lpstr>
      <vt:lpstr>Using the Public Folder (Alternative Method)</vt:lpstr>
      <vt:lpstr>Using the Public Folder (Alternative Method)</vt:lpstr>
      <vt:lpstr>Best Practices for Using Images in React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using React js</dc:title>
  <dc:creator>F</dc:creator>
  <cp:lastModifiedBy>Mohamed Abdullahi</cp:lastModifiedBy>
  <cp:revision>527</cp:revision>
  <dcterms:modified xsi:type="dcterms:W3CDTF">2026-03-08T10:29:45Z</dcterms:modified>
</cp:coreProperties>
</file>